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Lst>
  <p:notesMasterIdLst>
    <p:notesMasterId r:id="rId23"/>
  </p:notesMasterIdLst>
  <p:handoutMasterIdLst>
    <p:handoutMasterId r:id="rId24"/>
  </p:handoutMasterIdLst>
  <p:sldIdLst>
    <p:sldId id="256" r:id="rId5"/>
    <p:sldId id="257" r:id="rId6"/>
    <p:sldId id="258" r:id="rId7"/>
    <p:sldId id="259" r:id="rId8"/>
    <p:sldId id="260" r:id="rId9"/>
    <p:sldId id="261" r:id="rId10"/>
    <p:sldId id="262" r:id="rId11"/>
    <p:sldId id="263" r:id="rId12"/>
    <p:sldId id="264" r:id="rId13"/>
    <p:sldId id="272" r:id="rId14"/>
    <p:sldId id="273" r:id="rId15"/>
    <p:sldId id="265" r:id="rId16"/>
    <p:sldId id="267" r:id="rId17"/>
    <p:sldId id="268" r:id="rId18"/>
    <p:sldId id="269" r:id="rId19"/>
    <p:sldId id="270" r:id="rId20"/>
    <p:sldId id="271" r:id="rId21"/>
    <p:sldId id="274" r:id="rId22"/>
  </p:sldIdLst>
  <p:sldSz cx="9144000" cy="6858000" type="screen4x3"/>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Tiago Gomes" initials="TG" lastIdx="2" clrIdx="0">
    <p:extLst>
      <p:ext uri="{19B8F6BF-5375-455C-9EA6-DF929625EA0E}">
        <p15:presenceInfo xmlns:p15="http://schemas.microsoft.com/office/powerpoint/2012/main" userId="18f2649c277bf936"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274420"/>
    <a:srgbClr val="592727"/>
    <a:srgbClr val="00A2D3"/>
    <a:srgbClr val="373E48"/>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FF1CE12-B100-0000-0000-000000000002}"/>
</file>

<file path=ppt/viewProps.xml><?xml version="1.0" encoding="utf-8"?>
<p:viewPr xmlns:a="http://schemas.openxmlformats.org/drawingml/2006/main" xmlns:r="http://schemas.openxmlformats.org/officeDocument/2006/relationships" xmlns:p="http://schemas.openxmlformats.org/presentationml/2006/main">
  <p:normalViewPr>
    <p:restoredLeft sz="18324" autoAdjust="0"/>
    <p:restoredTop sz="79234" autoAdjust="0"/>
  </p:normalViewPr>
  <p:slideViewPr>
    <p:cSldViewPr>
      <p:cViewPr varScale="1">
        <p:scale>
          <a:sx n="91" d="100"/>
          <a:sy n="91" d="100"/>
        </p:scale>
        <p:origin x="2028" y="96"/>
      </p:cViewPr>
      <p:guideLst>
        <p:guide orient="horz" pos="2160"/>
        <p:guide pos="2880"/>
      </p:guideLst>
    </p:cSldViewPr>
  </p:slideViewPr>
  <p:outlineViewPr>
    <p:cViewPr>
      <p:scale>
        <a:sx n="1" d="1"/>
        <a:sy n="1" d="1"/>
      </p:scale>
      <p:origin x="0" y="38130"/>
    </p:cViewPr>
  </p:outlineViewPr>
  <p:notesTextViewPr>
    <p:cViewPr>
      <p:scale>
        <a:sx n="3" d="2"/>
        <a:sy n="3" d="2"/>
      </p:scale>
      <p:origin x="0" y="0"/>
    </p:cViewPr>
  </p:notesTextViewPr>
  <p:notesViewPr>
    <p:cSldViewPr>
      <p:cViewPr varScale="1">
        <p:scale>
          <a:sx n="64" d="100"/>
          <a:sy n="64" d="100"/>
        </p:scale>
        <p:origin x="3101" y="8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commentAuthors" Target="commentAuthor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 name="Rectangle 22"/>
          <p:cNvSpPr>
            <a:spLocks noGrp="1"/>
          </p:cNvSpPr>
          <p:nvPr>
            <p:ph type="hdr" sz="quarter"/>
          </p:nvPr>
        </p:nvSpPr>
        <p:spPr>
          <a:xfrm>
            <a:off x="0" y="0"/>
            <a:ext cx="3169920" cy="480060"/>
          </a:xfrm>
          <a:prstGeom prst="rect">
            <a:avLst/>
          </a:prstGeom>
        </p:spPr>
        <p:txBody>
          <a:bodyPr lIns="96661" tIns="48331" rIns="96661" bIns="48331"/>
          <a:lstStyle/>
          <a:p>
            <a:endParaRPr lang="pt-PT" smtClean="0"/>
          </a:p>
        </p:txBody>
      </p:sp>
      <p:sp>
        <p:nvSpPr>
          <p:cNvPr id="24" name="Rectangle 24"/>
          <p:cNvSpPr>
            <a:spLocks noGrp="1"/>
          </p:cNvSpPr>
          <p:nvPr>
            <p:ph type="dt" sz="quarter" idx="1"/>
          </p:nvPr>
        </p:nvSpPr>
        <p:spPr>
          <a:xfrm>
            <a:off x="4143587" y="0"/>
            <a:ext cx="3169920" cy="480060"/>
          </a:xfrm>
          <a:prstGeom prst="rect">
            <a:avLst/>
          </a:prstGeom>
        </p:spPr>
        <p:txBody>
          <a:bodyPr lIns="96661" tIns="48331" rIns="96661" bIns="48331"/>
          <a:lstStyle/>
          <a:p>
            <a:fld id="{A849C5AD-4428-4E9C-9C84-11B72C9365FB}" type="datetimeFigureOut">
              <a:rPr lang="pt-PT" smtClean="0"/>
              <a:pPr/>
              <a:t>16/07/2018</a:t>
            </a:fld>
            <a:endParaRPr lang="pt-PT" smtClean="0"/>
          </a:p>
        </p:txBody>
      </p:sp>
      <p:sp>
        <p:nvSpPr>
          <p:cNvPr id="30" name="Rectangle 30"/>
          <p:cNvSpPr>
            <a:spLocks noGrp="1"/>
          </p:cNvSpPr>
          <p:nvPr>
            <p:ph type="ftr" sz="quarter" idx="2"/>
          </p:nvPr>
        </p:nvSpPr>
        <p:spPr>
          <a:xfrm>
            <a:off x="0" y="9119474"/>
            <a:ext cx="3169920" cy="480060"/>
          </a:xfrm>
          <a:prstGeom prst="rect">
            <a:avLst/>
          </a:prstGeom>
        </p:spPr>
        <p:txBody>
          <a:bodyPr lIns="96661" tIns="48331" rIns="96661" bIns="48331"/>
          <a:lstStyle/>
          <a:p>
            <a:endParaRPr lang="pt-PT" smtClean="0"/>
          </a:p>
        </p:txBody>
      </p:sp>
      <p:sp>
        <p:nvSpPr>
          <p:cNvPr id="18" name="Rectangle 18"/>
          <p:cNvSpPr>
            <a:spLocks noGrp="1"/>
          </p:cNvSpPr>
          <p:nvPr>
            <p:ph type="sldNum" sz="quarter" idx="3"/>
          </p:nvPr>
        </p:nvSpPr>
        <p:spPr>
          <a:xfrm>
            <a:off x="4143587" y="9119474"/>
            <a:ext cx="3169920" cy="480060"/>
          </a:xfrm>
          <a:prstGeom prst="rect">
            <a:avLst/>
          </a:prstGeom>
        </p:spPr>
        <p:txBody>
          <a:bodyPr lIns="96661" tIns="48331" rIns="96661" bIns="48331"/>
          <a:lstStyle/>
          <a:p>
            <a:fld id="{8C596567-A38F-4CEF-B37F-9B9D120D62CE}" type="slidenum">
              <a:rPr lang="pt-PT" smtClean="0"/>
              <a:pPr/>
              <a:t>‹nº›</a:t>
            </a:fld>
            <a:endParaRPr lang="pt-PT" smtClean="0"/>
          </a:p>
        </p:txBody>
      </p:sp>
    </p:spTree>
    <p:extLst>
      <p:ext uri="{BB962C8B-B14F-4D97-AF65-F5344CB8AC3E}">
        <p14:creationId xmlns:p14="http://schemas.microsoft.com/office/powerpoint/2010/main" val="226732882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 name="Rectangle 24"/>
          <p:cNvSpPr>
            <a:spLocks noGrp="1"/>
          </p:cNvSpPr>
          <p:nvPr>
            <p:ph type="hdr" sz="quarter"/>
          </p:nvPr>
        </p:nvSpPr>
        <p:spPr>
          <a:xfrm>
            <a:off x="0" y="0"/>
            <a:ext cx="3169920" cy="480060"/>
          </a:xfrm>
          <a:prstGeom prst="rect">
            <a:avLst/>
          </a:prstGeom>
        </p:spPr>
        <p:txBody>
          <a:bodyPr lIns="96661" tIns="48331" rIns="96661" bIns="48331"/>
          <a:lstStyle/>
          <a:p>
            <a:endParaRPr lang="pt-PT"/>
          </a:p>
        </p:txBody>
      </p:sp>
      <p:sp>
        <p:nvSpPr>
          <p:cNvPr id="15" name="Rectangle 15"/>
          <p:cNvSpPr>
            <a:spLocks noGrp="1"/>
          </p:cNvSpPr>
          <p:nvPr>
            <p:ph type="dt" idx="1"/>
          </p:nvPr>
        </p:nvSpPr>
        <p:spPr>
          <a:xfrm>
            <a:off x="4143587" y="0"/>
            <a:ext cx="3169920" cy="480060"/>
          </a:xfrm>
          <a:prstGeom prst="rect">
            <a:avLst/>
          </a:prstGeom>
        </p:spPr>
        <p:txBody>
          <a:bodyPr lIns="96661" tIns="48331" rIns="96661" bIns="48331"/>
          <a:lstStyle/>
          <a:p>
            <a:fld id="{D7547E60-4BE7-4E4E-9AAA-5EE35AEC995C}" type="datetimeFigureOut">
              <a:rPr lang="en-US"/>
              <a:pPr/>
              <a:t>7/16/2018</a:t>
            </a:fld>
            <a:endParaRPr lang="pt-PT"/>
          </a:p>
        </p:txBody>
      </p:sp>
      <p:sp>
        <p:nvSpPr>
          <p:cNvPr id="23" name="Rectangle 23"/>
          <p:cNvSpPr>
            <a:spLocks noGrp="1" noRot="1" noChangeAspect="1"/>
          </p:cNvSpPr>
          <p:nvPr>
            <p:ph type="sldImg" idx="2"/>
          </p:nvPr>
        </p:nvSpPr>
        <p:spPr>
          <a:xfrm>
            <a:off x="1257300" y="720725"/>
            <a:ext cx="4800600" cy="3600450"/>
          </a:xfrm>
          <a:prstGeom prst="rect">
            <a:avLst/>
          </a:prstGeom>
          <a:noFill/>
          <a:ln w="12700">
            <a:solidFill>
              <a:prstClr val="black"/>
            </a:solidFill>
          </a:ln>
        </p:spPr>
        <p:txBody>
          <a:bodyPr lIns="96661" tIns="48331" rIns="96661" bIns="48331" anchor="ctr"/>
          <a:lstStyle/>
          <a:p>
            <a:endParaRPr lang="pt-PT"/>
          </a:p>
        </p:txBody>
      </p:sp>
      <p:sp>
        <p:nvSpPr>
          <p:cNvPr id="5" name="Rectangle 5"/>
          <p:cNvSpPr>
            <a:spLocks noGrp="1"/>
          </p:cNvSpPr>
          <p:nvPr>
            <p:ph type="body" sz="quarter" idx="3"/>
          </p:nvPr>
        </p:nvSpPr>
        <p:spPr>
          <a:xfrm>
            <a:off x="731520" y="4560570"/>
            <a:ext cx="5852160" cy="4320540"/>
          </a:xfrm>
          <a:prstGeom prst="rect">
            <a:avLst/>
          </a:prstGeom>
        </p:spPr>
        <p:txBody>
          <a:bodyPr lIns="96661" tIns="48331" rIns="96661" bIns="48331"/>
          <a:lstStyle/>
          <a:p>
            <a:pPr lvl="0"/>
            <a:r>
              <a:rPr lang="pt-PT"/>
              <a:t>Clique para editar os estilos de texto do modelo global</a:t>
            </a:r>
          </a:p>
          <a:p>
            <a:pPr lvl="1"/>
            <a:r>
              <a:rPr lang="pt-PT"/>
              <a:t>Segundo nível</a:t>
            </a:r>
          </a:p>
          <a:p>
            <a:pPr lvl="2"/>
            <a:r>
              <a:rPr lang="pt-PT"/>
              <a:t>Terceiro nível</a:t>
            </a:r>
          </a:p>
          <a:p>
            <a:pPr lvl="3"/>
            <a:r>
              <a:rPr lang="pt-PT"/>
              <a:t>Quarto nível</a:t>
            </a:r>
          </a:p>
          <a:p>
            <a:pPr lvl="4"/>
            <a:r>
              <a:rPr lang="pt-PT"/>
              <a:t>Quinto nível</a:t>
            </a:r>
          </a:p>
        </p:txBody>
      </p:sp>
      <p:sp>
        <p:nvSpPr>
          <p:cNvPr id="18" name="Rectangle 18"/>
          <p:cNvSpPr>
            <a:spLocks noGrp="1"/>
          </p:cNvSpPr>
          <p:nvPr>
            <p:ph type="ftr" sz="quarter" idx="4"/>
          </p:nvPr>
        </p:nvSpPr>
        <p:spPr>
          <a:xfrm>
            <a:off x="0" y="9119474"/>
            <a:ext cx="3169920" cy="480060"/>
          </a:xfrm>
          <a:prstGeom prst="rect">
            <a:avLst/>
          </a:prstGeom>
        </p:spPr>
        <p:txBody>
          <a:bodyPr lIns="96661" tIns="48331" rIns="96661" bIns="48331"/>
          <a:lstStyle/>
          <a:p>
            <a:endParaRPr lang="pt-PT"/>
          </a:p>
        </p:txBody>
      </p:sp>
      <p:sp>
        <p:nvSpPr>
          <p:cNvPr id="28" name="Rectangle 28"/>
          <p:cNvSpPr>
            <a:spLocks noGrp="1"/>
          </p:cNvSpPr>
          <p:nvPr>
            <p:ph type="sldNum" sz="quarter" idx="5"/>
          </p:nvPr>
        </p:nvSpPr>
        <p:spPr>
          <a:xfrm>
            <a:off x="4143587" y="9119474"/>
            <a:ext cx="3169920" cy="480060"/>
          </a:xfrm>
          <a:prstGeom prst="rect">
            <a:avLst/>
          </a:prstGeom>
        </p:spPr>
        <p:txBody>
          <a:bodyPr lIns="96661" tIns="48331" rIns="96661" bIns="48331"/>
          <a:lstStyle/>
          <a:p>
            <a:fld id="{CA077768-21C8-4125-A345-258E48D2EED0}" type="slidenum">
              <a:rPr/>
              <a:pPr/>
              <a:t>‹nº›</a:t>
            </a:fld>
            <a:endParaRPr lang="pt-PT"/>
          </a:p>
        </p:txBody>
      </p:sp>
    </p:spTree>
    <p:extLst>
      <p:ext uri="{BB962C8B-B14F-4D97-AF65-F5344CB8AC3E}">
        <p14:creationId xmlns:p14="http://schemas.microsoft.com/office/powerpoint/2010/main" val="537077046"/>
      </p:ext>
    </p:extLst>
  </p:cSld>
  <p:clrMap bg1="lt1" tx1="dk1" bg2="lt2" tx2="dk2" accent1="accent1" accent2="accent2" accent3="accent3" accent4="accent4" accent5="accent5" accent6="accent6" hlink="hlink" folHlink="folHlink"/>
  <p:notesStyle>
    <a:lvl1pPr marL="0" algn="l" rtl="0" latinLnBrk="0">
      <a:defRPr lang="pt-PT" sz="1200" kern="1200">
        <a:solidFill>
          <a:schemeClr val="tx1"/>
        </a:solidFill>
        <a:latin typeface="+mn-lt"/>
        <a:ea typeface="+mn-ea"/>
        <a:cs typeface="+mn-cs"/>
      </a:defRPr>
    </a:lvl1pPr>
    <a:lvl2pPr marL="457200" algn="l" rtl="0">
      <a:defRPr lang="pt-PT" sz="1200" kern="1200">
        <a:solidFill>
          <a:schemeClr val="tx1"/>
        </a:solidFill>
        <a:latin typeface="+mn-lt"/>
        <a:ea typeface="+mn-ea"/>
        <a:cs typeface="+mn-cs"/>
      </a:defRPr>
    </a:lvl2pPr>
    <a:lvl3pPr marL="914400" algn="l" rtl="0">
      <a:defRPr lang="pt-PT" sz="1200" kern="1200">
        <a:solidFill>
          <a:schemeClr val="tx1"/>
        </a:solidFill>
        <a:latin typeface="+mn-lt"/>
        <a:ea typeface="+mn-ea"/>
        <a:cs typeface="+mn-cs"/>
      </a:defRPr>
    </a:lvl3pPr>
    <a:lvl4pPr marL="1371600" algn="l" rtl="0">
      <a:defRPr lang="pt-PT" sz="1200" kern="1200">
        <a:solidFill>
          <a:schemeClr val="tx1"/>
        </a:solidFill>
        <a:latin typeface="+mn-lt"/>
        <a:ea typeface="+mn-ea"/>
        <a:cs typeface="+mn-cs"/>
      </a:defRPr>
    </a:lvl4pPr>
    <a:lvl5pPr marL="1828800" algn="l" rtl="0">
      <a:defRPr lang="pt-PT" sz="1200" kern="1200">
        <a:solidFill>
          <a:schemeClr val="tx1"/>
        </a:solidFill>
        <a:latin typeface="+mn-lt"/>
        <a:ea typeface="+mn-ea"/>
        <a:cs typeface="+mn-cs"/>
      </a:defRPr>
    </a:lvl5pPr>
    <a:lvl6pPr marL="2286000" algn="l" rtl="0">
      <a:defRPr lang="pt-PT" sz="1200" kern="1200">
        <a:solidFill>
          <a:schemeClr val="tx1"/>
        </a:solidFill>
        <a:latin typeface="+mn-lt"/>
        <a:ea typeface="+mn-ea"/>
        <a:cs typeface="+mn-cs"/>
      </a:defRPr>
    </a:lvl6pPr>
    <a:lvl7pPr marL="2743200" algn="l" rtl="0">
      <a:defRPr lang="pt-PT" sz="1200" kern="1200">
        <a:solidFill>
          <a:schemeClr val="tx1"/>
        </a:solidFill>
        <a:latin typeface="+mn-lt"/>
        <a:ea typeface="+mn-ea"/>
        <a:cs typeface="+mn-cs"/>
      </a:defRPr>
    </a:lvl7pPr>
    <a:lvl8pPr marL="3200400" algn="l" rtl="0">
      <a:defRPr lang="pt-PT" sz="1200" kern="1200">
        <a:solidFill>
          <a:schemeClr val="tx1"/>
        </a:solidFill>
        <a:latin typeface="+mn-lt"/>
        <a:ea typeface="+mn-ea"/>
        <a:cs typeface="+mn-cs"/>
      </a:defRPr>
    </a:lvl8pPr>
    <a:lvl9pPr marL="3657600" algn="l" rtl="0">
      <a:defRPr lang="pt-PT"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ção da Imagem do Diapositivo 1"/>
          <p:cNvSpPr>
            <a:spLocks noGrp="1" noRot="1" noChangeAspect="1"/>
          </p:cNvSpPr>
          <p:nvPr>
            <p:ph type="sldImg"/>
          </p:nvPr>
        </p:nvSpPr>
        <p:spPr/>
      </p:sp>
      <p:sp>
        <p:nvSpPr>
          <p:cNvPr id="3" name="Marcador de Posição de Notas 2"/>
          <p:cNvSpPr>
            <a:spLocks noGrp="1"/>
          </p:cNvSpPr>
          <p:nvPr>
            <p:ph type="body" idx="1"/>
          </p:nvPr>
        </p:nvSpPr>
        <p:spPr/>
        <p:txBody>
          <a:bodyPr/>
          <a:lstStyle/>
          <a:p>
            <a:endParaRPr lang="pt-PT" dirty="0"/>
          </a:p>
        </p:txBody>
      </p:sp>
      <p:sp>
        <p:nvSpPr>
          <p:cNvPr id="4" name="Marcador de Posição do Número do Diapositivo 3"/>
          <p:cNvSpPr>
            <a:spLocks noGrp="1"/>
          </p:cNvSpPr>
          <p:nvPr>
            <p:ph type="sldNum" sz="quarter" idx="10"/>
          </p:nvPr>
        </p:nvSpPr>
        <p:spPr/>
        <p:txBody>
          <a:bodyPr/>
          <a:lstStyle/>
          <a:p>
            <a:fld id="{CA077768-21C8-4125-A345-258E48D2EED0}" type="slidenum">
              <a:rPr lang="pt-PT" smtClean="0"/>
              <a:pPr/>
              <a:t>4</a:t>
            </a:fld>
            <a:endParaRPr lang="pt-PT"/>
          </a:p>
        </p:txBody>
      </p:sp>
    </p:spTree>
    <p:extLst>
      <p:ext uri="{BB962C8B-B14F-4D97-AF65-F5344CB8AC3E}">
        <p14:creationId xmlns:p14="http://schemas.microsoft.com/office/powerpoint/2010/main" val="28258532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ção da Imagem do Diapositivo 1"/>
          <p:cNvSpPr>
            <a:spLocks noGrp="1" noRot="1" noChangeAspect="1"/>
          </p:cNvSpPr>
          <p:nvPr>
            <p:ph type="sldImg"/>
          </p:nvPr>
        </p:nvSpPr>
        <p:spPr/>
      </p:sp>
      <p:sp>
        <p:nvSpPr>
          <p:cNvPr id="3" name="Marcador de Posição de Notas 2"/>
          <p:cNvSpPr>
            <a:spLocks noGrp="1"/>
          </p:cNvSpPr>
          <p:nvPr>
            <p:ph type="body" idx="1"/>
          </p:nvPr>
        </p:nvSpPr>
        <p:spPr/>
        <p:txBody>
          <a:bodyPr/>
          <a:lstStyle/>
          <a:p>
            <a:pPr marL="171450" indent="-171450">
              <a:buFont typeface="Arial" panose="020B0604020202020204" pitchFamily="34" charset="0"/>
              <a:buChar char="•"/>
            </a:pPr>
            <a:r>
              <a:rPr lang="pt-PT" dirty="0" err="1" smtClean="0"/>
              <a:t>axis</a:t>
            </a:r>
            <a:r>
              <a:rPr lang="pt-PT" dirty="0" smtClean="0"/>
              <a:t>=0</a:t>
            </a:r>
            <a:r>
              <a:rPr lang="pt-PT" baseline="0" dirty="0" smtClean="0"/>
              <a:t> -&gt; </a:t>
            </a:r>
            <a:r>
              <a:rPr lang="pt-PT" baseline="0" dirty="0" err="1" smtClean="0"/>
              <a:t>row</a:t>
            </a:r>
            <a:endParaRPr lang="pt-PT" baseline="0" dirty="0" smtClean="0"/>
          </a:p>
          <a:p>
            <a:pPr marL="171450" indent="-171450">
              <a:buFont typeface="Arial" panose="020B0604020202020204" pitchFamily="34" charset="0"/>
              <a:buChar char="•"/>
            </a:pPr>
            <a:r>
              <a:rPr lang="pt-PT" baseline="0" dirty="0" err="1" smtClean="0"/>
              <a:t>axis</a:t>
            </a:r>
            <a:r>
              <a:rPr lang="pt-PT" baseline="0" dirty="0" smtClean="0"/>
              <a:t>=1 -&gt; </a:t>
            </a:r>
            <a:r>
              <a:rPr lang="pt-PT" baseline="0" dirty="0" err="1" smtClean="0"/>
              <a:t>column</a:t>
            </a:r>
            <a:endParaRPr lang="pt-PT" dirty="0"/>
          </a:p>
        </p:txBody>
      </p:sp>
      <p:sp>
        <p:nvSpPr>
          <p:cNvPr id="4" name="Marcador de Posição do Número do Diapositivo 3"/>
          <p:cNvSpPr>
            <a:spLocks noGrp="1"/>
          </p:cNvSpPr>
          <p:nvPr>
            <p:ph type="sldNum" sz="quarter" idx="10"/>
          </p:nvPr>
        </p:nvSpPr>
        <p:spPr/>
        <p:txBody>
          <a:bodyPr/>
          <a:lstStyle/>
          <a:p>
            <a:fld id="{CA077768-21C8-4125-A345-258E48D2EED0}" type="slidenum">
              <a:rPr lang="pt-PT" smtClean="0"/>
              <a:pPr/>
              <a:t>5</a:t>
            </a:fld>
            <a:endParaRPr lang="pt-PT"/>
          </a:p>
        </p:txBody>
      </p:sp>
    </p:spTree>
    <p:extLst>
      <p:ext uri="{BB962C8B-B14F-4D97-AF65-F5344CB8AC3E}">
        <p14:creationId xmlns:p14="http://schemas.microsoft.com/office/powerpoint/2010/main" val="24541441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ção da Imagem do Diapositivo 1"/>
          <p:cNvSpPr>
            <a:spLocks noGrp="1" noRot="1" noChangeAspect="1"/>
          </p:cNvSpPr>
          <p:nvPr>
            <p:ph type="sldImg"/>
          </p:nvPr>
        </p:nvSpPr>
        <p:spPr/>
      </p:sp>
      <p:sp>
        <p:nvSpPr>
          <p:cNvPr id="3" name="Marcador de Posição de Notas 2"/>
          <p:cNvSpPr>
            <a:spLocks noGrp="1"/>
          </p:cNvSpPr>
          <p:nvPr>
            <p:ph type="body" idx="1"/>
          </p:nvPr>
        </p:nvSpPr>
        <p:spPr/>
        <p:txBody>
          <a:bodyPr/>
          <a:lstStyle/>
          <a:p>
            <a:pPr marL="171450" indent="-171450">
              <a:buFont typeface="Arial" panose="020B0604020202020204" pitchFamily="34" charset="0"/>
              <a:buChar char="•"/>
            </a:pPr>
            <a:r>
              <a:rPr lang="en-US" sz="1200" b="0" i="0" u="none" strike="noStrike" kern="1200" baseline="0" dirty="0" smtClean="0">
                <a:solidFill>
                  <a:schemeClr val="tx1"/>
                </a:solidFill>
                <a:latin typeface="+mn-lt"/>
                <a:ea typeface="+mn-ea"/>
                <a:cs typeface="+mn-cs"/>
              </a:rPr>
              <a:t>The full dataset must be randomly shuffled, prior to the splitting phase, in order to avoid any correlation between consequent samples. </a:t>
            </a:r>
          </a:p>
          <a:p>
            <a:pPr marL="171450" indent="-171450">
              <a:buFont typeface="Arial" panose="020B0604020202020204" pitchFamily="34" charset="0"/>
              <a:buChar char="•"/>
            </a:pPr>
            <a:r>
              <a:rPr lang="en-US" sz="1200" b="0" i="0" u="none" strike="noStrike" kern="1200" baseline="0" dirty="0" smtClean="0">
                <a:solidFill>
                  <a:schemeClr val="tx1"/>
                </a:solidFill>
                <a:latin typeface="+mn-lt"/>
                <a:ea typeface="+mn-ea"/>
                <a:cs typeface="+mn-cs"/>
              </a:rPr>
              <a:t>The percentage of data belonging to each </a:t>
            </a:r>
            <a:r>
              <a:rPr lang="pt-PT" sz="1200" b="0" i="0" u="none" strike="noStrike" kern="1200" baseline="0" dirty="0" err="1" smtClean="0">
                <a:solidFill>
                  <a:schemeClr val="tx1"/>
                </a:solidFill>
                <a:latin typeface="+mn-lt"/>
                <a:ea typeface="+mn-ea"/>
                <a:cs typeface="+mn-cs"/>
              </a:rPr>
              <a:t>label</a:t>
            </a:r>
            <a:r>
              <a:rPr lang="pt-PT" sz="1200" b="0" i="0" u="none" strike="noStrike" kern="1200" baseline="0" dirty="0" smtClean="0">
                <a:solidFill>
                  <a:schemeClr val="tx1"/>
                </a:solidFill>
                <a:latin typeface="+mn-lt"/>
                <a:ea typeface="+mn-ea"/>
                <a:cs typeface="+mn-cs"/>
              </a:rPr>
              <a:t> must </a:t>
            </a:r>
            <a:r>
              <a:rPr lang="pt-PT" sz="1200" b="0" i="0" u="none" strike="noStrike" kern="1200" baseline="0" dirty="0" err="1" smtClean="0">
                <a:solidFill>
                  <a:schemeClr val="tx1"/>
                </a:solidFill>
                <a:latin typeface="+mn-lt"/>
                <a:ea typeface="+mn-ea"/>
                <a:cs typeface="+mn-cs"/>
              </a:rPr>
              <a:t>be</a:t>
            </a:r>
            <a:r>
              <a:rPr lang="pt-PT" sz="1200" b="0" i="0" u="none" strike="noStrike" kern="1200" baseline="0" dirty="0" smtClean="0">
                <a:solidFill>
                  <a:schemeClr val="tx1"/>
                </a:solidFill>
                <a:latin typeface="+mn-lt"/>
                <a:ea typeface="+mn-ea"/>
                <a:cs typeface="+mn-cs"/>
              </a:rPr>
              <a:t> </a:t>
            </a:r>
            <a:r>
              <a:rPr lang="pt-PT" sz="1200" b="0" i="0" u="none" strike="noStrike" kern="1200" baseline="0" dirty="0" err="1" smtClean="0">
                <a:solidFill>
                  <a:schemeClr val="tx1"/>
                </a:solidFill>
                <a:latin typeface="+mn-lt"/>
                <a:ea typeface="+mn-ea"/>
                <a:cs typeface="+mn-cs"/>
              </a:rPr>
              <a:t>maintained</a:t>
            </a:r>
            <a:r>
              <a:rPr lang="pt-PT" sz="1200" b="0" i="0" u="none" strike="noStrike" kern="1200" baseline="0" dirty="0" smtClean="0">
                <a:solidFill>
                  <a:schemeClr val="tx1"/>
                </a:solidFill>
                <a:latin typeface="+mn-lt"/>
                <a:ea typeface="+mn-ea"/>
                <a:cs typeface="+mn-cs"/>
              </a:rPr>
              <a:t> in </a:t>
            </a:r>
            <a:r>
              <a:rPr lang="pt-PT" sz="1200" b="0" i="0" u="none" strike="noStrike" kern="1200" baseline="0" dirty="0" err="1" smtClean="0">
                <a:solidFill>
                  <a:schemeClr val="tx1"/>
                </a:solidFill>
                <a:latin typeface="+mn-lt"/>
                <a:ea typeface="+mn-ea"/>
                <a:cs typeface="+mn-cs"/>
              </a:rPr>
              <a:t>the</a:t>
            </a:r>
            <a:r>
              <a:rPr lang="pt-PT" sz="1200" b="0" i="0" u="none" strike="noStrike" kern="1200" baseline="0" dirty="0" smtClean="0">
                <a:solidFill>
                  <a:schemeClr val="tx1"/>
                </a:solidFill>
                <a:latin typeface="+mn-lt"/>
                <a:ea typeface="+mn-ea"/>
                <a:cs typeface="+mn-cs"/>
              </a:rPr>
              <a:t> training </a:t>
            </a:r>
            <a:r>
              <a:rPr lang="pt-PT" sz="1200" b="0" i="0" u="none" strike="noStrike" kern="1200" baseline="0" dirty="0" err="1" smtClean="0">
                <a:solidFill>
                  <a:schemeClr val="tx1"/>
                </a:solidFill>
                <a:latin typeface="+mn-lt"/>
                <a:ea typeface="+mn-ea"/>
                <a:cs typeface="+mn-cs"/>
              </a:rPr>
              <a:t>and</a:t>
            </a:r>
            <a:r>
              <a:rPr lang="pt-PT" sz="1200" b="0" i="0" u="none" strike="noStrike" kern="1200" baseline="0" dirty="0" smtClean="0">
                <a:solidFill>
                  <a:schemeClr val="tx1"/>
                </a:solidFill>
                <a:latin typeface="+mn-lt"/>
                <a:ea typeface="+mn-ea"/>
                <a:cs typeface="+mn-cs"/>
              </a:rPr>
              <a:t> </a:t>
            </a:r>
            <a:r>
              <a:rPr lang="pt-PT" sz="1200" b="0" i="0" u="none" strike="noStrike" kern="1200" baseline="0" dirty="0" err="1" smtClean="0">
                <a:solidFill>
                  <a:schemeClr val="tx1"/>
                </a:solidFill>
                <a:latin typeface="+mn-lt"/>
                <a:ea typeface="+mn-ea"/>
                <a:cs typeface="+mn-cs"/>
              </a:rPr>
              <a:t>testing</a:t>
            </a:r>
            <a:r>
              <a:rPr lang="pt-PT" sz="1200" b="0" i="0" u="none" strike="noStrike" kern="1200" baseline="0" dirty="0" smtClean="0">
                <a:solidFill>
                  <a:schemeClr val="tx1"/>
                </a:solidFill>
                <a:latin typeface="+mn-lt"/>
                <a:ea typeface="+mn-ea"/>
                <a:cs typeface="+mn-cs"/>
              </a:rPr>
              <a:t> </a:t>
            </a:r>
            <a:r>
              <a:rPr lang="pt-PT" sz="1200" b="0" i="0" u="none" strike="noStrike" kern="1200" baseline="0" dirty="0" err="1" smtClean="0">
                <a:solidFill>
                  <a:schemeClr val="tx1"/>
                </a:solidFill>
                <a:latin typeface="+mn-lt"/>
                <a:ea typeface="+mn-ea"/>
                <a:cs typeface="+mn-cs"/>
              </a:rPr>
              <a:t>datasets</a:t>
            </a:r>
            <a:r>
              <a:rPr lang="pt-PT" sz="1200" b="0" i="0" u="none" strike="noStrike" kern="1200" baseline="0" dirty="0" smtClean="0">
                <a:solidFill>
                  <a:schemeClr val="tx1"/>
                </a:solidFill>
                <a:latin typeface="+mn-lt"/>
                <a:ea typeface="+mn-ea"/>
                <a:cs typeface="+mn-cs"/>
              </a:rPr>
              <a:t>.</a:t>
            </a:r>
            <a:endParaRPr lang="pt-PT" dirty="0"/>
          </a:p>
        </p:txBody>
      </p:sp>
      <p:sp>
        <p:nvSpPr>
          <p:cNvPr id="4" name="Marcador de Posição do Número do Diapositivo 3"/>
          <p:cNvSpPr>
            <a:spLocks noGrp="1"/>
          </p:cNvSpPr>
          <p:nvPr>
            <p:ph type="sldNum" sz="quarter" idx="10"/>
          </p:nvPr>
        </p:nvSpPr>
        <p:spPr/>
        <p:txBody>
          <a:bodyPr/>
          <a:lstStyle/>
          <a:p>
            <a:fld id="{CA077768-21C8-4125-A345-258E48D2EED0}" type="slidenum">
              <a:rPr lang="pt-PT" smtClean="0"/>
              <a:pPr/>
              <a:t>6</a:t>
            </a:fld>
            <a:endParaRPr lang="pt-PT"/>
          </a:p>
        </p:txBody>
      </p:sp>
    </p:spTree>
    <p:extLst>
      <p:ext uri="{BB962C8B-B14F-4D97-AF65-F5344CB8AC3E}">
        <p14:creationId xmlns:p14="http://schemas.microsoft.com/office/powerpoint/2010/main" val="131738958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ção da Imagem do Diapositivo 1"/>
          <p:cNvSpPr>
            <a:spLocks noGrp="1" noRot="1" noChangeAspect="1"/>
          </p:cNvSpPr>
          <p:nvPr>
            <p:ph type="sldImg"/>
          </p:nvPr>
        </p:nvSpPr>
        <p:spPr/>
      </p:sp>
      <p:sp>
        <p:nvSpPr>
          <p:cNvPr id="3" name="Marcador de Posição de Notas 2"/>
          <p:cNvSpPr>
            <a:spLocks noGrp="1"/>
          </p:cNvSpPr>
          <p:nvPr>
            <p:ph type="body" idx="1"/>
          </p:nvPr>
        </p:nvSpPr>
        <p:spPr/>
        <p:txBody>
          <a:bodyPr/>
          <a:lstStyle/>
          <a:p>
            <a:pPr marL="0" indent="0">
              <a:buFont typeface="Arial" panose="020B0604020202020204" pitchFamily="34" charset="0"/>
              <a:buNone/>
            </a:pPr>
            <a:endParaRPr lang="pt-PT" dirty="0"/>
          </a:p>
        </p:txBody>
      </p:sp>
      <p:sp>
        <p:nvSpPr>
          <p:cNvPr id="4" name="Marcador de Posição do Número do Diapositivo 3"/>
          <p:cNvSpPr>
            <a:spLocks noGrp="1"/>
          </p:cNvSpPr>
          <p:nvPr>
            <p:ph type="sldNum" sz="quarter" idx="10"/>
          </p:nvPr>
        </p:nvSpPr>
        <p:spPr/>
        <p:txBody>
          <a:bodyPr/>
          <a:lstStyle/>
          <a:p>
            <a:fld id="{CA077768-21C8-4125-A345-258E48D2EED0}" type="slidenum">
              <a:rPr lang="pt-PT" smtClean="0"/>
              <a:pPr/>
              <a:t>7</a:t>
            </a:fld>
            <a:endParaRPr lang="pt-PT"/>
          </a:p>
        </p:txBody>
      </p:sp>
    </p:spTree>
    <p:extLst>
      <p:ext uri="{BB962C8B-B14F-4D97-AF65-F5344CB8AC3E}">
        <p14:creationId xmlns:p14="http://schemas.microsoft.com/office/powerpoint/2010/main" val="115385233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ção da Imagem do Diapositivo 1"/>
          <p:cNvSpPr>
            <a:spLocks noGrp="1" noRot="1" noChangeAspect="1"/>
          </p:cNvSpPr>
          <p:nvPr>
            <p:ph type="sldImg"/>
          </p:nvPr>
        </p:nvSpPr>
        <p:spPr/>
      </p:sp>
      <p:sp>
        <p:nvSpPr>
          <p:cNvPr id="3" name="Marcador de Posição de Notas 2"/>
          <p:cNvSpPr>
            <a:spLocks noGrp="1"/>
          </p:cNvSpPr>
          <p:nvPr>
            <p:ph type="body" idx="1"/>
          </p:nvPr>
        </p:nvSpPr>
        <p:spPr/>
        <p:txBody>
          <a:bodyPr/>
          <a:lstStyle/>
          <a:p>
            <a:pPr marL="0" indent="0">
              <a:buFont typeface="Arial" panose="020B0604020202020204" pitchFamily="34" charset="0"/>
              <a:buNone/>
            </a:pPr>
            <a:endParaRPr lang="en-US" sz="1200" b="0" i="0" kern="1200" baseline="0" dirty="0" smtClean="0">
              <a:solidFill>
                <a:schemeClr val="tx1"/>
              </a:solidFill>
              <a:effectLst/>
              <a:latin typeface="+mn-lt"/>
              <a:ea typeface="+mn-ea"/>
              <a:cs typeface="+mn-cs"/>
            </a:endParaRPr>
          </a:p>
        </p:txBody>
      </p:sp>
      <p:sp>
        <p:nvSpPr>
          <p:cNvPr id="4" name="Marcador de Posição do Número do Diapositivo 3"/>
          <p:cNvSpPr>
            <a:spLocks noGrp="1"/>
          </p:cNvSpPr>
          <p:nvPr>
            <p:ph type="sldNum" sz="quarter" idx="10"/>
          </p:nvPr>
        </p:nvSpPr>
        <p:spPr/>
        <p:txBody>
          <a:bodyPr/>
          <a:lstStyle/>
          <a:p>
            <a:fld id="{CA077768-21C8-4125-A345-258E48D2EED0}" type="slidenum">
              <a:rPr lang="pt-PT" smtClean="0"/>
              <a:pPr/>
              <a:t>8</a:t>
            </a:fld>
            <a:endParaRPr lang="pt-PT"/>
          </a:p>
        </p:txBody>
      </p:sp>
    </p:spTree>
    <p:extLst>
      <p:ext uri="{BB962C8B-B14F-4D97-AF65-F5344CB8AC3E}">
        <p14:creationId xmlns:p14="http://schemas.microsoft.com/office/powerpoint/2010/main" val="135617850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ção da Imagem do Diapositivo 1"/>
          <p:cNvSpPr>
            <a:spLocks noGrp="1" noRot="1" noChangeAspect="1"/>
          </p:cNvSpPr>
          <p:nvPr>
            <p:ph type="sldImg"/>
          </p:nvPr>
        </p:nvSpPr>
        <p:spPr/>
      </p:sp>
      <p:sp>
        <p:nvSpPr>
          <p:cNvPr id="3" name="Marcador de Posição de Notas 2"/>
          <p:cNvSpPr>
            <a:spLocks noGrp="1"/>
          </p:cNvSpPr>
          <p:nvPr>
            <p:ph type="body" idx="1"/>
          </p:nvPr>
        </p:nvSpPr>
        <p:spPr/>
        <p:txBody>
          <a:bodyPr/>
          <a:lstStyle/>
          <a:p>
            <a:pPr marL="171450" indent="-171450">
              <a:buFont typeface="Arial" panose="020B0604020202020204" pitchFamily="34" charset="0"/>
              <a:buChar char="•"/>
            </a:pPr>
            <a:r>
              <a:rPr lang="en-US" sz="1200" b="0" i="0" kern="1200" dirty="0" smtClean="0">
                <a:solidFill>
                  <a:schemeClr val="tx1"/>
                </a:solidFill>
                <a:effectLst/>
                <a:latin typeface="+mn-lt"/>
                <a:ea typeface="+mn-ea"/>
                <a:cs typeface="+mn-cs"/>
              </a:rPr>
              <a:t>The motivation to use the </a:t>
            </a:r>
            <a:r>
              <a:rPr lang="en-US" sz="1200" b="0" i="0" kern="1200" dirty="0" err="1" smtClean="0">
                <a:solidFill>
                  <a:schemeClr val="tx1"/>
                </a:solidFill>
                <a:effectLst/>
                <a:latin typeface="+mn-lt"/>
                <a:ea typeface="+mn-ea"/>
                <a:cs typeface="+mn-cs"/>
              </a:rPr>
              <a:t>MaxAbsScaler</a:t>
            </a:r>
            <a:r>
              <a:rPr lang="en-US" sz="1200" b="0" i="0" kern="1200" baseline="0" dirty="0" smtClean="0">
                <a:solidFill>
                  <a:schemeClr val="tx1"/>
                </a:solidFill>
                <a:effectLst/>
                <a:latin typeface="+mn-lt"/>
                <a:ea typeface="+mn-ea"/>
                <a:cs typeface="+mn-cs"/>
              </a:rPr>
              <a:t> </a:t>
            </a:r>
            <a:r>
              <a:rPr lang="en-US" sz="1200" b="0" i="0" kern="1200" dirty="0" smtClean="0">
                <a:solidFill>
                  <a:schemeClr val="tx1"/>
                </a:solidFill>
                <a:effectLst/>
                <a:latin typeface="+mn-lt"/>
                <a:ea typeface="+mn-ea"/>
                <a:cs typeface="+mn-cs"/>
              </a:rPr>
              <a:t>include robustness to very small standard deviations of features and preserving zero entries in sparse data.</a:t>
            </a:r>
          </a:p>
          <a:p>
            <a:pPr marL="171450" indent="-171450">
              <a:buFont typeface="Arial" panose="020B0604020202020204" pitchFamily="34" charset="0"/>
              <a:buChar char="•"/>
            </a:pPr>
            <a:r>
              <a:rPr lang="en-US" sz="1200" b="0" i="0" kern="1200" dirty="0" smtClean="0">
                <a:solidFill>
                  <a:schemeClr val="tx1"/>
                </a:solidFill>
                <a:effectLst/>
                <a:latin typeface="+mn-lt"/>
                <a:ea typeface="+mn-ea"/>
                <a:cs typeface="+mn-cs"/>
              </a:rPr>
              <a:t>The technique to be used depends</a:t>
            </a:r>
            <a:r>
              <a:rPr lang="en-US" sz="1200" b="0" i="0" kern="1200" baseline="0" dirty="0" smtClean="0">
                <a:solidFill>
                  <a:schemeClr val="tx1"/>
                </a:solidFill>
                <a:effectLst/>
                <a:latin typeface="+mn-lt"/>
                <a:ea typeface="+mn-ea"/>
                <a:cs typeface="+mn-cs"/>
              </a:rPr>
              <a:t> on the type of the dataset being used.</a:t>
            </a:r>
            <a:endParaRPr lang="pt-PT" dirty="0"/>
          </a:p>
        </p:txBody>
      </p:sp>
      <p:sp>
        <p:nvSpPr>
          <p:cNvPr id="4" name="Marcador de Posição do Número do Diapositivo 3"/>
          <p:cNvSpPr>
            <a:spLocks noGrp="1"/>
          </p:cNvSpPr>
          <p:nvPr>
            <p:ph type="sldNum" sz="quarter" idx="10"/>
          </p:nvPr>
        </p:nvSpPr>
        <p:spPr/>
        <p:txBody>
          <a:bodyPr/>
          <a:lstStyle/>
          <a:p>
            <a:fld id="{CA077768-21C8-4125-A345-258E48D2EED0}" type="slidenum">
              <a:rPr lang="pt-PT" smtClean="0"/>
              <a:pPr/>
              <a:t>9</a:t>
            </a:fld>
            <a:endParaRPr lang="pt-PT"/>
          </a:p>
        </p:txBody>
      </p:sp>
    </p:spTree>
    <p:extLst>
      <p:ext uri="{BB962C8B-B14F-4D97-AF65-F5344CB8AC3E}">
        <p14:creationId xmlns:p14="http://schemas.microsoft.com/office/powerpoint/2010/main" val="58037286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ção da Imagem do Diapositivo 1"/>
          <p:cNvSpPr>
            <a:spLocks noGrp="1" noRot="1" noChangeAspect="1"/>
          </p:cNvSpPr>
          <p:nvPr>
            <p:ph type="sldImg"/>
          </p:nvPr>
        </p:nvSpPr>
        <p:spPr/>
      </p:sp>
      <p:sp>
        <p:nvSpPr>
          <p:cNvPr id="3" name="Marcador de Posição de Notas 2"/>
          <p:cNvSpPr>
            <a:spLocks noGrp="1"/>
          </p:cNvSpPr>
          <p:nvPr>
            <p:ph type="body" idx="1"/>
          </p:nvPr>
        </p:nvSpPr>
        <p:spPr/>
        <p:txBody>
          <a:bodyPr/>
          <a:lstStyle/>
          <a:p>
            <a:pPr marL="171450" indent="-171450">
              <a:buFont typeface="Arial" panose="020B0604020202020204" pitchFamily="34" charset="0"/>
              <a:buChar char="•"/>
            </a:pPr>
            <a:r>
              <a:rPr lang="en-US" sz="1200" b="1" dirty="0" smtClean="0">
                <a:latin typeface="Calibri" panose="020F0502020204030204" pitchFamily="34" charset="0"/>
                <a:cs typeface="Calibri" panose="020F0502020204030204" pitchFamily="34" charset="0"/>
              </a:rPr>
              <a:t>Removing features with low variance: </a:t>
            </a:r>
            <a:r>
              <a:rPr lang="en-US" sz="1200" b="0" dirty="0" smtClean="0">
                <a:latin typeface="Calibri" panose="020F0502020204030204" pitchFamily="34" charset="0"/>
                <a:cs typeface="Calibri" panose="020F0502020204030204" pitchFamily="34" charset="0"/>
              </a:rPr>
              <a:t>can also</a:t>
            </a:r>
            <a:r>
              <a:rPr lang="en-US" sz="1200" b="0" baseline="0" dirty="0" smtClean="0">
                <a:latin typeface="Calibri" panose="020F0502020204030204" pitchFamily="34" charset="0"/>
                <a:cs typeface="Calibri" panose="020F0502020204030204" pitchFamily="34" charset="0"/>
              </a:rPr>
              <a:t> be used in unsupervised learning.</a:t>
            </a:r>
          </a:p>
          <a:p>
            <a:pPr marL="171450" indent="-171450">
              <a:buFont typeface="Arial" panose="020B0604020202020204" pitchFamily="34" charset="0"/>
              <a:buChar char="•"/>
            </a:pPr>
            <a:r>
              <a:rPr lang="en-US" sz="1200" b="1" baseline="0" dirty="0" smtClean="0">
                <a:latin typeface="Calibri" panose="020F0502020204030204" pitchFamily="34" charset="0"/>
                <a:cs typeface="Calibri" panose="020F0502020204030204" pitchFamily="34" charset="0"/>
              </a:rPr>
              <a:t>Recursive feature elimination:</a:t>
            </a:r>
            <a:r>
              <a:rPr lang="en-US" sz="1200" b="0" baseline="0" dirty="0" smtClean="0">
                <a:latin typeface="Calibri" panose="020F0502020204030204" pitchFamily="34" charset="0"/>
                <a:cs typeface="Calibri" panose="020F0502020204030204" pitchFamily="34" charset="0"/>
              </a:rPr>
              <a:t> First, the estimator is trained on the initial set of features and the importance of each feature is obtained. Then, the least important features are pruned from current set of features. That procedure is recursively repeated on the pruned set until the desired number of features to select is eventually reached.</a:t>
            </a:r>
            <a:endParaRPr lang="en-US" b="1" dirty="0"/>
          </a:p>
        </p:txBody>
      </p:sp>
      <p:sp>
        <p:nvSpPr>
          <p:cNvPr id="4" name="Marcador de Posição do Número do Diapositivo 3"/>
          <p:cNvSpPr>
            <a:spLocks noGrp="1"/>
          </p:cNvSpPr>
          <p:nvPr>
            <p:ph type="sldNum" sz="quarter" idx="10"/>
          </p:nvPr>
        </p:nvSpPr>
        <p:spPr/>
        <p:txBody>
          <a:bodyPr/>
          <a:lstStyle/>
          <a:p>
            <a:fld id="{CA077768-21C8-4125-A345-258E48D2EED0}" type="slidenum">
              <a:rPr lang="pt-PT" smtClean="0"/>
              <a:pPr/>
              <a:t>10</a:t>
            </a:fld>
            <a:endParaRPr lang="pt-PT"/>
          </a:p>
        </p:txBody>
      </p:sp>
    </p:spTree>
    <p:extLst>
      <p:ext uri="{BB962C8B-B14F-4D97-AF65-F5344CB8AC3E}">
        <p14:creationId xmlns:p14="http://schemas.microsoft.com/office/powerpoint/2010/main" val="39887890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ção da Imagem do Diapositivo 1"/>
          <p:cNvSpPr>
            <a:spLocks noGrp="1" noRot="1" noChangeAspect="1"/>
          </p:cNvSpPr>
          <p:nvPr>
            <p:ph type="sldImg"/>
          </p:nvPr>
        </p:nvSpPr>
        <p:spPr/>
      </p:sp>
      <p:sp>
        <p:nvSpPr>
          <p:cNvPr id="3" name="Marcador de Posição de Notas 2"/>
          <p:cNvSpPr>
            <a:spLocks noGrp="1"/>
          </p:cNvSpPr>
          <p:nvPr>
            <p:ph type="body" idx="1"/>
          </p:nvPr>
        </p:nvSpPr>
        <p:spPr/>
        <p:txBody>
          <a:bodyPr/>
          <a:lstStyle/>
          <a:p>
            <a:endParaRPr lang="en-US" dirty="0"/>
          </a:p>
        </p:txBody>
      </p:sp>
      <p:sp>
        <p:nvSpPr>
          <p:cNvPr id="4" name="Marcador de Posição do Número do Diapositivo 3"/>
          <p:cNvSpPr>
            <a:spLocks noGrp="1"/>
          </p:cNvSpPr>
          <p:nvPr>
            <p:ph type="sldNum" sz="quarter" idx="10"/>
          </p:nvPr>
        </p:nvSpPr>
        <p:spPr/>
        <p:txBody>
          <a:bodyPr/>
          <a:lstStyle/>
          <a:p>
            <a:fld id="{CA077768-21C8-4125-A345-258E48D2EED0}" type="slidenum">
              <a:rPr lang="pt-PT" smtClean="0"/>
              <a:pPr/>
              <a:t>12</a:t>
            </a:fld>
            <a:endParaRPr lang="pt-PT"/>
          </a:p>
        </p:txBody>
      </p:sp>
    </p:spTree>
    <p:extLst>
      <p:ext uri="{BB962C8B-B14F-4D97-AF65-F5344CB8AC3E}">
        <p14:creationId xmlns:p14="http://schemas.microsoft.com/office/powerpoint/2010/main" val="210940179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ção da Imagem do Diapositivo 1"/>
          <p:cNvSpPr>
            <a:spLocks noGrp="1" noRot="1" noChangeAspect="1"/>
          </p:cNvSpPr>
          <p:nvPr>
            <p:ph type="sldImg"/>
          </p:nvPr>
        </p:nvSpPr>
        <p:spPr/>
      </p:sp>
      <p:sp>
        <p:nvSpPr>
          <p:cNvPr id="3" name="Marcador de Posição de Notas 2"/>
          <p:cNvSpPr>
            <a:spLocks noGrp="1"/>
          </p:cNvSpPr>
          <p:nvPr>
            <p:ph type="body" idx="1"/>
          </p:nvPr>
        </p:nvSpPr>
        <p:spPr/>
        <p:txBody>
          <a:bodyPr/>
          <a:lstStyle/>
          <a:p>
            <a:r>
              <a:rPr lang="en-US" dirty="0" smtClean="0"/>
              <a:t>The</a:t>
            </a:r>
            <a:r>
              <a:rPr lang="en-US" baseline="0" dirty="0" smtClean="0"/>
              <a:t> module implementing the grid search delivers a panoply of parameters to configure. The most relevant, the ones you should pay some attention when performing a grid search are delineated here…</a:t>
            </a:r>
            <a:endParaRPr lang="en-US" dirty="0" smtClean="0"/>
          </a:p>
          <a:p>
            <a:endParaRPr lang="en-US" dirty="0" smtClean="0"/>
          </a:p>
          <a:p>
            <a:r>
              <a:rPr lang="en-US" dirty="0" err="1" smtClean="0"/>
              <a:t>n_jobs</a:t>
            </a:r>
            <a:r>
              <a:rPr lang="en-US" baseline="0" dirty="0" smtClean="0"/>
              <a:t> vs. </a:t>
            </a:r>
            <a:r>
              <a:rPr lang="en-US" baseline="0" dirty="0" err="1" smtClean="0"/>
              <a:t>pre_dispatch</a:t>
            </a:r>
            <a:r>
              <a:rPr lang="en-US" baseline="0" dirty="0" smtClean="0"/>
              <a:t>: https://stackoverflow.com/questions/32673579/scikit-learn-general-question-about-parallel-computing</a:t>
            </a:r>
          </a:p>
          <a:p>
            <a:endParaRPr lang="en-US" baseline="0" dirty="0" smtClean="0"/>
          </a:p>
          <a:p>
            <a:endParaRPr lang="en-US" baseline="0" dirty="0" smtClean="0"/>
          </a:p>
        </p:txBody>
      </p:sp>
      <p:sp>
        <p:nvSpPr>
          <p:cNvPr id="4" name="Marcador de Posição do Número do Diapositivo 3"/>
          <p:cNvSpPr>
            <a:spLocks noGrp="1"/>
          </p:cNvSpPr>
          <p:nvPr>
            <p:ph type="sldNum" sz="quarter" idx="10"/>
          </p:nvPr>
        </p:nvSpPr>
        <p:spPr/>
        <p:txBody>
          <a:bodyPr/>
          <a:lstStyle/>
          <a:p>
            <a:fld id="{CA077768-21C8-4125-A345-258E48D2EED0}" type="slidenum">
              <a:rPr lang="pt-PT" smtClean="0"/>
              <a:pPr/>
              <a:t>13</a:t>
            </a:fld>
            <a:endParaRPr lang="pt-PT"/>
          </a:p>
        </p:txBody>
      </p:sp>
    </p:spTree>
    <p:extLst>
      <p:ext uri="{BB962C8B-B14F-4D97-AF65-F5344CB8AC3E}">
        <p14:creationId xmlns:p14="http://schemas.microsoft.com/office/powerpoint/2010/main" val="182977313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ção da Imagem do Diapositivo 1"/>
          <p:cNvSpPr>
            <a:spLocks noGrp="1" noRot="1" noChangeAspect="1"/>
          </p:cNvSpPr>
          <p:nvPr>
            <p:ph type="sldImg"/>
          </p:nvPr>
        </p:nvSpPr>
        <p:spPr/>
      </p:sp>
      <p:sp>
        <p:nvSpPr>
          <p:cNvPr id="3" name="Marcador de Posição de Notas 2"/>
          <p:cNvSpPr>
            <a:spLocks noGrp="1"/>
          </p:cNvSpPr>
          <p:nvPr>
            <p:ph type="body" idx="1"/>
          </p:nvPr>
        </p:nvSpPr>
        <p:spPr/>
        <p:txBody>
          <a:bodyPr/>
          <a:lstStyle/>
          <a:p>
            <a:r>
              <a:rPr lang="en-US" dirty="0" smtClean="0"/>
              <a:t>The</a:t>
            </a:r>
            <a:r>
              <a:rPr lang="en-US" baseline="0" dirty="0" smtClean="0"/>
              <a:t> module implementing the randomized search delivers a panoply of parameters to configure. The most relevant, the ones you should pay some attention when performing a grid search are delineated here…</a:t>
            </a:r>
            <a:endParaRPr lang="en-US" dirty="0" smtClean="0"/>
          </a:p>
          <a:p>
            <a:endParaRPr lang="en-US" dirty="0" smtClean="0"/>
          </a:p>
          <a:p>
            <a:r>
              <a:rPr lang="en-US" dirty="0" err="1" smtClean="0"/>
              <a:t>n_jobs</a:t>
            </a:r>
            <a:r>
              <a:rPr lang="en-US" baseline="0" dirty="0" smtClean="0"/>
              <a:t> vs. </a:t>
            </a:r>
            <a:r>
              <a:rPr lang="en-US" baseline="0" dirty="0" err="1" smtClean="0"/>
              <a:t>pre_dispatch</a:t>
            </a:r>
            <a:r>
              <a:rPr lang="en-US" baseline="0" dirty="0" smtClean="0"/>
              <a:t>: https://stackoverflow.com/questions/32673579/scikit-learn-general-question-about-parallel-computing</a:t>
            </a:r>
          </a:p>
          <a:p>
            <a:endParaRPr lang="en-US" baseline="0" dirty="0" smtClean="0"/>
          </a:p>
          <a:p>
            <a:endParaRPr lang="en-US" baseline="0" dirty="0" smtClean="0"/>
          </a:p>
        </p:txBody>
      </p:sp>
      <p:sp>
        <p:nvSpPr>
          <p:cNvPr id="4" name="Marcador de Posição do Número do Diapositivo 3"/>
          <p:cNvSpPr>
            <a:spLocks noGrp="1"/>
          </p:cNvSpPr>
          <p:nvPr>
            <p:ph type="sldNum" sz="quarter" idx="10"/>
          </p:nvPr>
        </p:nvSpPr>
        <p:spPr/>
        <p:txBody>
          <a:bodyPr/>
          <a:lstStyle/>
          <a:p>
            <a:fld id="{CA077768-21C8-4125-A345-258E48D2EED0}" type="slidenum">
              <a:rPr lang="pt-PT" smtClean="0"/>
              <a:pPr/>
              <a:t>14</a:t>
            </a:fld>
            <a:endParaRPr lang="pt-PT"/>
          </a:p>
        </p:txBody>
      </p:sp>
    </p:spTree>
    <p:extLst>
      <p:ext uri="{BB962C8B-B14F-4D97-AF65-F5344CB8AC3E}">
        <p14:creationId xmlns:p14="http://schemas.microsoft.com/office/powerpoint/2010/main" val="259736832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ção da Imagem do Diapositivo 1"/>
          <p:cNvSpPr>
            <a:spLocks noGrp="1" noRot="1" noChangeAspect="1"/>
          </p:cNvSpPr>
          <p:nvPr>
            <p:ph type="sldImg"/>
          </p:nvPr>
        </p:nvSpPr>
        <p:spPr/>
      </p:sp>
      <p:sp>
        <p:nvSpPr>
          <p:cNvPr id="3" name="Marcador de Posição de Notas 2"/>
          <p:cNvSpPr>
            <a:spLocks noGrp="1"/>
          </p:cNvSpPr>
          <p:nvPr>
            <p:ph type="body" idx="1"/>
          </p:nvPr>
        </p:nvSpPr>
        <p:spPr/>
        <p:txBody>
          <a:bodyPr/>
          <a:lstStyle/>
          <a:p>
            <a:pPr marL="171450" indent="-171450">
              <a:buFont typeface="Arial" panose="020B0604020202020204" pitchFamily="34" charset="0"/>
              <a:buChar char="•"/>
            </a:pPr>
            <a:r>
              <a:rPr lang="en-US" dirty="0" smtClean="0"/>
              <a:t>A confusion matrix summarizes the number of correct and incorrect</a:t>
            </a:r>
            <a:r>
              <a:rPr lang="en-US" baseline="0" dirty="0" smtClean="0"/>
              <a:t> predictions per class.</a:t>
            </a:r>
            <a:endParaRPr lang="en-US" dirty="0" smtClean="0"/>
          </a:p>
        </p:txBody>
      </p:sp>
      <p:sp>
        <p:nvSpPr>
          <p:cNvPr id="4" name="Marcador de Posição do Número do Diapositivo 3"/>
          <p:cNvSpPr>
            <a:spLocks noGrp="1"/>
          </p:cNvSpPr>
          <p:nvPr>
            <p:ph type="sldNum" sz="quarter" idx="10"/>
          </p:nvPr>
        </p:nvSpPr>
        <p:spPr/>
        <p:txBody>
          <a:bodyPr/>
          <a:lstStyle/>
          <a:p>
            <a:fld id="{CA077768-21C8-4125-A345-258E48D2EED0}" type="slidenum">
              <a:rPr lang="pt-PT" smtClean="0"/>
              <a:pPr/>
              <a:t>16</a:t>
            </a:fld>
            <a:endParaRPr lang="pt-PT"/>
          </a:p>
        </p:txBody>
      </p:sp>
    </p:spTree>
    <p:extLst>
      <p:ext uri="{BB962C8B-B14F-4D97-AF65-F5344CB8AC3E}">
        <p14:creationId xmlns:p14="http://schemas.microsoft.com/office/powerpoint/2010/main" val="328572880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ção da Imagem do Diapositivo 1"/>
          <p:cNvSpPr>
            <a:spLocks noGrp="1" noRot="1" noChangeAspect="1"/>
          </p:cNvSpPr>
          <p:nvPr>
            <p:ph type="sldImg"/>
          </p:nvPr>
        </p:nvSpPr>
        <p:spPr/>
      </p:sp>
      <p:sp>
        <p:nvSpPr>
          <p:cNvPr id="3" name="Marcador de Posição de Notas 2"/>
          <p:cNvSpPr>
            <a:spLocks noGrp="1"/>
          </p:cNvSpPr>
          <p:nvPr>
            <p:ph type="body" idx="1"/>
          </p:nvPr>
        </p:nvSpPr>
        <p:spPr/>
        <p:txBody>
          <a:bodyPr/>
          <a:lstStyle/>
          <a:p>
            <a:pPr marL="171450" indent="-171450">
              <a:buFont typeface="Arial" panose="020B0604020202020204" pitchFamily="34" charset="0"/>
              <a:buChar char="•"/>
            </a:pPr>
            <a:r>
              <a:rPr lang="en-US" sz="1200" b="0" i="0" kern="1200" dirty="0" smtClean="0">
                <a:solidFill>
                  <a:schemeClr val="tx1"/>
                </a:solidFill>
                <a:effectLst/>
                <a:latin typeface="+mn-lt"/>
                <a:ea typeface="+mn-ea"/>
                <a:cs typeface="+mn-cs"/>
              </a:rPr>
              <a:t>The support is the number of samples of the true response that lie in that class.</a:t>
            </a:r>
            <a:endParaRPr lang="en-US" dirty="0"/>
          </a:p>
        </p:txBody>
      </p:sp>
      <p:sp>
        <p:nvSpPr>
          <p:cNvPr id="4" name="Marcador de Posição do Número do Diapositivo 3"/>
          <p:cNvSpPr>
            <a:spLocks noGrp="1"/>
          </p:cNvSpPr>
          <p:nvPr>
            <p:ph type="sldNum" sz="quarter" idx="10"/>
          </p:nvPr>
        </p:nvSpPr>
        <p:spPr/>
        <p:txBody>
          <a:bodyPr/>
          <a:lstStyle/>
          <a:p>
            <a:fld id="{CA077768-21C8-4125-A345-258E48D2EED0}" type="slidenum">
              <a:rPr lang="pt-PT" smtClean="0"/>
              <a:pPr/>
              <a:t>17</a:t>
            </a:fld>
            <a:endParaRPr lang="pt-PT"/>
          </a:p>
        </p:txBody>
      </p:sp>
    </p:spTree>
    <p:extLst>
      <p:ext uri="{BB962C8B-B14F-4D97-AF65-F5344CB8AC3E}">
        <p14:creationId xmlns:p14="http://schemas.microsoft.com/office/powerpoint/2010/main" val="366289884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iapositivo de Título">
    <p:spTree>
      <p:nvGrpSpPr>
        <p:cNvPr id="1" name=""/>
        <p:cNvGrpSpPr/>
        <p:nvPr/>
      </p:nvGrpSpPr>
      <p:grpSpPr>
        <a:xfrm>
          <a:off x="0" y="0"/>
          <a:ext cx="0" cy="0"/>
          <a:chOff x="0" y="0"/>
          <a:chExt cx="0" cy="0"/>
        </a:xfrm>
      </p:grpSpPr>
      <p:pic>
        <p:nvPicPr>
          <p:cNvPr id="2050" name="Picture 2"/>
          <p:cNvPicPr>
            <a:picLocks noChangeAspect="1" noChangeArrowheads="1"/>
          </p:cNvPicPr>
          <p:nvPr userDrawn="1"/>
        </p:nvPicPr>
        <p:blipFill>
          <a:blip r:embed="rId2" cstate="print"/>
          <a:srcRect/>
          <a:stretch>
            <a:fillRect/>
          </a:stretch>
        </p:blipFill>
        <p:spPr bwMode="auto">
          <a:xfrm>
            <a:off x="1115616" y="2708919"/>
            <a:ext cx="7580946" cy="3473325"/>
          </a:xfrm>
          <a:prstGeom prst="rect">
            <a:avLst/>
          </a:prstGeom>
          <a:noFill/>
          <a:ln w="9525">
            <a:noFill/>
            <a:miter lim="800000"/>
            <a:headEnd/>
            <a:tailEnd/>
          </a:ln>
        </p:spPr>
      </p:pic>
      <p:sp>
        <p:nvSpPr>
          <p:cNvPr id="31" name="Rectangle 31"/>
          <p:cNvSpPr>
            <a:spLocks noGrp="1"/>
          </p:cNvSpPr>
          <p:nvPr>
            <p:ph type="subTitle" idx="1" hasCustomPrompt="1"/>
          </p:nvPr>
        </p:nvSpPr>
        <p:spPr>
          <a:xfrm>
            <a:off x="2555776" y="2780929"/>
            <a:ext cx="6120680" cy="504056"/>
          </a:xfrm>
        </p:spPr>
        <p:txBody>
          <a:bodyPr>
            <a:noAutofit/>
          </a:bodyPr>
          <a:lstStyle>
            <a:lvl1pPr marL="0" indent="0" algn="r" latinLnBrk="0">
              <a:buNone/>
              <a:defRPr lang="pt-PT" sz="3200" b="1">
                <a:solidFill>
                  <a:schemeClr val="bg1"/>
                </a:solidFill>
                <a:latin typeface="Arial" panose="020B0604020202020204" pitchFamily="34" charset="0"/>
                <a:cs typeface="Arial" panose="020B0604020202020204" pitchFamily="34" charset="0"/>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pt-PT" dirty="0" smtClean="0"/>
              <a:t>Subtítulo, Conferência</a:t>
            </a:r>
            <a:endParaRPr lang="pt-PT" dirty="0"/>
          </a:p>
        </p:txBody>
      </p:sp>
      <p:pic>
        <p:nvPicPr>
          <p:cNvPr id="7" name="Picture 3"/>
          <p:cNvPicPr>
            <a:picLocks noChangeAspect="1" noChangeArrowheads="1"/>
          </p:cNvPicPr>
          <p:nvPr userDrawn="1"/>
        </p:nvPicPr>
        <p:blipFill>
          <a:blip r:embed="rId3" cstate="print"/>
          <a:srcRect/>
          <a:stretch>
            <a:fillRect/>
          </a:stretch>
        </p:blipFill>
        <p:spPr bwMode="auto">
          <a:xfrm>
            <a:off x="-1" y="6182245"/>
            <a:ext cx="6516217" cy="675756"/>
          </a:xfrm>
          <a:prstGeom prst="rect">
            <a:avLst/>
          </a:prstGeom>
          <a:noFill/>
          <a:ln w="9525">
            <a:noFill/>
            <a:miter lim="800000"/>
            <a:headEnd/>
            <a:tailEnd/>
          </a:ln>
        </p:spPr>
      </p:pic>
      <p:pic>
        <p:nvPicPr>
          <p:cNvPr id="8" name="Picture 4"/>
          <p:cNvPicPr>
            <a:picLocks noChangeAspect="1" noChangeArrowheads="1"/>
          </p:cNvPicPr>
          <p:nvPr userDrawn="1"/>
        </p:nvPicPr>
        <p:blipFill>
          <a:blip r:embed="rId4" cstate="print"/>
          <a:srcRect l="3813" r="37962" b="1449"/>
          <a:stretch>
            <a:fillRect/>
          </a:stretch>
        </p:blipFill>
        <p:spPr bwMode="auto">
          <a:xfrm>
            <a:off x="0" y="908721"/>
            <a:ext cx="1115616" cy="5273524"/>
          </a:xfrm>
          <a:prstGeom prst="rect">
            <a:avLst/>
          </a:prstGeom>
          <a:noFill/>
          <a:ln w="9525">
            <a:noFill/>
            <a:miter lim="800000"/>
            <a:headEnd/>
            <a:tailEnd/>
          </a:ln>
        </p:spPr>
      </p:pic>
      <p:sp>
        <p:nvSpPr>
          <p:cNvPr id="12" name="Subtítulo 4"/>
          <p:cNvSpPr txBox="1">
            <a:spLocks/>
          </p:cNvSpPr>
          <p:nvPr userDrawn="1"/>
        </p:nvSpPr>
        <p:spPr>
          <a:xfrm>
            <a:off x="1115616" y="2708920"/>
            <a:ext cx="7580946" cy="1584176"/>
          </a:xfrm>
          <a:prstGeom prst="rect">
            <a:avLst/>
          </a:prstGeom>
          <a:solidFill>
            <a:schemeClr val="tx1">
              <a:lumMod val="95000"/>
              <a:lumOff val="5000"/>
              <a:alpha val="49000"/>
            </a:schemeClr>
          </a:solidFill>
        </p:spPr>
        <p:txBody>
          <a:bodyPr>
            <a:normAutofit/>
          </a:bodyPr>
          <a:lstStyle>
            <a:defPPr>
              <a:defRPr lang="pt-PT">
                <a:solidFill>
                  <a:schemeClr val="tx1"/>
                </a:solidFill>
                <a:latin typeface="+mn-lt"/>
                <a:ea typeface="+mn-ea"/>
                <a:cs typeface="+mn-cs"/>
              </a:defRPr>
            </a:defPPr>
            <a:lvl1pPr marL="342900" indent="-342900" eaLnBrk="1" latinLnBrk="0" hangingPunct="1">
              <a:buChar char="•"/>
              <a:defRPr lang="pt-PT" sz="2400">
                <a:solidFill>
                  <a:srgbClr val="373E48"/>
                </a:solidFill>
                <a:latin typeface="Arial" panose="020B0604020202020204" pitchFamily="34" charset="0"/>
                <a:cs typeface="Arial" panose="020B0604020202020204" pitchFamily="34" charset="0"/>
              </a:defRPr>
            </a:lvl1pPr>
            <a:lvl2pPr marL="742950" indent="-285750" eaLnBrk="1" hangingPunct="1">
              <a:buChar char="–"/>
              <a:defRPr lang="en-US" sz="2000" dirty="0" smtClean="0">
                <a:solidFill>
                  <a:schemeClr val="tx2"/>
                </a:solidFill>
                <a:latin typeface="Arial" panose="020B0604020202020204" pitchFamily="34" charset="0"/>
                <a:cs typeface="Arial" panose="020B0604020202020204" pitchFamily="34" charset="0"/>
              </a:defRPr>
            </a:lvl2pPr>
            <a:lvl3pPr marL="1143000" indent="-228600" eaLnBrk="1" hangingPunct="1">
              <a:buChar char="•"/>
              <a:defRPr lang="pt-PT" sz="2000">
                <a:solidFill>
                  <a:srgbClr val="373E48"/>
                </a:solidFill>
                <a:latin typeface="Arial" panose="020B0604020202020204" pitchFamily="34" charset="0"/>
                <a:cs typeface="Arial" panose="020B0604020202020204" pitchFamily="34" charset="0"/>
              </a:defRPr>
            </a:lvl3pPr>
            <a:lvl4pPr marL="1600200" indent="-228600" eaLnBrk="1" hangingPunct="1">
              <a:buChar char="–"/>
              <a:defRPr lang="pt-PT" sz="1800">
                <a:latin typeface="Arial" panose="020B0604020202020204" pitchFamily="34" charset="0"/>
                <a:cs typeface="Arial" panose="020B0604020202020204" pitchFamily="34" charset="0"/>
              </a:defRPr>
            </a:lvl4pPr>
            <a:lvl5pPr marL="2057400" indent="-228600" eaLnBrk="1" hangingPunct="1">
              <a:buChar char="»"/>
              <a:defRPr lang="pt-PT" sz="1800">
                <a:latin typeface="Arial" panose="020B0604020202020204" pitchFamily="34" charset="0"/>
                <a:cs typeface="Arial" panose="020B0604020202020204" pitchFamily="34" charset="0"/>
              </a:defRPr>
            </a:lvl5pPr>
            <a:lvl6pPr marL="2514600" indent="-228600" eaLnBrk="1" hangingPunct="1">
              <a:buChar char="•"/>
              <a:defRPr lang="pt-PT" sz="2000"/>
            </a:lvl6pPr>
            <a:lvl7pPr marL="2971800" indent="-228600" eaLnBrk="1" hangingPunct="1">
              <a:buChar char="•"/>
              <a:defRPr lang="pt-PT" sz="2000"/>
            </a:lvl7pPr>
            <a:lvl8pPr marL="3429000" indent="-228600" eaLnBrk="1" hangingPunct="1">
              <a:buChar char="•"/>
              <a:defRPr lang="pt-PT" sz="2000"/>
            </a:lvl8pPr>
            <a:lvl9pPr marL="3886200" indent="-228600" eaLnBrk="1" hangingPunct="1">
              <a:buChar char="•"/>
              <a:defRPr lang="pt-PT" sz="2000"/>
            </a:lvl9pPr>
          </a:lstStyle>
          <a:p>
            <a:endParaRPr lang="en-US" sz="2000" kern="0" dirty="0" smtClean="0"/>
          </a:p>
        </p:txBody>
      </p:sp>
      <p:sp>
        <p:nvSpPr>
          <p:cNvPr id="10" name="Marcador de Posição do Texto 9"/>
          <p:cNvSpPr>
            <a:spLocks noGrp="1"/>
          </p:cNvSpPr>
          <p:nvPr>
            <p:ph type="body" sz="quarter" idx="10" hasCustomPrompt="1"/>
          </p:nvPr>
        </p:nvSpPr>
        <p:spPr>
          <a:xfrm>
            <a:off x="1115616" y="5301208"/>
            <a:ext cx="7580946" cy="881036"/>
          </a:xfrm>
          <a:solidFill>
            <a:srgbClr val="FFFFFF">
              <a:alpha val="65000"/>
            </a:srgbClr>
          </a:solidFill>
        </p:spPr>
        <p:txBody>
          <a:bodyPr>
            <a:normAutofit/>
          </a:bodyPr>
          <a:lstStyle>
            <a:lvl1pPr marL="0" marR="0" indent="0" algn="r" defTabSz="914400" eaLnBrk="1" fontAlgn="auto" latinLnBrk="0" hangingPunct="1">
              <a:lnSpc>
                <a:spcPct val="100000"/>
              </a:lnSpc>
              <a:spcBef>
                <a:spcPts val="0"/>
              </a:spcBef>
              <a:spcAft>
                <a:spcPts val="0"/>
              </a:spcAft>
              <a:buClrTx/>
              <a:buSzTx/>
              <a:buFontTx/>
              <a:buNone/>
              <a:tabLst/>
              <a:defRPr sz="1600" i="1">
                <a:latin typeface="Arial" panose="020B0604020202020204" pitchFamily="34" charset="0"/>
                <a:ea typeface="Adobe Gothic Std B" panose="020B0800000000000000" pitchFamily="34" charset="-128"/>
                <a:cs typeface="Arial" panose="020B0604020202020204" pitchFamily="34" charset="0"/>
              </a:defRPr>
            </a:lvl1pP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pt-PT" sz="2000" b="1" i="0" u="none" strike="noStrike" kern="0" cap="none" spc="0" normalizeH="0" baseline="0" noProof="0" dirty="0" smtClean="0">
                <a:ln>
                  <a:noFill/>
                </a:ln>
                <a:solidFill>
                  <a:schemeClr val="bg1"/>
                </a:solidFill>
                <a:effectLst/>
                <a:uLnTx/>
                <a:uFillTx/>
                <a:latin typeface="+mn-lt"/>
              </a:rPr>
              <a:t>Autor1, Autor2, Autor 3</a:t>
            </a:r>
          </a:p>
          <a:p>
            <a:pPr marL="0" marR="0" lvl="0" indent="0" algn="r" defTabSz="914400" eaLnBrk="1" fontAlgn="auto" latinLnBrk="0" hangingPunct="1">
              <a:lnSpc>
                <a:spcPct val="100000"/>
              </a:lnSpc>
              <a:spcBef>
                <a:spcPts val="0"/>
              </a:spcBef>
              <a:spcAft>
                <a:spcPts val="0"/>
              </a:spcAft>
              <a:buClrTx/>
              <a:buSzTx/>
              <a:buFontTx/>
              <a:buNone/>
              <a:tabLst/>
              <a:defRPr/>
            </a:pPr>
            <a:r>
              <a:rPr kumimoji="0" lang="pt-PT" sz="2000" b="1" i="0" u="none" strike="noStrike" kern="0" cap="none" spc="0" normalizeH="0" baseline="0" noProof="0" dirty="0" smtClean="0">
                <a:ln>
                  <a:noFill/>
                </a:ln>
                <a:solidFill>
                  <a:schemeClr val="bg1"/>
                </a:solidFill>
                <a:effectLst/>
                <a:uLnTx/>
                <a:uFillTx/>
                <a:latin typeface="+mn-lt"/>
              </a:rPr>
              <a:t>Mail1, mail2, mail3</a:t>
            </a:r>
            <a:endParaRPr lang="en-US" dirty="0"/>
          </a:p>
        </p:txBody>
      </p:sp>
      <p:sp>
        <p:nvSpPr>
          <p:cNvPr id="3" name="Title 2"/>
          <p:cNvSpPr>
            <a:spLocks noGrp="1"/>
          </p:cNvSpPr>
          <p:nvPr>
            <p:ph type="title"/>
          </p:nvPr>
        </p:nvSpPr>
        <p:spPr/>
        <p:txBody>
          <a:bodyPr/>
          <a:lstStyle/>
          <a:p>
            <a:r>
              <a:rPr lang="en-US" dirty="0" smtClean="0"/>
              <a:t>Click to edit Master title style</a:t>
            </a:r>
            <a:endParaRPr lang="en-US" dirty="0"/>
          </a:p>
        </p:txBody>
      </p:sp>
      <p:sp>
        <p:nvSpPr>
          <p:cNvPr id="5" name="Text Placeholder 4"/>
          <p:cNvSpPr>
            <a:spLocks noGrp="1"/>
          </p:cNvSpPr>
          <p:nvPr>
            <p:ph type="body" sz="quarter" idx="11"/>
          </p:nvPr>
        </p:nvSpPr>
        <p:spPr>
          <a:xfrm>
            <a:off x="1259632" y="1268760"/>
            <a:ext cx="7433519" cy="1440158"/>
          </a:xfrm>
        </p:spPr>
        <p:txBody>
          <a:bodyPr anchor="b" anchorCtr="0">
            <a:normAutofit/>
          </a:bodyPr>
          <a:lstStyle>
            <a:lvl1pPr marL="0" indent="0" algn="r">
              <a:buNone/>
              <a:defRPr sz="4000" b="1"/>
            </a:lvl1pPr>
            <a:lvl2pPr marL="457200" indent="0">
              <a:buNone/>
              <a:defRPr/>
            </a:lvl2pPr>
          </a:lstStyle>
          <a:p>
            <a:pPr lvl="0"/>
            <a:r>
              <a:rPr lang="en-US" dirty="0" smtClean="0"/>
              <a:t>Click to edit Master text styles</a:t>
            </a:r>
          </a:p>
        </p:txBody>
      </p:sp>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ítulo e Texto">
    <p:spTree>
      <p:nvGrpSpPr>
        <p:cNvPr id="1" name=""/>
        <p:cNvGrpSpPr/>
        <p:nvPr/>
      </p:nvGrpSpPr>
      <p:grpSpPr>
        <a:xfrm>
          <a:off x="0" y="0"/>
          <a:ext cx="0" cy="0"/>
          <a:chOff x="0" y="0"/>
          <a:chExt cx="0" cy="0"/>
        </a:xfrm>
      </p:grpSpPr>
      <p:sp>
        <p:nvSpPr>
          <p:cNvPr id="7" name="Rectangle 7"/>
          <p:cNvSpPr>
            <a:spLocks noGrp="1"/>
          </p:cNvSpPr>
          <p:nvPr>
            <p:ph type="body" idx="1"/>
          </p:nvPr>
        </p:nvSpPr>
        <p:spPr>
          <a:xfrm>
            <a:off x="323528" y="1052737"/>
            <a:ext cx="8568952" cy="5472608"/>
          </a:xfrm>
        </p:spPr>
        <p:txBody>
          <a:bodyPr/>
          <a:lstStyle>
            <a:lvl1pPr>
              <a:defRPr>
                <a:latin typeface="Arial" panose="020B0604020202020204" pitchFamily="34" charset="0"/>
                <a:cs typeface="Arial" panose="020B0604020202020204" pitchFamily="34" charset="0"/>
              </a:defRPr>
            </a:lvl1pPr>
            <a:lvl2pPr>
              <a:defRPr>
                <a:solidFill>
                  <a:schemeClr val="tx2"/>
                </a:solidFill>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pt-PT" dirty="0"/>
          </a:p>
        </p:txBody>
      </p:sp>
      <p:sp>
        <p:nvSpPr>
          <p:cNvPr id="10" name="Slide Number Placeholder 9"/>
          <p:cNvSpPr>
            <a:spLocks noGrp="1"/>
          </p:cNvSpPr>
          <p:nvPr>
            <p:ph type="sldNum" sz="quarter" idx="11"/>
          </p:nvPr>
        </p:nvSpPr>
        <p:spPr>
          <a:xfrm>
            <a:off x="7010400" y="6525344"/>
            <a:ext cx="2133600" cy="332656"/>
          </a:xfrm>
          <a:prstGeom prst="rect">
            <a:avLst/>
          </a:prstGeom>
        </p:spPr>
        <p:txBody>
          <a:bodyPr/>
          <a:lstStyle/>
          <a:p>
            <a:pPr algn="r"/>
            <a:fld id="{D4C49B74-5DB2-4B03-B1D2-7F6A3C51C318}" type="slidenum">
              <a:rPr/>
              <a:pPr algn="r"/>
              <a:t>‹nº›</a:t>
            </a:fld>
            <a:endParaRPr lang="pt-PT" dirty="0"/>
          </a:p>
        </p:txBody>
      </p:sp>
      <p:sp>
        <p:nvSpPr>
          <p:cNvPr id="14" name="Rectangle 30"/>
          <p:cNvSpPr>
            <a:spLocks noGrp="1"/>
          </p:cNvSpPr>
          <p:nvPr>
            <p:ph type="title"/>
          </p:nvPr>
        </p:nvSpPr>
        <p:spPr>
          <a:xfrm>
            <a:off x="2483768" y="1"/>
            <a:ext cx="4680520" cy="908719"/>
          </a:xfrm>
          <a:prstGeom prst="rect">
            <a:avLst/>
          </a:prstGeom>
        </p:spPr>
        <p:txBody>
          <a:bodyPr anchor="ctr" anchorCtr="0">
            <a:noAutofit/>
          </a:bodyPr>
          <a:lstStyle>
            <a:lvl1pPr>
              <a:defRPr sz="3200"/>
            </a:lvl1pPr>
          </a:lstStyle>
          <a:p>
            <a:pPr algn="l"/>
            <a:r>
              <a:rPr lang="en-US" dirty="0" smtClean="0"/>
              <a:t>Click to edit Master title style</a:t>
            </a:r>
            <a:endParaRPr lang="pt-PT" dirty="0"/>
          </a:p>
        </p:txBody>
      </p:sp>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ítulo e Texto">
    <p:spTree>
      <p:nvGrpSpPr>
        <p:cNvPr id="1" name=""/>
        <p:cNvGrpSpPr/>
        <p:nvPr/>
      </p:nvGrpSpPr>
      <p:grpSpPr>
        <a:xfrm>
          <a:off x="0" y="0"/>
          <a:ext cx="0" cy="0"/>
          <a:chOff x="0" y="0"/>
          <a:chExt cx="0" cy="0"/>
        </a:xfrm>
      </p:grpSpPr>
      <p:sp>
        <p:nvSpPr>
          <p:cNvPr id="10" name="Slide Number Placeholder 9"/>
          <p:cNvSpPr>
            <a:spLocks noGrp="1"/>
          </p:cNvSpPr>
          <p:nvPr>
            <p:ph type="sldNum" sz="quarter" idx="11"/>
          </p:nvPr>
        </p:nvSpPr>
        <p:spPr>
          <a:xfrm>
            <a:off x="7010400" y="6525344"/>
            <a:ext cx="2133600" cy="332656"/>
          </a:xfrm>
          <a:prstGeom prst="rect">
            <a:avLst/>
          </a:prstGeom>
        </p:spPr>
        <p:txBody>
          <a:bodyPr/>
          <a:lstStyle/>
          <a:p>
            <a:pPr algn="r"/>
            <a:fld id="{D4C49B74-5DB2-4B03-B1D2-7F6A3C51C318}" type="slidenum">
              <a:rPr/>
              <a:pPr algn="r"/>
              <a:t>‹nº›</a:t>
            </a:fld>
            <a:endParaRPr lang="pt-PT"/>
          </a:p>
        </p:txBody>
      </p:sp>
      <p:sp>
        <p:nvSpPr>
          <p:cNvPr id="14" name="Rectangle 30"/>
          <p:cNvSpPr>
            <a:spLocks noGrp="1"/>
          </p:cNvSpPr>
          <p:nvPr>
            <p:ph type="title"/>
          </p:nvPr>
        </p:nvSpPr>
        <p:spPr>
          <a:xfrm>
            <a:off x="2483768" y="1"/>
            <a:ext cx="4680520" cy="908719"/>
          </a:xfrm>
          <a:prstGeom prst="rect">
            <a:avLst/>
          </a:prstGeom>
        </p:spPr>
        <p:txBody>
          <a:bodyPr anchor="ctr" anchorCtr="0">
            <a:normAutofit/>
          </a:bodyPr>
          <a:lstStyle/>
          <a:p>
            <a:pPr algn="l"/>
            <a:r>
              <a:rPr lang="en-US" smtClean="0"/>
              <a:t>Click to edit Master title style</a:t>
            </a:r>
            <a:endParaRPr lang="pt-PT" dirty="0"/>
          </a:p>
        </p:txBody>
      </p:sp>
    </p:spTree>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Título e Texto">
    <p:spTree>
      <p:nvGrpSpPr>
        <p:cNvPr id="1" name=""/>
        <p:cNvGrpSpPr/>
        <p:nvPr/>
      </p:nvGrpSpPr>
      <p:grpSpPr>
        <a:xfrm>
          <a:off x="0" y="0"/>
          <a:ext cx="0" cy="0"/>
          <a:chOff x="0" y="0"/>
          <a:chExt cx="0" cy="0"/>
        </a:xfrm>
      </p:grpSpPr>
      <p:sp>
        <p:nvSpPr>
          <p:cNvPr id="10" name="Slide Number Placeholder 9"/>
          <p:cNvSpPr>
            <a:spLocks noGrp="1"/>
          </p:cNvSpPr>
          <p:nvPr>
            <p:ph type="sldNum" sz="quarter" idx="11"/>
          </p:nvPr>
        </p:nvSpPr>
        <p:spPr>
          <a:xfrm>
            <a:off x="7010400" y="6525344"/>
            <a:ext cx="2133600" cy="332656"/>
          </a:xfrm>
          <a:prstGeom prst="rect">
            <a:avLst/>
          </a:prstGeom>
        </p:spPr>
        <p:txBody>
          <a:bodyPr/>
          <a:lstStyle/>
          <a:p>
            <a:pPr algn="r"/>
            <a:fld id="{D4C49B74-5DB2-4B03-B1D2-7F6A3C51C318}" type="slidenum">
              <a:rPr/>
              <a:pPr algn="r"/>
              <a:t>‹nº›</a:t>
            </a:fld>
            <a:endParaRPr lang="pt-PT"/>
          </a:p>
        </p:txBody>
      </p:sp>
    </p:spTree>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2.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2"/>
          <p:cNvPicPr>
            <a:picLocks noChangeAspect="1" noChangeArrowheads="1"/>
          </p:cNvPicPr>
          <p:nvPr userDrawn="1"/>
        </p:nvPicPr>
        <p:blipFill>
          <a:blip r:embed="rId6" cstate="print"/>
          <a:srcRect l="16573" t="19411"/>
          <a:stretch>
            <a:fillRect/>
          </a:stretch>
        </p:blipFill>
        <p:spPr bwMode="auto">
          <a:xfrm>
            <a:off x="0" y="908720"/>
            <a:ext cx="9144001" cy="5949280"/>
          </a:xfrm>
          <a:prstGeom prst="rect">
            <a:avLst/>
          </a:prstGeom>
          <a:noFill/>
          <a:ln w="9525">
            <a:noFill/>
            <a:miter lim="800000"/>
            <a:headEnd/>
            <a:tailEnd/>
          </a:ln>
        </p:spPr>
      </p:pic>
      <p:sp>
        <p:nvSpPr>
          <p:cNvPr id="13" name="Rectângulo 12"/>
          <p:cNvSpPr/>
          <p:nvPr userDrawn="1"/>
        </p:nvSpPr>
        <p:spPr>
          <a:xfrm>
            <a:off x="-2" y="908720"/>
            <a:ext cx="9144000" cy="5949280"/>
          </a:xfrm>
          <a:prstGeom prst="rect">
            <a:avLst/>
          </a:prstGeom>
          <a:solidFill>
            <a:schemeClr val="bg1">
              <a:alpha val="7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2"/>
          <p:cNvPicPr>
            <a:picLocks noChangeAspect="1" noChangeArrowheads="1"/>
          </p:cNvPicPr>
          <p:nvPr userDrawn="1"/>
        </p:nvPicPr>
        <p:blipFill rotWithShape="1">
          <a:blip r:embed="rId6" cstate="print"/>
          <a:srcRect l="16573" t="4228" b="80589"/>
          <a:stretch/>
        </p:blipFill>
        <p:spPr bwMode="auto">
          <a:xfrm>
            <a:off x="-1" y="-27384"/>
            <a:ext cx="9144001" cy="936104"/>
          </a:xfrm>
          <a:prstGeom prst="rect">
            <a:avLst/>
          </a:prstGeom>
          <a:noFill/>
          <a:ln w="9525">
            <a:noFill/>
            <a:miter lim="800000"/>
            <a:headEnd/>
            <a:tailEnd/>
          </a:ln>
        </p:spPr>
      </p:pic>
      <p:sp>
        <p:nvSpPr>
          <p:cNvPr id="30" name="Rectangle 30"/>
          <p:cNvSpPr>
            <a:spLocks noGrp="1"/>
          </p:cNvSpPr>
          <p:nvPr>
            <p:ph type="title"/>
          </p:nvPr>
        </p:nvSpPr>
        <p:spPr>
          <a:xfrm>
            <a:off x="2483768" y="1"/>
            <a:ext cx="4680520" cy="908719"/>
          </a:xfrm>
          <a:prstGeom prst="rect">
            <a:avLst/>
          </a:prstGeom>
        </p:spPr>
        <p:txBody>
          <a:bodyPr anchor="ctr" anchorCtr="0">
            <a:normAutofit/>
          </a:bodyPr>
          <a:lstStyle/>
          <a:p>
            <a:pPr algn="l"/>
            <a:r>
              <a:rPr lang="en-US" noProof="0" dirty="0" err="1" smtClean="0"/>
              <a:t>Título</a:t>
            </a:r>
            <a:endParaRPr lang="en-US" noProof="0" dirty="0"/>
          </a:p>
        </p:txBody>
      </p:sp>
      <p:sp>
        <p:nvSpPr>
          <p:cNvPr id="12" name="Rectangle 12"/>
          <p:cNvSpPr>
            <a:spLocks noGrp="1"/>
          </p:cNvSpPr>
          <p:nvPr>
            <p:ph type="body" idx="1"/>
          </p:nvPr>
        </p:nvSpPr>
        <p:spPr>
          <a:xfrm>
            <a:off x="323528" y="1052736"/>
            <a:ext cx="8568952" cy="5472608"/>
          </a:xfrm>
          <a:prstGeom prst="rect">
            <a:avLst/>
          </a:prstGeom>
        </p:spPr>
        <p:txBody>
          <a:bodyPr>
            <a:normAutofit/>
          </a:bodyPr>
          <a:lstStyle/>
          <a:p>
            <a:pPr lvl="0"/>
            <a:r>
              <a:rPr lang="en-US" dirty="0" smtClean="0"/>
              <a:t>Click to edit Master text styles</a:t>
            </a:r>
          </a:p>
          <a:p>
            <a:pPr marL="742950" lvl="1" indent="-285750" eaLnBrk="1" hangingPunct="1">
              <a:buChar char="–"/>
            </a:pPr>
            <a:r>
              <a:rPr lang="en-US" dirty="0" smtClean="0"/>
              <a:t>Second level</a:t>
            </a:r>
          </a:p>
          <a:p>
            <a:pPr lvl="2"/>
            <a:r>
              <a:rPr lang="en-US" dirty="0" smtClean="0"/>
              <a:t>Third level</a:t>
            </a:r>
          </a:p>
          <a:p>
            <a:pPr lvl="3"/>
            <a:r>
              <a:rPr lang="en-US" dirty="0" smtClean="0"/>
              <a:t>Fourth level</a:t>
            </a:r>
          </a:p>
          <a:p>
            <a:pPr lvl="4"/>
            <a:r>
              <a:rPr lang="en-US" dirty="0" smtClean="0"/>
              <a:t>Fifth level</a:t>
            </a:r>
            <a:endParaRPr lang="pt-PT" dirty="0"/>
          </a:p>
        </p:txBody>
      </p:sp>
      <p:sp>
        <p:nvSpPr>
          <p:cNvPr id="15" name="CaixaDeTexto 14"/>
          <p:cNvSpPr txBox="1"/>
          <p:nvPr userDrawn="1"/>
        </p:nvSpPr>
        <p:spPr>
          <a:xfrm>
            <a:off x="30480" y="-14610"/>
            <a:ext cx="2555776" cy="923330"/>
          </a:xfrm>
          <a:prstGeom prst="rect">
            <a:avLst/>
          </a:prstGeom>
          <a:noFill/>
        </p:spPr>
        <p:txBody>
          <a:bodyPr wrap="square" rtlCol="0">
            <a:spAutoFit/>
          </a:bodyPr>
          <a:lstStyle/>
          <a:p>
            <a:r>
              <a:rPr lang="en-US" sz="1800" dirty="0" smtClean="0">
                <a:solidFill>
                  <a:srgbClr val="373E48"/>
                </a:solidFill>
                <a:latin typeface="Arial" panose="020B0604020202020204" pitchFamily="34" charset="0"/>
                <a:cs typeface="Arial" panose="020B0604020202020204" pitchFamily="34" charset="0"/>
              </a:rPr>
              <a:t>ESRG</a:t>
            </a:r>
          </a:p>
          <a:p>
            <a:r>
              <a:rPr lang="en-US" sz="1800" b="1" dirty="0" smtClean="0">
                <a:solidFill>
                  <a:srgbClr val="00A2D3"/>
                </a:solidFill>
                <a:latin typeface="Arial" panose="020B0604020202020204" pitchFamily="34" charset="0"/>
                <a:cs typeface="Arial" panose="020B0604020202020204" pitchFamily="34" charset="0"/>
              </a:rPr>
              <a:t>Embedded Systems</a:t>
            </a:r>
          </a:p>
          <a:p>
            <a:r>
              <a:rPr lang="en-US" sz="1800" b="1" dirty="0" smtClean="0">
                <a:solidFill>
                  <a:srgbClr val="00A2D3"/>
                </a:solidFill>
                <a:latin typeface="Arial" panose="020B0604020202020204" pitchFamily="34" charset="0"/>
                <a:cs typeface="Arial" panose="020B0604020202020204" pitchFamily="34" charset="0"/>
              </a:rPr>
              <a:t>Research Group</a:t>
            </a:r>
            <a:endParaRPr lang="en-US" sz="1800" b="1" dirty="0">
              <a:solidFill>
                <a:srgbClr val="00A2D3"/>
              </a:solidFill>
              <a:latin typeface="Arial" panose="020B0604020202020204" pitchFamily="34" charset="0"/>
              <a:cs typeface="Arial" panose="020B0604020202020204" pitchFamily="34" charset="0"/>
            </a:endParaRPr>
          </a:p>
        </p:txBody>
      </p:sp>
      <p:pic>
        <p:nvPicPr>
          <p:cNvPr id="1028" name="Picture 4"/>
          <p:cNvPicPr>
            <a:picLocks noChangeAspect="1" noChangeArrowheads="1"/>
          </p:cNvPicPr>
          <p:nvPr userDrawn="1"/>
        </p:nvPicPr>
        <p:blipFill>
          <a:blip r:embed="rId7" cstate="print"/>
          <a:srcRect l="3813" r="37962" b="1449"/>
          <a:stretch>
            <a:fillRect/>
          </a:stretch>
        </p:blipFill>
        <p:spPr bwMode="auto">
          <a:xfrm>
            <a:off x="-1" y="908720"/>
            <a:ext cx="188645" cy="5949280"/>
          </a:xfrm>
          <a:prstGeom prst="rect">
            <a:avLst/>
          </a:prstGeom>
          <a:noFill/>
          <a:ln w="9525">
            <a:noFill/>
            <a:miter lim="800000"/>
            <a:headEnd/>
            <a:tailEnd/>
          </a:ln>
        </p:spPr>
      </p:pic>
      <p:sp>
        <p:nvSpPr>
          <p:cNvPr id="16" name="Slide Number Placeholder 9"/>
          <p:cNvSpPr>
            <a:spLocks noGrp="1"/>
          </p:cNvSpPr>
          <p:nvPr>
            <p:ph type="sldNum" sz="quarter" idx="4"/>
          </p:nvPr>
        </p:nvSpPr>
        <p:spPr>
          <a:xfrm>
            <a:off x="7010400" y="6525344"/>
            <a:ext cx="2133600" cy="332656"/>
          </a:xfrm>
          <a:prstGeom prst="rect">
            <a:avLst/>
          </a:prstGeom>
        </p:spPr>
        <p:txBody>
          <a:bodyPr/>
          <a:lstStyle>
            <a:lvl1pPr>
              <a:defRPr>
                <a:solidFill>
                  <a:schemeClr val="bg1">
                    <a:lumMod val="65000"/>
                  </a:schemeClr>
                </a:solidFill>
                <a:latin typeface="Times New Roman" panose="02020603050405020304" pitchFamily="18" charset="0"/>
                <a:cs typeface="Times New Roman" panose="02020603050405020304" pitchFamily="18" charset="0"/>
              </a:defRPr>
            </a:lvl1pPr>
          </a:lstStyle>
          <a:p>
            <a:pPr algn="r"/>
            <a:fld id="{D4C49B74-5DB2-4B03-B1D2-7F6A3C51C318}" type="slidenum">
              <a:rPr lang="en-US" smtClean="0"/>
              <a:pPr algn="r"/>
              <a:t>‹nº›</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timing>
    <p:tnLst>
      <p:par>
        <p:cTn id="1" dur="indefinite" restart="never" nodeType="tmRoot"/>
      </p:par>
    </p:tnLst>
  </p:timing>
  <p:hf hdr="0" ftr="0" dt="0"/>
  <p:txStyles>
    <p:titleStyle>
      <a:defPPr>
        <a:defRPr lang="pt-PT" sz="4400">
          <a:solidFill>
            <a:schemeClr val="tx1"/>
          </a:solidFill>
          <a:latin typeface="+mj-lt"/>
          <a:ea typeface="+mj-ea"/>
          <a:cs typeface="+mj-cs"/>
        </a:defRPr>
      </a:defPPr>
      <a:lvl1pPr algn="l" eaLnBrk="1" latinLnBrk="0" hangingPunct="1">
        <a:buNone/>
        <a:defRPr lang="pt-PT" sz="3200">
          <a:solidFill>
            <a:srgbClr val="373E48"/>
          </a:solidFill>
          <a:latin typeface="Arial" panose="020B0604020202020204" pitchFamily="34" charset="0"/>
          <a:cs typeface="Arial" panose="020B0604020202020204" pitchFamily="34" charset="0"/>
        </a:defRPr>
      </a:lvl1pPr>
    </p:titleStyle>
    <p:bodyStyle>
      <a:defPPr>
        <a:defRPr lang="pt-PT">
          <a:solidFill>
            <a:schemeClr val="tx1"/>
          </a:solidFill>
          <a:latin typeface="+mn-lt"/>
          <a:ea typeface="+mn-ea"/>
          <a:cs typeface="+mn-cs"/>
        </a:defRPr>
      </a:defPPr>
      <a:lvl1pPr marL="342900" indent="-342900" eaLnBrk="1" latinLnBrk="0" hangingPunct="1">
        <a:buChar char="•"/>
        <a:defRPr lang="pt-PT" sz="2400">
          <a:solidFill>
            <a:srgbClr val="373E48"/>
          </a:solidFill>
          <a:latin typeface="Arial" panose="020B0604020202020204" pitchFamily="34" charset="0"/>
          <a:cs typeface="Arial" panose="020B0604020202020204" pitchFamily="34" charset="0"/>
        </a:defRPr>
      </a:lvl1pPr>
      <a:lvl2pPr marL="742950" indent="-285750" eaLnBrk="1" hangingPunct="1">
        <a:buChar char="–"/>
        <a:defRPr lang="en-US" sz="2000" dirty="0" smtClean="0">
          <a:solidFill>
            <a:schemeClr val="tx2"/>
          </a:solidFill>
          <a:latin typeface="Arial" panose="020B0604020202020204" pitchFamily="34" charset="0"/>
          <a:cs typeface="Arial" panose="020B0604020202020204" pitchFamily="34" charset="0"/>
        </a:defRPr>
      </a:lvl2pPr>
      <a:lvl3pPr marL="1143000" indent="-228600" eaLnBrk="1" hangingPunct="1">
        <a:buChar char="•"/>
        <a:defRPr lang="pt-PT" sz="2000">
          <a:solidFill>
            <a:srgbClr val="373E48"/>
          </a:solidFill>
          <a:latin typeface="Arial" panose="020B0604020202020204" pitchFamily="34" charset="0"/>
          <a:cs typeface="Arial" panose="020B0604020202020204" pitchFamily="34" charset="0"/>
        </a:defRPr>
      </a:lvl3pPr>
      <a:lvl4pPr marL="1600200" indent="-228600" eaLnBrk="1" hangingPunct="1">
        <a:buChar char="–"/>
        <a:defRPr lang="pt-PT" sz="1800">
          <a:latin typeface="Arial" panose="020B0604020202020204" pitchFamily="34" charset="0"/>
          <a:cs typeface="Arial" panose="020B0604020202020204" pitchFamily="34" charset="0"/>
        </a:defRPr>
      </a:lvl4pPr>
      <a:lvl5pPr marL="2057400" indent="-228600" eaLnBrk="1" hangingPunct="1">
        <a:buChar char="»"/>
        <a:defRPr lang="pt-PT" sz="1800">
          <a:latin typeface="Arial" panose="020B0604020202020204" pitchFamily="34" charset="0"/>
          <a:cs typeface="Arial" panose="020B0604020202020204" pitchFamily="34" charset="0"/>
        </a:defRPr>
      </a:lvl5pPr>
      <a:lvl6pPr marL="2514600" indent="-228600" eaLnBrk="1" hangingPunct="1">
        <a:buChar char="•"/>
        <a:defRPr lang="pt-PT" sz="2000"/>
      </a:lvl6pPr>
      <a:lvl7pPr marL="2971800" indent="-228600" eaLnBrk="1" hangingPunct="1">
        <a:buChar char="•"/>
        <a:defRPr lang="pt-PT" sz="2000"/>
      </a:lvl7pPr>
      <a:lvl8pPr marL="3429000" indent="-228600" eaLnBrk="1" hangingPunct="1">
        <a:buChar char="•"/>
        <a:defRPr lang="pt-PT" sz="2000"/>
      </a:lvl8pPr>
      <a:lvl9pPr marL="3886200" indent="-228600" eaLnBrk="1" hangingPunct="1">
        <a:buChar char="•"/>
        <a:defRPr lang="pt-PT" sz="2000"/>
      </a:lvl9pPr>
    </p:bodyStyle>
    <p:otherStyle>
      <a:defPPr>
        <a:defRPr lang="pt-PT">
          <a:solidFill>
            <a:schemeClr val="tx1"/>
          </a:solidFill>
          <a:latin typeface="+mn-lt"/>
          <a:ea typeface="+mn-ea"/>
          <a:cs typeface="+mn-cs"/>
        </a:defRPr>
      </a:defPPr>
      <a:lvl1pPr marL="0" eaLnBrk="1" latinLnBrk="0" hangingPunct="1"/>
      <a:lvl2pPr marL="457200" eaLnBrk="1" hangingPunct="1"/>
      <a:lvl3pPr marL="914400" eaLnBrk="1" hangingPunct="1"/>
      <a:lvl4pPr marL="1371600" eaLnBrk="1" hangingPunct="1"/>
      <a:lvl5pPr marL="1828800" eaLnBrk="1" hangingPunct="1"/>
      <a:lvl6pPr marL="2286000" eaLnBrk="1" hangingPunct="1"/>
      <a:lvl7pPr marL="2743200" eaLnBrk="1" hangingPunct="1"/>
      <a:lvl8pPr marL="3200400" eaLnBrk="1" hangingPunct="1"/>
      <a:lvl9pPr marL="3657600" eaLnBrk="1" hangingPunct="1"/>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hyperlink" Target="https://store.enthought.com/downloads/" TargetMode="External"/><Relationship Id="rId7" Type="http://schemas.openxmlformats.org/officeDocument/2006/relationships/image" Target="../media/image11.png"/><Relationship Id="rId2" Type="http://schemas.openxmlformats.org/officeDocument/2006/relationships/hyperlink" Target="https://www.anaconda.com/download/" TargetMode="Externa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hyperlink" Target="https://www.jetbrains.com/pycharm/download/#section=windows"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13.png"/></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23.png"/><Relationship Id="rId4" Type="http://schemas.openxmlformats.org/officeDocument/2006/relationships/image" Target="../media/image22.png"/></Relationships>
</file>

<file path=ppt/slides/_rels/slide1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8.png"/></Relationships>
</file>

<file path=ppt/slides/_rels/slide1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8.png"/></Relationships>
</file>

<file path=ppt/slides/_rels/slide18.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lstStyle/>
          <a:p>
            <a:r>
              <a:rPr lang="en-US" dirty="0" smtClean="0"/>
              <a:t>Building a SVM Classifier</a:t>
            </a:r>
            <a:endParaRPr lang="en-US" dirty="0"/>
          </a:p>
        </p:txBody>
      </p:sp>
      <p:sp>
        <p:nvSpPr>
          <p:cNvPr id="3" name="Text Placeholder 2"/>
          <p:cNvSpPr>
            <a:spLocks noGrp="1"/>
          </p:cNvSpPr>
          <p:nvPr>
            <p:ph type="body" sz="quarter" idx="10"/>
          </p:nvPr>
        </p:nvSpPr>
        <p:spPr/>
        <p:txBody>
          <a:bodyPr/>
          <a:lstStyle/>
          <a:p>
            <a:r>
              <a:rPr lang="en-US" dirty="0" smtClean="0"/>
              <a:t>Miguel Costa, a68584</a:t>
            </a:r>
            <a:endParaRPr lang="en-US" dirty="0"/>
          </a:p>
        </p:txBody>
      </p:sp>
      <p:sp>
        <p:nvSpPr>
          <p:cNvPr id="5" name="Text Placeholder 4"/>
          <p:cNvSpPr>
            <a:spLocks noGrp="1"/>
          </p:cNvSpPr>
          <p:nvPr>
            <p:ph type="body" sz="quarter" idx="11"/>
          </p:nvPr>
        </p:nvSpPr>
        <p:spPr/>
        <p:txBody>
          <a:bodyPr/>
          <a:lstStyle/>
          <a:p>
            <a:r>
              <a:rPr lang="en-US" dirty="0" err="1" smtClean="0">
                <a:latin typeface="Calibri" panose="020F0502020204030204" pitchFamily="34" charset="0"/>
                <a:cs typeface="Calibri" panose="020F0502020204030204" pitchFamily="34" charset="0"/>
              </a:rPr>
              <a:t>scikit</a:t>
            </a:r>
            <a:r>
              <a:rPr lang="en-US" dirty="0" smtClean="0">
                <a:latin typeface="Calibri" panose="020F0502020204030204" pitchFamily="34" charset="0"/>
                <a:cs typeface="Calibri" panose="020F0502020204030204" pitchFamily="34" charset="0"/>
              </a:rPr>
              <a:t>-learn: A Tutorial</a:t>
            </a:r>
            <a:endParaRPr 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68900638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a:xfrm>
            <a:off x="323528" y="1484784"/>
            <a:ext cx="8568952" cy="5040560"/>
          </a:xfrm>
        </p:spPr>
        <p:txBody>
          <a:bodyPr/>
          <a:lstStyle/>
          <a:p>
            <a:pPr>
              <a:buSzPct val="70000"/>
            </a:pPr>
            <a:r>
              <a:rPr lang="pt-PT" sz="1800" dirty="0" err="1">
                <a:latin typeface="Calibri" panose="020F0502020204030204" pitchFamily="34" charset="0"/>
                <a:cs typeface="Calibri" panose="020F0502020204030204" pitchFamily="34" charset="0"/>
              </a:rPr>
              <a:t>It</a:t>
            </a:r>
            <a:r>
              <a:rPr lang="pt-PT" sz="1800" dirty="0">
                <a:latin typeface="Calibri" panose="020F0502020204030204" pitchFamily="34" charset="0"/>
                <a:cs typeface="Calibri" panose="020F0502020204030204" pitchFamily="34" charset="0"/>
              </a:rPr>
              <a:t> </a:t>
            </a:r>
            <a:r>
              <a:rPr lang="pt-PT" sz="1800" dirty="0" err="1" smtClean="0">
                <a:latin typeface="Calibri" panose="020F0502020204030204" pitchFamily="34" charset="0"/>
                <a:cs typeface="Calibri" panose="020F0502020204030204" pitchFamily="34" charset="0"/>
              </a:rPr>
              <a:t>is</a:t>
            </a:r>
            <a:r>
              <a:rPr lang="pt-PT" sz="1800" dirty="0">
                <a:latin typeface="Calibri" panose="020F0502020204030204" pitchFamily="34" charset="0"/>
                <a:cs typeface="Calibri" panose="020F0502020204030204" pitchFamily="34" charset="0"/>
              </a:rPr>
              <a:t> </a:t>
            </a:r>
            <a:r>
              <a:rPr lang="en-US" sz="1800" dirty="0" smtClean="0">
                <a:latin typeface="Calibri" panose="020F0502020204030204" pitchFamily="34" charset="0"/>
                <a:cs typeface="Calibri" panose="020F0502020204030204" pitchFamily="34" charset="0"/>
              </a:rPr>
              <a:t>an </a:t>
            </a:r>
            <a:r>
              <a:rPr lang="en-US" sz="1800" dirty="0">
                <a:latin typeface="Calibri" panose="020F0502020204030204" pitchFamily="34" charset="0"/>
                <a:cs typeface="Calibri" panose="020F0502020204030204" pitchFamily="34" charset="0"/>
              </a:rPr>
              <a:t>open-source machine learning </a:t>
            </a:r>
            <a:r>
              <a:rPr lang="en-US" sz="1800" dirty="0" smtClean="0">
                <a:latin typeface="Calibri" panose="020F0502020204030204" pitchFamily="34" charset="0"/>
                <a:cs typeface="Calibri" panose="020F0502020204030204" pitchFamily="34" charset="0"/>
              </a:rPr>
              <a:t>library</a:t>
            </a:r>
            <a:r>
              <a:rPr lang="en-US" sz="1800" dirty="0">
                <a:latin typeface="Calibri" panose="020F0502020204030204" pitchFamily="34" charset="0"/>
                <a:cs typeface="Calibri" panose="020F0502020204030204" pitchFamily="34" charset="0"/>
              </a:rPr>
              <a:t>, introduced by David </a:t>
            </a:r>
            <a:r>
              <a:rPr lang="en-US" sz="1800" dirty="0" err="1" smtClean="0">
                <a:latin typeface="Calibri" panose="020F0502020204030204" pitchFamily="34" charset="0"/>
                <a:cs typeface="Calibri" panose="020F0502020204030204" pitchFamily="34" charset="0"/>
              </a:rPr>
              <a:t>Cournapeau</a:t>
            </a:r>
            <a:r>
              <a:rPr lang="en-US" sz="1800" dirty="0" smtClean="0">
                <a:latin typeface="Calibri" panose="020F0502020204030204" pitchFamily="34" charset="0"/>
                <a:cs typeface="Calibri" panose="020F0502020204030204" pitchFamily="34" charset="0"/>
              </a:rPr>
              <a:t>, </a:t>
            </a:r>
            <a:r>
              <a:rPr lang="en-US" sz="1800" dirty="0">
                <a:latin typeface="Calibri" panose="020F0502020204030204" pitchFamily="34" charset="0"/>
                <a:cs typeface="Calibri" panose="020F0502020204030204" pitchFamily="34" charset="0"/>
              </a:rPr>
              <a:t>for the Python programming </a:t>
            </a:r>
            <a:r>
              <a:rPr lang="en-US" sz="1800" dirty="0" smtClean="0">
                <a:latin typeface="Calibri" panose="020F0502020204030204" pitchFamily="34" charset="0"/>
                <a:cs typeface="Calibri" panose="020F0502020204030204" pitchFamily="34" charset="0"/>
              </a:rPr>
              <a:t>language</a:t>
            </a:r>
          </a:p>
          <a:p>
            <a:pPr lvl="1">
              <a:buSzPct val="70000"/>
            </a:pPr>
            <a:r>
              <a:rPr lang="en-US" sz="1600" dirty="0" smtClean="0">
                <a:latin typeface="Calibri" panose="020F0502020204030204" pitchFamily="34" charset="0"/>
                <a:cs typeface="Calibri" panose="020F0502020204030204" pitchFamily="34" charset="0"/>
              </a:rPr>
              <a:t>It supports a wide range of machine learning problems:</a:t>
            </a:r>
          </a:p>
          <a:p>
            <a:pPr lvl="2">
              <a:buSzPct val="70000"/>
            </a:pPr>
            <a:r>
              <a:rPr lang="en-US" sz="1400" b="1" dirty="0" smtClean="0">
                <a:latin typeface="Calibri" panose="020F0502020204030204" pitchFamily="34" charset="0"/>
                <a:cs typeface="Calibri" panose="020F0502020204030204" pitchFamily="34" charset="0"/>
              </a:rPr>
              <a:t>Classification</a:t>
            </a:r>
            <a:endParaRPr lang="en-US" sz="1400" dirty="0" smtClean="0">
              <a:latin typeface="Calibri" panose="020F0502020204030204" pitchFamily="34" charset="0"/>
              <a:cs typeface="Calibri" panose="020F0502020204030204" pitchFamily="34" charset="0"/>
            </a:endParaRPr>
          </a:p>
          <a:p>
            <a:pPr lvl="2">
              <a:buSzPct val="70000"/>
            </a:pPr>
            <a:r>
              <a:rPr lang="en-US" sz="1400" b="1" dirty="0" smtClean="0">
                <a:latin typeface="Calibri" panose="020F0502020204030204" pitchFamily="34" charset="0"/>
                <a:cs typeface="Calibri" panose="020F0502020204030204" pitchFamily="34" charset="0"/>
              </a:rPr>
              <a:t>Regression</a:t>
            </a:r>
            <a:endParaRPr lang="en-US" sz="1400" dirty="0" smtClean="0">
              <a:latin typeface="Calibri" panose="020F0502020204030204" pitchFamily="34" charset="0"/>
              <a:cs typeface="Calibri" panose="020F0502020204030204" pitchFamily="34" charset="0"/>
            </a:endParaRPr>
          </a:p>
          <a:p>
            <a:pPr lvl="2">
              <a:buSzPct val="70000"/>
            </a:pPr>
            <a:r>
              <a:rPr lang="en-US" sz="1400" b="1" dirty="0" smtClean="0">
                <a:latin typeface="Calibri" panose="020F0502020204030204" pitchFamily="34" charset="0"/>
                <a:cs typeface="Calibri" panose="020F0502020204030204" pitchFamily="34" charset="0"/>
              </a:rPr>
              <a:t>Clustering</a:t>
            </a:r>
            <a:endParaRPr lang="en-US" sz="1400" dirty="0" smtClean="0">
              <a:latin typeface="Calibri" panose="020F0502020204030204" pitchFamily="34" charset="0"/>
              <a:cs typeface="Calibri" panose="020F0502020204030204" pitchFamily="34" charset="0"/>
            </a:endParaRPr>
          </a:p>
          <a:p>
            <a:pPr lvl="2">
              <a:buSzPct val="70000"/>
            </a:pPr>
            <a:r>
              <a:rPr lang="en-US" sz="1400" b="1" dirty="0" smtClean="0">
                <a:latin typeface="Calibri" panose="020F0502020204030204" pitchFamily="34" charset="0"/>
                <a:cs typeface="Calibri" panose="020F0502020204030204" pitchFamily="34" charset="0"/>
              </a:rPr>
              <a:t>Dimensionality</a:t>
            </a:r>
            <a:r>
              <a:rPr lang="en-US" sz="1400" dirty="0" smtClean="0">
                <a:latin typeface="Calibri" panose="020F0502020204030204" pitchFamily="34" charset="0"/>
                <a:cs typeface="Calibri" panose="020F0502020204030204" pitchFamily="34" charset="0"/>
              </a:rPr>
              <a:t> </a:t>
            </a:r>
            <a:r>
              <a:rPr lang="en-US" sz="1400" b="1" dirty="0" smtClean="0">
                <a:latin typeface="Calibri" panose="020F0502020204030204" pitchFamily="34" charset="0"/>
                <a:cs typeface="Calibri" panose="020F0502020204030204" pitchFamily="34" charset="0"/>
              </a:rPr>
              <a:t>Reduction</a:t>
            </a:r>
            <a:endParaRPr lang="en-US" sz="1400" dirty="0" smtClean="0">
              <a:latin typeface="Calibri" panose="020F0502020204030204" pitchFamily="34" charset="0"/>
              <a:cs typeface="Calibri" panose="020F0502020204030204" pitchFamily="34" charset="0"/>
            </a:endParaRPr>
          </a:p>
          <a:p>
            <a:pPr marL="914400" lvl="2" indent="0">
              <a:buSzPct val="70000"/>
              <a:buNone/>
            </a:pPr>
            <a:endParaRPr lang="en-US" sz="1400" dirty="0" smtClean="0">
              <a:latin typeface="Calibri" panose="020F0502020204030204" pitchFamily="34" charset="0"/>
              <a:cs typeface="Calibri" panose="020F0502020204030204" pitchFamily="34" charset="0"/>
            </a:endParaRPr>
          </a:p>
          <a:p>
            <a:pPr lvl="1">
              <a:buSzPct val="70000"/>
            </a:pPr>
            <a:r>
              <a:rPr lang="en-US" sz="1600" dirty="0" smtClean="0">
                <a:latin typeface="Calibri" panose="020F0502020204030204" pitchFamily="34" charset="0"/>
                <a:cs typeface="Calibri" panose="020F0502020204030204" pitchFamily="34" charset="0"/>
              </a:rPr>
              <a:t>It even provides mechanisms for model selection and data preprocessing:</a:t>
            </a:r>
          </a:p>
          <a:p>
            <a:pPr lvl="2">
              <a:buSzPct val="70000"/>
            </a:pPr>
            <a:r>
              <a:rPr lang="en-US" sz="1400" dirty="0" smtClean="0">
                <a:latin typeface="Calibri" panose="020F0502020204030204" pitchFamily="34" charset="0"/>
                <a:cs typeface="Calibri" panose="020F0502020204030204" pitchFamily="34" charset="0"/>
              </a:rPr>
              <a:t>Model selection, via </a:t>
            </a:r>
            <a:r>
              <a:rPr lang="en-US" sz="1400" b="1" dirty="0" smtClean="0">
                <a:latin typeface="Calibri" panose="020F0502020204030204" pitchFamily="34" charset="0"/>
                <a:cs typeface="Calibri" panose="020F0502020204030204" pitchFamily="34" charset="0"/>
              </a:rPr>
              <a:t>parameter tuning</a:t>
            </a:r>
            <a:endParaRPr lang="en-US" sz="1400" dirty="0" smtClean="0">
              <a:latin typeface="Calibri" panose="020F0502020204030204" pitchFamily="34" charset="0"/>
              <a:cs typeface="Calibri" panose="020F0502020204030204" pitchFamily="34" charset="0"/>
            </a:endParaRPr>
          </a:p>
          <a:p>
            <a:pPr lvl="2">
              <a:buSzPct val="70000"/>
            </a:pPr>
            <a:r>
              <a:rPr lang="en-US" sz="1400" dirty="0" smtClean="0">
                <a:latin typeface="Calibri" panose="020F0502020204030204" pitchFamily="34" charset="0"/>
                <a:cs typeface="Calibri" panose="020F0502020204030204" pitchFamily="34" charset="0"/>
              </a:rPr>
              <a:t>Data preprocessing, via </a:t>
            </a:r>
            <a:r>
              <a:rPr lang="en-US" sz="1400" b="1" dirty="0" smtClean="0">
                <a:latin typeface="Calibri" panose="020F0502020204030204" pitchFamily="34" charset="0"/>
                <a:cs typeface="Calibri" panose="020F0502020204030204" pitchFamily="34" charset="0"/>
              </a:rPr>
              <a:t>feature selection </a:t>
            </a:r>
            <a:r>
              <a:rPr lang="en-US" sz="1400" dirty="0" smtClean="0">
                <a:latin typeface="Calibri" panose="020F0502020204030204" pitchFamily="34" charset="0"/>
                <a:cs typeface="Calibri" panose="020F0502020204030204" pitchFamily="34" charset="0"/>
              </a:rPr>
              <a:t>and </a:t>
            </a:r>
            <a:r>
              <a:rPr lang="en-US" sz="1400" b="1" dirty="0" smtClean="0">
                <a:latin typeface="Calibri" panose="020F0502020204030204" pitchFamily="34" charset="0"/>
                <a:cs typeface="Calibri" panose="020F0502020204030204" pitchFamily="34" charset="0"/>
              </a:rPr>
              <a:t>normalization</a:t>
            </a:r>
            <a:endParaRPr lang="en-US" sz="1400" dirty="0" smtClean="0">
              <a:latin typeface="Calibri" panose="020F0502020204030204" pitchFamily="34" charset="0"/>
              <a:cs typeface="Calibri" panose="020F0502020204030204" pitchFamily="34" charset="0"/>
            </a:endParaRPr>
          </a:p>
          <a:p>
            <a:pPr>
              <a:buSzPct val="70000"/>
            </a:pPr>
            <a:endParaRPr lang="en-US" sz="1800" dirty="0">
              <a:latin typeface="Calibri" panose="020F0502020204030204" pitchFamily="34" charset="0"/>
              <a:cs typeface="Calibri" panose="020F0502020204030204" pitchFamily="34" charset="0"/>
            </a:endParaRPr>
          </a:p>
          <a:p>
            <a:pPr>
              <a:buSzPct val="70000"/>
            </a:pPr>
            <a:r>
              <a:rPr lang="en-US" sz="1800" dirty="0" smtClean="0">
                <a:latin typeface="Calibri" panose="020F0502020204030204" pitchFamily="34" charset="0"/>
                <a:cs typeface="Calibri" panose="020F0502020204030204" pitchFamily="34" charset="0"/>
              </a:rPr>
              <a:t>It is compatible with:</a:t>
            </a:r>
          </a:p>
          <a:p>
            <a:pPr lvl="1">
              <a:buSzPct val="70000"/>
            </a:pPr>
            <a:r>
              <a:rPr lang="en-US" sz="1400" dirty="0" smtClean="0">
                <a:latin typeface="Calibri" panose="020F0502020204030204" pitchFamily="34" charset="0"/>
                <a:cs typeface="Calibri" panose="020F0502020204030204" pitchFamily="34" charset="0"/>
              </a:rPr>
              <a:t>Microsoft Windows</a:t>
            </a:r>
          </a:p>
          <a:p>
            <a:pPr lvl="1">
              <a:buSzPct val="70000"/>
            </a:pPr>
            <a:r>
              <a:rPr lang="en-US" sz="1400" dirty="0" smtClean="0">
                <a:latin typeface="Calibri" panose="020F0502020204030204" pitchFamily="34" charset="0"/>
                <a:cs typeface="Calibri" panose="020F0502020204030204" pitchFamily="34" charset="0"/>
              </a:rPr>
              <a:t>Linux</a:t>
            </a:r>
          </a:p>
          <a:p>
            <a:pPr lvl="1">
              <a:buSzPct val="70000"/>
            </a:pPr>
            <a:r>
              <a:rPr lang="en-US" sz="1400" dirty="0" smtClean="0">
                <a:latin typeface="Calibri" panose="020F0502020204030204" pitchFamily="34" charset="0"/>
                <a:cs typeface="Calibri" panose="020F0502020204030204" pitchFamily="34" charset="0"/>
              </a:rPr>
              <a:t>Mac OS X</a:t>
            </a:r>
          </a:p>
          <a:p>
            <a:pPr>
              <a:buSzPct val="70000"/>
            </a:pPr>
            <a:endParaRPr lang="en-US" sz="1800" dirty="0">
              <a:latin typeface="Calibri" panose="020F0502020204030204" pitchFamily="34" charset="0"/>
              <a:cs typeface="Calibri" panose="020F0502020204030204" pitchFamily="34" charset="0"/>
            </a:endParaRPr>
          </a:p>
        </p:txBody>
      </p:sp>
      <p:sp>
        <p:nvSpPr>
          <p:cNvPr id="3" name="Slide Number Placeholder 2"/>
          <p:cNvSpPr>
            <a:spLocks noGrp="1"/>
          </p:cNvSpPr>
          <p:nvPr>
            <p:ph type="sldNum" sz="quarter" idx="11"/>
          </p:nvPr>
        </p:nvSpPr>
        <p:spPr/>
        <p:txBody>
          <a:bodyPr/>
          <a:lstStyle/>
          <a:p>
            <a:pPr algn="r"/>
            <a:fld id="{D4C49B74-5DB2-4B03-B1D2-7F6A3C51C318}" type="slidenum">
              <a:rPr lang="en-US" smtClean="0"/>
              <a:pPr algn="r"/>
              <a:t>2</a:t>
            </a:fld>
            <a:endParaRPr lang="en-US" dirty="0"/>
          </a:p>
        </p:txBody>
      </p:sp>
      <p:sp>
        <p:nvSpPr>
          <p:cNvPr id="4" name="Title 3"/>
          <p:cNvSpPr>
            <a:spLocks noGrp="1"/>
          </p:cNvSpPr>
          <p:nvPr>
            <p:ph type="title"/>
          </p:nvPr>
        </p:nvSpPr>
        <p:spPr/>
        <p:txBody>
          <a:bodyPr/>
          <a:lstStyle/>
          <a:p>
            <a:pPr algn="ctr"/>
            <a:r>
              <a:rPr lang="en-US" b="1" dirty="0" smtClean="0">
                <a:latin typeface="Calibri" panose="020F0502020204030204" pitchFamily="34" charset="0"/>
                <a:cs typeface="Calibri" panose="020F0502020204030204" pitchFamily="34" charset="0"/>
              </a:rPr>
              <a:t>What is </a:t>
            </a:r>
            <a:r>
              <a:rPr lang="en-US" b="1" dirty="0" err="1" smtClean="0">
                <a:latin typeface="Calibri" panose="020F0502020204030204" pitchFamily="34" charset="0"/>
                <a:cs typeface="Calibri" panose="020F0502020204030204" pitchFamily="34" charset="0"/>
              </a:rPr>
              <a:t>scikit</a:t>
            </a:r>
            <a:r>
              <a:rPr lang="en-US" b="1" dirty="0" smtClean="0">
                <a:latin typeface="Calibri" panose="020F0502020204030204" pitchFamily="34" charset="0"/>
                <a:cs typeface="Calibri" panose="020F0502020204030204" pitchFamily="34" charset="0"/>
              </a:rPr>
              <a:t>-learn?</a:t>
            </a:r>
            <a:endParaRPr lang="en-US" b="1" dirty="0">
              <a:latin typeface="Calibri" panose="020F0502020204030204" pitchFamily="34" charset="0"/>
              <a:cs typeface="Calibri" panose="020F0502020204030204" pitchFamily="34" charset="0"/>
            </a:endParaRPr>
          </a:p>
        </p:txBody>
      </p:sp>
      <p:pic>
        <p:nvPicPr>
          <p:cNvPr id="7" name="Imagem 6"/>
          <p:cNvPicPr>
            <a:picLocks noChangeAspect="1"/>
          </p:cNvPicPr>
          <p:nvPr/>
        </p:nvPicPr>
        <p:blipFill rotWithShape="1">
          <a:blip r:embed="rId2" cstate="print">
            <a:extLst>
              <a:ext uri="{28A0092B-C50C-407E-A947-70E740481C1C}">
                <a14:useLocalDpi xmlns:a14="http://schemas.microsoft.com/office/drawing/2010/main" val="0"/>
              </a:ext>
            </a:extLst>
          </a:blip>
          <a:srcRect l="12893" t="4419" r="21139" b="4419"/>
          <a:stretch/>
        </p:blipFill>
        <p:spPr>
          <a:xfrm>
            <a:off x="3066263" y="4653136"/>
            <a:ext cx="648073" cy="648073"/>
          </a:xfrm>
          <a:prstGeom prst="rect">
            <a:avLst/>
          </a:prstGeom>
        </p:spPr>
      </p:pic>
      <p:pic>
        <p:nvPicPr>
          <p:cNvPr id="8" name="Imagem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351455" y="4581128"/>
            <a:ext cx="793606" cy="793606"/>
          </a:xfrm>
          <a:prstGeom prst="rect">
            <a:avLst/>
          </a:prstGeom>
        </p:spPr>
      </p:pic>
      <p:pic>
        <p:nvPicPr>
          <p:cNvPr id="9" name="Imagem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175170" y="4581128"/>
            <a:ext cx="712132" cy="839248"/>
          </a:xfrm>
          <a:prstGeom prst="rect">
            <a:avLst/>
          </a:prstGeom>
        </p:spPr>
      </p:pic>
      <p:pic>
        <p:nvPicPr>
          <p:cNvPr id="10" name="Imagem 9"/>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956376" y="6345324"/>
            <a:ext cx="801197" cy="432048"/>
          </a:xfrm>
          <a:prstGeom prst="rect">
            <a:avLst/>
          </a:prstGeom>
        </p:spPr>
      </p:pic>
    </p:spTree>
    <p:extLst>
      <p:ext uri="{BB962C8B-B14F-4D97-AF65-F5344CB8AC3E}">
        <p14:creationId xmlns:p14="http://schemas.microsoft.com/office/powerpoint/2010/main" val="395389705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Posição do Número do Diapositivo 2"/>
          <p:cNvSpPr>
            <a:spLocks noGrp="1"/>
          </p:cNvSpPr>
          <p:nvPr>
            <p:ph type="sldNum" sz="quarter" idx="11"/>
          </p:nvPr>
        </p:nvSpPr>
        <p:spPr/>
        <p:txBody>
          <a:bodyPr/>
          <a:lstStyle/>
          <a:p>
            <a:pPr algn="r"/>
            <a:fld id="{D4C49B74-5DB2-4B03-B1D2-7F6A3C51C318}" type="slidenum">
              <a:rPr lang="pt-PT" smtClean="0"/>
              <a:pPr algn="r"/>
              <a:t>3</a:t>
            </a:fld>
            <a:endParaRPr lang="pt-PT" dirty="0"/>
          </a:p>
        </p:txBody>
      </p:sp>
      <p:sp>
        <p:nvSpPr>
          <p:cNvPr id="5" name="Title 3"/>
          <p:cNvSpPr>
            <a:spLocks noGrp="1"/>
          </p:cNvSpPr>
          <p:nvPr>
            <p:ph type="title"/>
          </p:nvPr>
        </p:nvSpPr>
        <p:spPr>
          <a:xfrm>
            <a:off x="2483768" y="1"/>
            <a:ext cx="4680520" cy="908719"/>
          </a:xfrm>
        </p:spPr>
        <p:txBody>
          <a:bodyPr/>
          <a:lstStyle/>
          <a:p>
            <a:pPr algn="ctr"/>
            <a:r>
              <a:rPr lang="en-US" b="1" dirty="0" smtClean="0">
                <a:latin typeface="Calibri" panose="020F0502020204030204" pitchFamily="34" charset="0"/>
                <a:cs typeface="Calibri" panose="020F0502020204030204" pitchFamily="34" charset="0"/>
              </a:rPr>
              <a:t>Installing </a:t>
            </a:r>
            <a:r>
              <a:rPr lang="en-US" b="1" dirty="0" err="1" smtClean="0">
                <a:latin typeface="Calibri" panose="020F0502020204030204" pitchFamily="34" charset="0"/>
                <a:cs typeface="Calibri" panose="020F0502020204030204" pitchFamily="34" charset="0"/>
              </a:rPr>
              <a:t>scikit</a:t>
            </a:r>
            <a:r>
              <a:rPr lang="en-US" b="1" dirty="0" smtClean="0">
                <a:latin typeface="Calibri" panose="020F0502020204030204" pitchFamily="34" charset="0"/>
                <a:cs typeface="Calibri" panose="020F0502020204030204" pitchFamily="34" charset="0"/>
              </a:rPr>
              <a:t>-learn</a:t>
            </a:r>
            <a:endParaRPr lang="en-US" b="1" dirty="0">
              <a:latin typeface="Calibri" panose="020F0502020204030204" pitchFamily="34" charset="0"/>
              <a:cs typeface="Calibri" panose="020F0502020204030204" pitchFamily="34" charset="0"/>
            </a:endParaRPr>
          </a:p>
        </p:txBody>
      </p:sp>
      <p:sp>
        <p:nvSpPr>
          <p:cNvPr id="7" name="Text Placeholder 1"/>
          <p:cNvSpPr>
            <a:spLocks noGrp="1"/>
          </p:cNvSpPr>
          <p:nvPr>
            <p:ph type="body" idx="1"/>
          </p:nvPr>
        </p:nvSpPr>
        <p:spPr>
          <a:xfrm>
            <a:off x="323528" y="1268760"/>
            <a:ext cx="8568952" cy="5256584"/>
          </a:xfrm>
        </p:spPr>
        <p:txBody>
          <a:bodyPr/>
          <a:lstStyle/>
          <a:p>
            <a:pPr>
              <a:buSzPct val="70000"/>
            </a:pPr>
            <a:r>
              <a:rPr lang="en-US" sz="1800" dirty="0" err="1">
                <a:latin typeface="Calibri" panose="020F0502020204030204" pitchFamily="34" charset="0"/>
                <a:cs typeface="Calibri" panose="020F0502020204030204" pitchFamily="34" charset="0"/>
              </a:rPr>
              <a:t>Scikit</a:t>
            </a:r>
            <a:r>
              <a:rPr lang="en-US" sz="1800" dirty="0">
                <a:latin typeface="Calibri" panose="020F0502020204030204" pitchFamily="34" charset="0"/>
                <a:cs typeface="Calibri" panose="020F0502020204030204" pitchFamily="34" charset="0"/>
              </a:rPr>
              <a:t>-learn (</a:t>
            </a:r>
            <a:r>
              <a:rPr lang="en-US" sz="1800" dirty="0" smtClean="0">
                <a:latin typeface="Calibri" panose="020F0502020204030204" pitchFamily="34" charset="0"/>
                <a:cs typeface="Calibri" panose="020F0502020204030204" pitchFamily="34" charset="0"/>
              </a:rPr>
              <a:t>0.19.1) requires:</a:t>
            </a:r>
          </a:p>
          <a:p>
            <a:pPr lvl="1">
              <a:buSzPct val="70000"/>
            </a:pPr>
            <a:r>
              <a:rPr lang="en-US" sz="1600" dirty="0" smtClean="0">
                <a:latin typeface="Calibri" panose="020F0502020204030204" pitchFamily="34" charset="0"/>
                <a:cs typeface="Calibri" panose="020F0502020204030204" pitchFamily="34" charset="0"/>
              </a:rPr>
              <a:t>Python </a:t>
            </a:r>
            <a:r>
              <a:rPr lang="en-US" sz="1600" dirty="0">
                <a:latin typeface="Calibri" panose="020F0502020204030204" pitchFamily="34" charset="0"/>
                <a:cs typeface="Calibri" panose="020F0502020204030204" pitchFamily="34" charset="0"/>
              </a:rPr>
              <a:t>(&gt;= 2.7 or &gt;= </a:t>
            </a:r>
            <a:r>
              <a:rPr lang="en-US" sz="1600" dirty="0" smtClean="0">
                <a:latin typeface="Calibri" panose="020F0502020204030204" pitchFamily="34" charset="0"/>
                <a:cs typeface="Calibri" panose="020F0502020204030204" pitchFamily="34" charset="0"/>
              </a:rPr>
              <a:t>3.3)</a:t>
            </a:r>
          </a:p>
          <a:p>
            <a:pPr lvl="1">
              <a:buSzPct val="70000"/>
            </a:pPr>
            <a:r>
              <a:rPr lang="en-US" sz="1600" dirty="0" err="1" smtClean="0">
                <a:latin typeface="Calibri" panose="020F0502020204030204" pitchFamily="34" charset="0"/>
                <a:cs typeface="Calibri" panose="020F0502020204030204" pitchFamily="34" charset="0"/>
              </a:rPr>
              <a:t>NumPy</a:t>
            </a:r>
            <a:r>
              <a:rPr lang="en-US" sz="1600" dirty="0" smtClean="0">
                <a:latin typeface="Calibri" panose="020F0502020204030204" pitchFamily="34" charset="0"/>
                <a:cs typeface="Calibri" panose="020F0502020204030204" pitchFamily="34" charset="0"/>
              </a:rPr>
              <a:t> </a:t>
            </a:r>
            <a:r>
              <a:rPr lang="en-US" sz="1600" dirty="0">
                <a:latin typeface="Calibri" panose="020F0502020204030204" pitchFamily="34" charset="0"/>
                <a:cs typeface="Calibri" panose="020F0502020204030204" pitchFamily="34" charset="0"/>
              </a:rPr>
              <a:t>(&gt;= </a:t>
            </a:r>
            <a:r>
              <a:rPr lang="en-US" sz="1600" dirty="0" smtClean="0">
                <a:latin typeface="Calibri" panose="020F0502020204030204" pitchFamily="34" charset="0"/>
                <a:cs typeface="Calibri" panose="020F0502020204030204" pitchFamily="34" charset="0"/>
              </a:rPr>
              <a:t>1.8.2)</a:t>
            </a:r>
          </a:p>
          <a:p>
            <a:pPr lvl="1">
              <a:buSzPct val="70000"/>
            </a:pPr>
            <a:r>
              <a:rPr lang="en-US" sz="1600" dirty="0" err="1" smtClean="0">
                <a:latin typeface="Calibri" panose="020F0502020204030204" pitchFamily="34" charset="0"/>
                <a:cs typeface="Calibri" panose="020F0502020204030204" pitchFamily="34" charset="0"/>
              </a:rPr>
              <a:t>SciPy</a:t>
            </a:r>
            <a:r>
              <a:rPr lang="en-US" sz="1600" dirty="0" smtClean="0">
                <a:latin typeface="Calibri" panose="020F0502020204030204" pitchFamily="34" charset="0"/>
                <a:cs typeface="Calibri" panose="020F0502020204030204" pitchFamily="34" charset="0"/>
              </a:rPr>
              <a:t> </a:t>
            </a:r>
            <a:r>
              <a:rPr lang="en-US" sz="1600" dirty="0">
                <a:latin typeface="Calibri" panose="020F0502020204030204" pitchFamily="34" charset="0"/>
                <a:cs typeface="Calibri" panose="020F0502020204030204" pitchFamily="34" charset="0"/>
              </a:rPr>
              <a:t>(&gt;= 0.13.3</a:t>
            </a:r>
            <a:r>
              <a:rPr lang="en-US" sz="1600" dirty="0" smtClean="0">
                <a:latin typeface="Calibri" panose="020F0502020204030204" pitchFamily="34" charset="0"/>
                <a:cs typeface="Calibri" panose="020F0502020204030204" pitchFamily="34" charset="0"/>
              </a:rPr>
              <a:t>)</a:t>
            </a:r>
          </a:p>
          <a:p>
            <a:pPr marL="0" indent="0">
              <a:buSzPct val="70000"/>
              <a:buNone/>
            </a:pPr>
            <a:endParaRPr lang="en-US" sz="1800" dirty="0" smtClean="0">
              <a:latin typeface="Calibri" panose="020F0502020204030204" pitchFamily="34" charset="0"/>
              <a:cs typeface="Calibri" panose="020F0502020204030204" pitchFamily="34" charset="0"/>
            </a:endParaRPr>
          </a:p>
          <a:p>
            <a:pPr marL="0" indent="0">
              <a:buSzPct val="70000"/>
              <a:buNone/>
            </a:pPr>
            <a:endParaRPr lang="en-US" sz="1800" dirty="0">
              <a:latin typeface="Calibri" panose="020F0502020204030204" pitchFamily="34" charset="0"/>
              <a:cs typeface="Calibri" panose="020F0502020204030204" pitchFamily="34" charset="0"/>
            </a:endParaRPr>
          </a:p>
          <a:p>
            <a:pPr>
              <a:buSzPct val="70000"/>
            </a:pPr>
            <a:r>
              <a:rPr lang="en-US" sz="1800" dirty="0" smtClean="0">
                <a:latin typeface="Calibri" panose="020F0502020204030204" pitchFamily="34" charset="0"/>
                <a:cs typeface="Calibri" panose="020F0502020204030204" pitchFamily="34" charset="0"/>
              </a:rPr>
              <a:t>The most convenient way to install these packages is via a Python bundle, such as:</a:t>
            </a:r>
          </a:p>
          <a:p>
            <a:pPr lvl="1">
              <a:buSzPct val="70000"/>
            </a:pPr>
            <a:r>
              <a:rPr lang="en-US" sz="1600" b="1" dirty="0">
                <a:latin typeface="Calibri" panose="020F0502020204030204" pitchFamily="34" charset="0"/>
                <a:cs typeface="Calibri" panose="020F0502020204030204" pitchFamily="34" charset="0"/>
              </a:rPr>
              <a:t>Anaconda</a:t>
            </a:r>
            <a:r>
              <a:rPr lang="en-US" sz="1600" dirty="0">
                <a:latin typeface="Calibri" panose="020F0502020204030204" pitchFamily="34" charset="0"/>
                <a:cs typeface="Calibri" panose="020F0502020204030204" pitchFamily="34" charset="0"/>
              </a:rPr>
              <a:t> (</a:t>
            </a:r>
            <a:r>
              <a:rPr lang="en-US" sz="1600" dirty="0">
                <a:latin typeface="Calibri" panose="020F0502020204030204" pitchFamily="34" charset="0"/>
                <a:cs typeface="Calibri" panose="020F0502020204030204" pitchFamily="34" charset="0"/>
                <a:hlinkClick r:id="rId2"/>
              </a:rPr>
              <a:t>https://www.anaconda.com/download</a:t>
            </a:r>
            <a:r>
              <a:rPr lang="en-US" sz="1600" dirty="0" smtClean="0">
                <a:latin typeface="Calibri" panose="020F0502020204030204" pitchFamily="34" charset="0"/>
                <a:cs typeface="Calibri" panose="020F0502020204030204" pitchFamily="34" charset="0"/>
                <a:hlinkClick r:id="rId2"/>
              </a:rPr>
              <a:t>/</a:t>
            </a:r>
            <a:r>
              <a:rPr lang="en-US" sz="1600" dirty="0">
                <a:latin typeface="Calibri" panose="020F0502020204030204" pitchFamily="34" charset="0"/>
                <a:cs typeface="Calibri" panose="020F0502020204030204" pitchFamily="34" charset="0"/>
              </a:rPr>
              <a:t>)</a:t>
            </a:r>
            <a:endParaRPr lang="en-US" sz="1600" dirty="0" smtClean="0">
              <a:latin typeface="Calibri" panose="020F0502020204030204" pitchFamily="34" charset="0"/>
              <a:cs typeface="Calibri" panose="020F0502020204030204" pitchFamily="34" charset="0"/>
            </a:endParaRPr>
          </a:p>
          <a:p>
            <a:pPr lvl="1">
              <a:buSzPct val="70000"/>
            </a:pPr>
            <a:r>
              <a:rPr lang="en-US" sz="1600" dirty="0">
                <a:latin typeface="Calibri" panose="020F0502020204030204" pitchFamily="34" charset="0"/>
                <a:cs typeface="Calibri" panose="020F0502020204030204" pitchFamily="34" charset="0"/>
              </a:rPr>
              <a:t>Canopy (</a:t>
            </a:r>
            <a:r>
              <a:rPr lang="en-US" sz="1600" dirty="0">
                <a:latin typeface="Calibri" panose="020F0502020204030204" pitchFamily="34" charset="0"/>
                <a:cs typeface="Calibri" panose="020F0502020204030204" pitchFamily="34" charset="0"/>
                <a:hlinkClick r:id="rId3"/>
              </a:rPr>
              <a:t>https://store.enthought.com/downloads</a:t>
            </a:r>
            <a:r>
              <a:rPr lang="en-US" sz="1600" dirty="0" smtClean="0">
                <a:latin typeface="Calibri" panose="020F0502020204030204" pitchFamily="34" charset="0"/>
                <a:cs typeface="Calibri" panose="020F0502020204030204" pitchFamily="34" charset="0"/>
                <a:hlinkClick r:id="rId3"/>
              </a:rPr>
              <a:t>/</a:t>
            </a:r>
            <a:r>
              <a:rPr lang="en-US" sz="1600" dirty="0" smtClean="0">
                <a:latin typeface="Calibri" panose="020F0502020204030204" pitchFamily="34" charset="0"/>
                <a:cs typeface="Calibri" panose="020F0502020204030204" pitchFamily="34" charset="0"/>
              </a:rPr>
              <a:t>)</a:t>
            </a:r>
          </a:p>
          <a:p>
            <a:pPr marL="57150" indent="0">
              <a:buSzPct val="70000"/>
              <a:buNone/>
            </a:pPr>
            <a:endParaRPr lang="en-US" sz="1800" dirty="0" smtClean="0">
              <a:latin typeface="Calibri" panose="020F0502020204030204" pitchFamily="34" charset="0"/>
              <a:cs typeface="Calibri" panose="020F0502020204030204" pitchFamily="34" charset="0"/>
            </a:endParaRPr>
          </a:p>
          <a:p>
            <a:pPr marL="57150" indent="0">
              <a:buSzPct val="70000"/>
              <a:buNone/>
            </a:pPr>
            <a:endParaRPr lang="en-US" sz="1800" dirty="0">
              <a:latin typeface="Calibri" panose="020F0502020204030204" pitchFamily="34" charset="0"/>
              <a:cs typeface="Calibri" panose="020F0502020204030204" pitchFamily="34" charset="0"/>
            </a:endParaRPr>
          </a:p>
          <a:p>
            <a:pPr>
              <a:buSzPct val="70000"/>
            </a:pPr>
            <a:r>
              <a:rPr lang="en-US" sz="1800" dirty="0" smtClean="0">
                <a:latin typeface="Calibri" panose="020F0502020204030204" pitchFamily="34" charset="0"/>
                <a:cs typeface="Calibri" panose="020F0502020204030204" pitchFamily="34" charset="0"/>
              </a:rPr>
              <a:t>To start coding, it is advised the use of a Python IDE:</a:t>
            </a:r>
          </a:p>
          <a:p>
            <a:pPr lvl="1">
              <a:buSzPct val="70000"/>
            </a:pPr>
            <a:r>
              <a:rPr lang="en-US" sz="1600" b="1" dirty="0" err="1" smtClean="0">
                <a:latin typeface="Calibri" panose="020F0502020204030204" pitchFamily="34" charset="0"/>
                <a:cs typeface="Calibri" panose="020F0502020204030204" pitchFamily="34" charset="0"/>
              </a:rPr>
              <a:t>PyCharm</a:t>
            </a:r>
            <a:r>
              <a:rPr lang="en-US" sz="1600" dirty="0">
                <a:latin typeface="Calibri" panose="020F0502020204030204" pitchFamily="34" charset="0"/>
                <a:cs typeface="Calibri" panose="020F0502020204030204" pitchFamily="34" charset="0"/>
              </a:rPr>
              <a:t> (</a:t>
            </a:r>
            <a:r>
              <a:rPr lang="en-US" sz="1600" dirty="0">
                <a:latin typeface="Calibri" panose="020F0502020204030204" pitchFamily="34" charset="0"/>
                <a:cs typeface="Calibri" panose="020F0502020204030204" pitchFamily="34" charset="0"/>
                <a:hlinkClick r:id="rId4"/>
              </a:rPr>
              <a:t>https://www.jetbrains.com/pycharm/download/#</a:t>
            </a:r>
            <a:r>
              <a:rPr lang="en-US" sz="1600" dirty="0" smtClean="0">
                <a:latin typeface="Calibri" panose="020F0502020204030204" pitchFamily="34" charset="0"/>
                <a:cs typeface="Calibri" panose="020F0502020204030204" pitchFamily="34" charset="0"/>
                <a:hlinkClick r:id="rId4"/>
              </a:rPr>
              <a:t>section=windows</a:t>
            </a:r>
            <a:r>
              <a:rPr lang="en-US" sz="1600" dirty="0" smtClean="0">
                <a:latin typeface="Calibri" panose="020F0502020204030204" pitchFamily="34" charset="0"/>
                <a:cs typeface="Calibri" panose="020F0502020204030204" pitchFamily="34" charset="0"/>
              </a:rPr>
              <a:t>)</a:t>
            </a:r>
          </a:p>
        </p:txBody>
      </p:sp>
      <p:pic>
        <p:nvPicPr>
          <p:cNvPr id="8" name="Imagem 7"/>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797315" y="3212976"/>
            <a:ext cx="1366973" cy="681957"/>
          </a:xfrm>
          <a:prstGeom prst="rect">
            <a:avLst/>
          </a:prstGeom>
        </p:spPr>
      </p:pic>
      <p:pic>
        <p:nvPicPr>
          <p:cNvPr id="9" name="Imagem 8"/>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7569970" y="3212975"/>
            <a:ext cx="916827" cy="681957"/>
          </a:xfrm>
          <a:prstGeom prst="rect">
            <a:avLst/>
          </a:prstGeom>
        </p:spPr>
      </p:pic>
      <p:pic>
        <p:nvPicPr>
          <p:cNvPr id="10" name="Imagem 9"/>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5967607" y="4802570"/>
            <a:ext cx="1020448" cy="1020448"/>
          </a:xfrm>
          <a:prstGeom prst="rect">
            <a:avLst/>
          </a:prstGeom>
        </p:spPr>
      </p:pic>
      <p:pic>
        <p:nvPicPr>
          <p:cNvPr id="11" name="Imagem 10"/>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7956376" y="6345324"/>
            <a:ext cx="801197" cy="432048"/>
          </a:xfrm>
          <a:prstGeom prst="rect">
            <a:avLst/>
          </a:prstGeom>
        </p:spPr>
      </p:pic>
    </p:spTree>
    <p:extLst>
      <p:ext uri="{BB962C8B-B14F-4D97-AF65-F5344CB8AC3E}">
        <p14:creationId xmlns:p14="http://schemas.microsoft.com/office/powerpoint/2010/main" val="213221526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Posição do Número do Diapositivo 2"/>
          <p:cNvSpPr>
            <a:spLocks noGrp="1"/>
          </p:cNvSpPr>
          <p:nvPr>
            <p:ph type="sldNum" sz="quarter" idx="11"/>
          </p:nvPr>
        </p:nvSpPr>
        <p:spPr/>
        <p:txBody>
          <a:bodyPr/>
          <a:lstStyle/>
          <a:p>
            <a:pPr algn="r"/>
            <a:fld id="{D4C49B74-5DB2-4B03-B1D2-7F6A3C51C318}" type="slidenum">
              <a:rPr lang="pt-PT" smtClean="0"/>
              <a:pPr algn="r"/>
              <a:t>4</a:t>
            </a:fld>
            <a:endParaRPr lang="pt-PT" dirty="0"/>
          </a:p>
        </p:txBody>
      </p:sp>
      <p:sp>
        <p:nvSpPr>
          <p:cNvPr id="5" name="Title 3"/>
          <p:cNvSpPr>
            <a:spLocks noGrp="1"/>
          </p:cNvSpPr>
          <p:nvPr>
            <p:ph type="title"/>
          </p:nvPr>
        </p:nvSpPr>
        <p:spPr>
          <a:xfrm>
            <a:off x="2483768" y="1"/>
            <a:ext cx="4680520" cy="908719"/>
          </a:xfrm>
        </p:spPr>
        <p:txBody>
          <a:bodyPr/>
          <a:lstStyle/>
          <a:p>
            <a:pPr algn="ctr"/>
            <a:r>
              <a:rPr lang="en-US" b="1" dirty="0" smtClean="0">
                <a:latin typeface="Calibri" panose="020F0502020204030204" pitchFamily="34" charset="0"/>
                <a:cs typeface="Calibri" panose="020F0502020204030204" pitchFamily="34" charset="0"/>
              </a:rPr>
              <a:t>Building a SVM Classifier</a:t>
            </a:r>
            <a:br>
              <a:rPr lang="en-US" b="1" dirty="0" smtClean="0">
                <a:latin typeface="Calibri" panose="020F0502020204030204" pitchFamily="34" charset="0"/>
                <a:cs typeface="Calibri" panose="020F0502020204030204" pitchFamily="34" charset="0"/>
              </a:rPr>
            </a:br>
            <a:r>
              <a:rPr lang="en-US" sz="2000" b="1" dirty="0" smtClean="0">
                <a:latin typeface="Calibri" panose="020F0502020204030204" pitchFamily="34" charset="0"/>
                <a:cs typeface="Calibri" panose="020F0502020204030204" pitchFamily="34" charset="0"/>
              </a:rPr>
              <a:t>Configuring </a:t>
            </a:r>
            <a:r>
              <a:rPr lang="en-US" sz="2000" b="1" dirty="0" err="1" smtClean="0">
                <a:latin typeface="Calibri" panose="020F0502020204030204" pitchFamily="34" charset="0"/>
                <a:cs typeface="Calibri" panose="020F0502020204030204" pitchFamily="34" charset="0"/>
              </a:rPr>
              <a:t>PyCharm</a:t>
            </a:r>
            <a:endParaRPr lang="en-US" b="1" dirty="0">
              <a:latin typeface="Calibri" panose="020F0502020204030204" pitchFamily="34" charset="0"/>
              <a:cs typeface="Calibri" panose="020F0502020204030204" pitchFamily="34" charset="0"/>
            </a:endParaRPr>
          </a:p>
        </p:txBody>
      </p:sp>
      <p:sp>
        <p:nvSpPr>
          <p:cNvPr id="10" name="Text Placeholder 1"/>
          <p:cNvSpPr>
            <a:spLocks noGrp="1"/>
          </p:cNvSpPr>
          <p:nvPr>
            <p:ph type="body" idx="1"/>
          </p:nvPr>
        </p:nvSpPr>
        <p:spPr>
          <a:xfrm>
            <a:off x="323528" y="1124744"/>
            <a:ext cx="8568952" cy="432048"/>
          </a:xfrm>
        </p:spPr>
        <p:txBody>
          <a:bodyPr>
            <a:normAutofit/>
          </a:bodyPr>
          <a:lstStyle/>
          <a:p>
            <a:pPr>
              <a:buSzPct val="70000"/>
              <a:buFont typeface="+mj-lt"/>
              <a:buAutoNum type="arabicPeriod"/>
            </a:pPr>
            <a:r>
              <a:rPr lang="en-US" sz="1800" b="1" dirty="0" smtClean="0">
                <a:latin typeface="Calibri" panose="020F0502020204030204" pitchFamily="34" charset="0"/>
                <a:cs typeface="Calibri" panose="020F0502020204030204" pitchFamily="34" charset="0"/>
              </a:rPr>
              <a:t>Select</a:t>
            </a:r>
            <a:r>
              <a:rPr lang="en-US" sz="1800" dirty="0" smtClean="0">
                <a:latin typeface="Calibri" panose="020F0502020204030204" pitchFamily="34" charset="0"/>
                <a:cs typeface="Calibri" panose="020F0502020204030204" pitchFamily="34" charset="0"/>
              </a:rPr>
              <a:t> the correct </a:t>
            </a:r>
            <a:r>
              <a:rPr lang="en-US" sz="1800" b="1" dirty="0" smtClean="0">
                <a:latin typeface="Calibri" panose="020F0502020204030204" pitchFamily="34" charset="0"/>
                <a:cs typeface="Calibri" panose="020F0502020204030204" pitchFamily="34" charset="0"/>
              </a:rPr>
              <a:t>Project</a:t>
            </a:r>
            <a:r>
              <a:rPr lang="en-US" sz="1800" dirty="0" smtClean="0">
                <a:latin typeface="Calibri" panose="020F0502020204030204" pitchFamily="34" charset="0"/>
                <a:cs typeface="Calibri" panose="020F0502020204030204" pitchFamily="34" charset="0"/>
              </a:rPr>
              <a:t> </a:t>
            </a:r>
            <a:r>
              <a:rPr lang="en-US" sz="1800" b="1" dirty="0">
                <a:latin typeface="Calibri" panose="020F0502020204030204" pitchFamily="34" charset="0"/>
                <a:cs typeface="Calibri" panose="020F0502020204030204" pitchFamily="34" charset="0"/>
              </a:rPr>
              <a:t>I</a:t>
            </a:r>
            <a:r>
              <a:rPr lang="en-US" sz="1800" b="1" dirty="0" smtClean="0">
                <a:latin typeface="Calibri" panose="020F0502020204030204" pitchFamily="34" charset="0"/>
                <a:cs typeface="Calibri" panose="020F0502020204030204" pitchFamily="34" charset="0"/>
              </a:rPr>
              <a:t>nterpreter</a:t>
            </a:r>
            <a:r>
              <a:rPr lang="en-US" sz="1800" dirty="0" smtClean="0">
                <a:latin typeface="Calibri" panose="020F0502020204030204" pitchFamily="34" charset="0"/>
                <a:cs typeface="Calibri" panose="020F0502020204030204" pitchFamily="34" charset="0"/>
              </a:rPr>
              <a:t>…</a:t>
            </a:r>
          </a:p>
          <a:p>
            <a:pPr lvl="1">
              <a:buSzPct val="70000"/>
            </a:pPr>
            <a:endParaRPr lang="en-US" sz="1600" dirty="0">
              <a:latin typeface="Calibri" panose="020F0502020204030204" pitchFamily="34" charset="0"/>
              <a:cs typeface="Calibri" panose="020F0502020204030204" pitchFamily="34" charset="0"/>
            </a:endParaRPr>
          </a:p>
          <a:p>
            <a:pPr>
              <a:buSzPct val="70000"/>
            </a:pPr>
            <a:endParaRPr lang="en-US" sz="2000" dirty="0" smtClean="0">
              <a:latin typeface="Calibri" panose="020F0502020204030204" pitchFamily="34" charset="0"/>
              <a:cs typeface="Calibri" panose="020F0502020204030204" pitchFamily="34" charset="0"/>
            </a:endParaRPr>
          </a:p>
        </p:txBody>
      </p:sp>
      <p:sp>
        <p:nvSpPr>
          <p:cNvPr id="11" name="Text Placeholder 1"/>
          <p:cNvSpPr txBox="1">
            <a:spLocks/>
          </p:cNvSpPr>
          <p:nvPr/>
        </p:nvSpPr>
        <p:spPr>
          <a:xfrm>
            <a:off x="539552" y="3609020"/>
            <a:ext cx="8568952" cy="684076"/>
          </a:xfrm>
          <a:prstGeom prst="rect">
            <a:avLst/>
          </a:prstGeom>
        </p:spPr>
        <p:txBody>
          <a:bodyPr>
            <a:normAutofit/>
          </a:bodyPr>
          <a:lstStyle>
            <a:defPPr>
              <a:defRPr lang="pt-PT">
                <a:solidFill>
                  <a:schemeClr val="tx1"/>
                </a:solidFill>
                <a:latin typeface="+mn-lt"/>
                <a:ea typeface="+mn-ea"/>
                <a:cs typeface="+mn-cs"/>
              </a:defRPr>
            </a:defPPr>
            <a:lvl1pPr marL="342900" indent="-342900" eaLnBrk="1" latinLnBrk="0" hangingPunct="1">
              <a:buChar char="•"/>
              <a:defRPr lang="pt-PT" sz="2400">
                <a:solidFill>
                  <a:srgbClr val="373E48"/>
                </a:solidFill>
                <a:latin typeface="Arial" panose="020B0604020202020204" pitchFamily="34" charset="0"/>
                <a:cs typeface="Arial" panose="020B0604020202020204" pitchFamily="34" charset="0"/>
              </a:defRPr>
            </a:lvl1pPr>
            <a:lvl2pPr marL="742950" indent="-285750" eaLnBrk="1" hangingPunct="1">
              <a:buChar char="–"/>
              <a:defRPr lang="en-US" sz="2000">
                <a:solidFill>
                  <a:schemeClr val="tx2"/>
                </a:solidFill>
                <a:latin typeface="Arial" panose="020B0604020202020204" pitchFamily="34" charset="0"/>
                <a:cs typeface="Arial" panose="020B0604020202020204" pitchFamily="34" charset="0"/>
              </a:defRPr>
            </a:lvl2pPr>
            <a:lvl3pPr marL="1143000" indent="-228600" eaLnBrk="1" hangingPunct="1">
              <a:buChar char="•"/>
              <a:defRPr lang="pt-PT" sz="2000">
                <a:solidFill>
                  <a:srgbClr val="373E48"/>
                </a:solidFill>
                <a:latin typeface="Arial" panose="020B0604020202020204" pitchFamily="34" charset="0"/>
                <a:cs typeface="Arial" panose="020B0604020202020204" pitchFamily="34" charset="0"/>
              </a:defRPr>
            </a:lvl3pPr>
            <a:lvl4pPr marL="1600200" indent="-228600" eaLnBrk="1" hangingPunct="1">
              <a:buChar char="–"/>
              <a:defRPr lang="pt-PT" sz="1800">
                <a:latin typeface="Arial" panose="020B0604020202020204" pitchFamily="34" charset="0"/>
                <a:cs typeface="Arial" panose="020B0604020202020204" pitchFamily="34" charset="0"/>
              </a:defRPr>
            </a:lvl4pPr>
            <a:lvl5pPr marL="2057400" indent="-228600" eaLnBrk="1" hangingPunct="1">
              <a:buChar char="»"/>
              <a:defRPr lang="pt-PT" sz="1800">
                <a:latin typeface="Arial" panose="020B0604020202020204" pitchFamily="34" charset="0"/>
                <a:cs typeface="Arial" panose="020B0604020202020204" pitchFamily="34" charset="0"/>
              </a:defRPr>
            </a:lvl5pPr>
            <a:lvl6pPr marL="2514600" indent="-228600" eaLnBrk="1" hangingPunct="1">
              <a:buChar char="•"/>
              <a:defRPr lang="pt-PT" sz="2000"/>
            </a:lvl6pPr>
            <a:lvl7pPr marL="2971800" indent="-228600" eaLnBrk="1" hangingPunct="1">
              <a:buChar char="•"/>
              <a:defRPr lang="pt-PT" sz="2000"/>
            </a:lvl7pPr>
            <a:lvl8pPr marL="3429000" indent="-228600" eaLnBrk="1" hangingPunct="1">
              <a:buChar char="•"/>
              <a:defRPr lang="pt-PT" sz="2000"/>
            </a:lvl8pPr>
            <a:lvl9pPr marL="3886200" indent="-228600" eaLnBrk="1" hangingPunct="1">
              <a:buChar char="•"/>
              <a:defRPr lang="pt-PT" sz="2000"/>
            </a:lvl9pPr>
          </a:lstStyle>
          <a:p>
            <a:pPr>
              <a:buSzPct val="70000"/>
              <a:buFont typeface="+mj-lt"/>
              <a:buAutoNum type="arabicPeriod" startAt="2"/>
            </a:pPr>
            <a:r>
              <a:rPr lang="en-US" sz="1800" b="1" kern="0" dirty="0" smtClean="0">
                <a:latin typeface="Calibri" panose="020F0502020204030204" pitchFamily="34" charset="0"/>
                <a:cs typeface="Calibri" panose="020F0502020204030204" pitchFamily="34" charset="0"/>
              </a:rPr>
              <a:t>Configure</a:t>
            </a:r>
            <a:r>
              <a:rPr lang="en-US" sz="1800" kern="0" dirty="0" smtClean="0">
                <a:latin typeface="Calibri" panose="020F0502020204030204" pitchFamily="34" charset="0"/>
                <a:cs typeface="Calibri" panose="020F0502020204030204" pitchFamily="34" charset="0"/>
              </a:rPr>
              <a:t> the </a:t>
            </a:r>
            <a:r>
              <a:rPr lang="en-US" sz="1800" b="1" kern="0" dirty="0" smtClean="0">
                <a:latin typeface="Calibri" panose="020F0502020204030204" pitchFamily="34" charset="0"/>
                <a:cs typeface="Calibri" panose="020F0502020204030204" pitchFamily="34" charset="0"/>
              </a:rPr>
              <a:t>Project</a:t>
            </a:r>
            <a:r>
              <a:rPr lang="en-US" sz="1800" kern="0" dirty="0" smtClean="0">
                <a:latin typeface="Calibri" panose="020F0502020204030204" pitchFamily="34" charset="0"/>
                <a:cs typeface="Calibri" panose="020F0502020204030204" pitchFamily="34" charset="0"/>
              </a:rPr>
              <a:t> </a:t>
            </a:r>
            <a:r>
              <a:rPr lang="en-US" sz="1800" b="1" kern="0" dirty="0" smtClean="0">
                <a:latin typeface="Calibri" panose="020F0502020204030204" pitchFamily="34" charset="0"/>
                <a:cs typeface="Calibri" panose="020F0502020204030204" pitchFamily="34" charset="0"/>
              </a:rPr>
              <a:t>Interpreter</a:t>
            </a:r>
            <a:r>
              <a:rPr lang="en-US" sz="1800" kern="0" dirty="0" smtClean="0">
                <a:latin typeface="Calibri" panose="020F0502020204030204" pitchFamily="34" charset="0"/>
                <a:cs typeface="Calibri" panose="020F0502020204030204" pitchFamily="34" charset="0"/>
              </a:rPr>
              <a:t> under “File-&gt;Settings” menu…</a:t>
            </a:r>
          </a:p>
          <a:p>
            <a:pPr lvl="1">
              <a:buSzPct val="70000"/>
            </a:pPr>
            <a:r>
              <a:rPr lang="en-US" sz="1600" b="1" kern="0" dirty="0" smtClean="0">
                <a:latin typeface="Calibri" panose="020F0502020204030204" pitchFamily="34" charset="0"/>
                <a:cs typeface="Calibri" panose="020F0502020204030204" pitchFamily="34" charset="0"/>
              </a:rPr>
              <a:t>Add</a:t>
            </a:r>
            <a:r>
              <a:rPr lang="en-US" sz="1600" kern="0" dirty="0" smtClean="0">
                <a:latin typeface="Calibri" panose="020F0502020204030204" pitchFamily="34" charset="0"/>
                <a:cs typeface="Calibri" panose="020F0502020204030204" pitchFamily="34" charset="0"/>
              </a:rPr>
              <a:t> the </a:t>
            </a:r>
            <a:r>
              <a:rPr lang="en-US" sz="1600" b="1" kern="0" dirty="0" smtClean="0">
                <a:latin typeface="Calibri" panose="020F0502020204030204" pitchFamily="34" charset="0"/>
                <a:cs typeface="Calibri" panose="020F0502020204030204" pitchFamily="34" charset="0"/>
              </a:rPr>
              <a:t>packages</a:t>
            </a:r>
            <a:r>
              <a:rPr lang="en-US" sz="1600" kern="0" dirty="0" smtClean="0">
                <a:latin typeface="Calibri" panose="020F0502020204030204" pitchFamily="34" charset="0"/>
                <a:cs typeface="Calibri" panose="020F0502020204030204" pitchFamily="34" charset="0"/>
              </a:rPr>
              <a:t>: (</a:t>
            </a:r>
            <a:r>
              <a:rPr lang="en-US" sz="1600" kern="0" dirty="0" err="1" smtClean="0">
                <a:latin typeface="Calibri" panose="020F0502020204030204" pitchFamily="34" charset="0"/>
                <a:cs typeface="Calibri" panose="020F0502020204030204" pitchFamily="34" charset="0"/>
              </a:rPr>
              <a:t>i</a:t>
            </a:r>
            <a:r>
              <a:rPr lang="en-US" sz="1600" kern="0" dirty="0" smtClean="0">
                <a:latin typeface="Calibri" panose="020F0502020204030204" pitchFamily="34" charset="0"/>
                <a:cs typeface="Calibri" panose="020F0502020204030204" pitchFamily="34" charset="0"/>
              </a:rPr>
              <a:t>) </a:t>
            </a:r>
            <a:r>
              <a:rPr lang="en-US" sz="1600" kern="0" dirty="0" err="1" smtClean="0">
                <a:latin typeface="Calibri" panose="020F0502020204030204" pitchFamily="34" charset="0"/>
                <a:cs typeface="Calibri" panose="020F0502020204030204" pitchFamily="34" charset="0"/>
              </a:rPr>
              <a:t>numpy</a:t>
            </a:r>
            <a:r>
              <a:rPr lang="en-US" sz="1600" kern="0" dirty="0" smtClean="0">
                <a:latin typeface="Calibri" panose="020F0502020204030204" pitchFamily="34" charset="0"/>
                <a:cs typeface="Calibri" panose="020F0502020204030204" pitchFamily="34" charset="0"/>
              </a:rPr>
              <a:t>, (ii) </a:t>
            </a:r>
            <a:r>
              <a:rPr lang="en-US" sz="1600" kern="0" dirty="0" err="1" smtClean="0">
                <a:latin typeface="Calibri" panose="020F0502020204030204" pitchFamily="34" charset="0"/>
                <a:cs typeface="Calibri" panose="020F0502020204030204" pitchFamily="34" charset="0"/>
              </a:rPr>
              <a:t>scipy</a:t>
            </a:r>
            <a:r>
              <a:rPr lang="en-US" sz="1600" kern="0" dirty="0" smtClean="0">
                <a:latin typeface="Calibri" panose="020F0502020204030204" pitchFamily="34" charset="0"/>
                <a:cs typeface="Calibri" panose="020F0502020204030204" pitchFamily="34" charset="0"/>
              </a:rPr>
              <a:t> and (iii) </a:t>
            </a:r>
            <a:r>
              <a:rPr lang="en-US" sz="1600" kern="0" dirty="0" err="1" smtClean="0">
                <a:latin typeface="Calibri" panose="020F0502020204030204" pitchFamily="34" charset="0"/>
                <a:cs typeface="Calibri" panose="020F0502020204030204" pitchFamily="34" charset="0"/>
              </a:rPr>
              <a:t>scikit</a:t>
            </a:r>
            <a:r>
              <a:rPr lang="en-US" sz="1600" kern="0" dirty="0" smtClean="0">
                <a:latin typeface="Calibri" panose="020F0502020204030204" pitchFamily="34" charset="0"/>
                <a:cs typeface="Calibri" panose="020F0502020204030204" pitchFamily="34" charset="0"/>
              </a:rPr>
              <a:t>-learn</a:t>
            </a:r>
          </a:p>
        </p:txBody>
      </p:sp>
      <p:pic>
        <p:nvPicPr>
          <p:cNvPr id="13" name="Imagem 1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2101" y="4293096"/>
            <a:ext cx="7363853" cy="1800200"/>
          </a:xfrm>
          <a:prstGeom prst="rect">
            <a:avLst/>
          </a:prstGeom>
          <a:ln w="3175">
            <a:solidFill>
              <a:schemeClr val="tx1"/>
            </a:solidFill>
          </a:ln>
        </p:spPr>
      </p:pic>
      <p:pic>
        <p:nvPicPr>
          <p:cNvPr id="14" name="Imagem 1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42101" y="1521920"/>
            <a:ext cx="7363853" cy="1914792"/>
          </a:xfrm>
          <a:prstGeom prst="rect">
            <a:avLst/>
          </a:prstGeom>
          <a:ln w="3175">
            <a:solidFill>
              <a:schemeClr val="tx1"/>
            </a:solidFill>
          </a:ln>
        </p:spPr>
      </p:pic>
      <p:pic>
        <p:nvPicPr>
          <p:cNvPr id="15" name="Imagem 1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956376" y="6345324"/>
            <a:ext cx="801197" cy="432048"/>
          </a:xfrm>
          <a:prstGeom prst="rect">
            <a:avLst/>
          </a:prstGeom>
        </p:spPr>
      </p:pic>
    </p:spTree>
    <p:extLst>
      <p:ext uri="{BB962C8B-B14F-4D97-AF65-F5344CB8AC3E}">
        <p14:creationId xmlns:p14="http://schemas.microsoft.com/office/powerpoint/2010/main" val="388092172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Posição do Número do Diapositivo 2"/>
          <p:cNvSpPr>
            <a:spLocks noGrp="1"/>
          </p:cNvSpPr>
          <p:nvPr>
            <p:ph type="sldNum" sz="quarter" idx="11"/>
          </p:nvPr>
        </p:nvSpPr>
        <p:spPr/>
        <p:txBody>
          <a:bodyPr/>
          <a:lstStyle/>
          <a:p>
            <a:pPr algn="r"/>
            <a:fld id="{D4C49B74-5DB2-4B03-B1D2-7F6A3C51C318}" type="slidenum">
              <a:rPr lang="pt-PT" smtClean="0"/>
              <a:pPr algn="r"/>
              <a:t>5</a:t>
            </a:fld>
            <a:endParaRPr lang="pt-PT" dirty="0"/>
          </a:p>
        </p:txBody>
      </p:sp>
      <p:sp>
        <p:nvSpPr>
          <p:cNvPr id="5" name="Title 3"/>
          <p:cNvSpPr>
            <a:spLocks noGrp="1"/>
          </p:cNvSpPr>
          <p:nvPr>
            <p:ph type="title"/>
          </p:nvPr>
        </p:nvSpPr>
        <p:spPr>
          <a:xfrm>
            <a:off x="2483768" y="1"/>
            <a:ext cx="4680520" cy="908719"/>
          </a:xfrm>
        </p:spPr>
        <p:txBody>
          <a:bodyPr/>
          <a:lstStyle/>
          <a:p>
            <a:pPr algn="ctr"/>
            <a:r>
              <a:rPr lang="en-US" b="1" dirty="0" smtClean="0">
                <a:latin typeface="Calibri" panose="020F0502020204030204" pitchFamily="34" charset="0"/>
                <a:cs typeface="Calibri" panose="020F0502020204030204" pitchFamily="34" charset="0"/>
              </a:rPr>
              <a:t>Building a SVM Classifier</a:t>
            </a:r>
            <a:br>
              <a:rPr lang="en-US" b="1" dirty="0" smtClean="0">
                <a:latin typeface="Calibri" panose="020F0502020204030204" pitchFamily="34" charset="0"/>
                <a:cs typeface="Calibri" panose="020F0502020204030204" pitchFamily="34" charset="0"/>
              </a:rPr>
            </a:br>
            <a:r>
              <a:rPr lang="en-US" sz="2000" b="1" dirty="0" smtClean="0">
                <a:latin typeface="Calibri" panose="020F0502020204030204" pitchFamily="34" charset="0"/>
                <a:cs typeface="Calibri" panose="020F0502020204030204" pitchFamily="34" charset="0"/>
              </a:rPr>
              <a:t>Loading an external dataset</a:t>
            </a:r>
            <a:endParaRPr lang="en-US" b="1" dirty="0">
              <a:latin typeface="Calibri" panose="020F0502020204030204" pitchFamily="34" charset="0"/>
              <a:cs typeface="Calibri" panose="020F0502020204030204" pitchFamily="34" charset="0"/>
            </a:endParaRPr>
          </a:p>
        </p:txBody>
      </p:sp>
      <p:sp>
        <p:nvSpPr>
          <p:cNvPr id="6" name="Text Placeholder 1"/>
          <p:cNvSpPr>
            <a:spLocks noGrp="1"/>
          </p:cNvSpPr>
          <p:nvPr>
            <p:ph type="body" idx="1"/>
          </p:nvPr>
        </p:nvSpPr>
        <p:spPr>
          <a:xfrm>
            <a:off x="323528" y="1268760"/>
            <a:ext cx="8568952" cy="5256584"/>
          </a:xfrm>
        </p:spPr>
        <p:txBody>
          <a:bodyPr>
            <a:normAutofit/>
          </a:bodyPr>
          <a:lstStyle/>
          <a:p>
            <a:pPr>
              <a:buSzPct val="70000"/>
            </a:pPr>
            <a:r>
              <a:rPr lang="en-US" sz="1800" dirty="0" smtClean="0">
                <a:latin typeface="Calibri" panose="020F0502020204030204" pitchFamily="34" charset="0"/>
                <a:cs typeface="Calibri" panose="020F0502020204030204" pitchFamily="34" charset="0"/>
              </a:rPr>
              <a:t>The machine learning system provided by </a:t>
            </a:r>
            <a:r>
              <a:rPr lang="en-US" sz="1800" dirty="0" err="1" smtClean="0">
                <a:latin typeface="Calibri" panose="020F0502020204030204" pitchFamily="34" charset="0"/>
                <a:cs typeface="Calibri" panose="020F0502020204030204" pitchFamily="34" charset="0"/>
              </a:rPr>
              <a:t>scikit</a:t>
            </a:r>
            <a:r>
              <a:rPr lang="en-US" sz="1800" dirty="0" smtClean="0">
                <a:latin typeface="Calibri" panose="020F0502020204030204" pitchFamily="34" charset="0"/>
                <a:cs typeface="Calibri" panose="020F0502020204030204" pitchFamily="34" charset="0"/>
              </a:rPr>
              <a:t>-learn works on any numeric data stored as </a:t>
            </a:r>
            <a:r>
              <a:rPr lang="en-US" sz="1800" b="1" dirty="0" err="1" smtClean="0">
                <a:latin typeface="Calibri" panose="020F0502020204030204" pitchFamily="34" charset="0"/>
                <a:cs typeface="Calibri" panose="020F0502020204030204" pitchFamily="34" charset="0"/>
              </a:rPr>
              <a:t>numpy</a:t>
            </a:r>
            <a:r>
              <a:rPr lang="en-US" sz="1800" dirty="0" smtClean="0">
                <a:latin typeface="Calibri" panose="020F0502020204030204" pitchFamily="34" charset="0"/>
                <a:cs typeface="Calibri" panose="020F0502020204030204" pitchFamily="34" charset="0"/>
              </a:rPr>
              <a:t> </a:t>
            </a:r>
            <a:r>
              <a:rPr lang="en-US" sz="1800" b="1" dirty="0" smtClean="0">
                <a:latin typeface="Calibri" panose="020F0502020204030204" pitchFamily="34" charset="0"/>
                <a:cs typeface="Calibri" panose="020F0502020204030204" pitchFamily="34" charset="0"/>
              </a:rPr>
              <a:t>arrays</a:t>
            </a:r>
            <a:r>
              <a:rPr lang="en-US" sz="1800" dirty="0" smtClean="0">
                <a:latin typeface="Calibri" panose="020F0502020204030204" pitchFamily="34" charset="0"/>
                <a:cs typeface="Calibri" panose="020F0502020204030204" pitchFamily="34" charset="0"/>
              </a:rPr>
              <a:t> or </a:t>
            </a:r>
            <a:r>
              <a:rPr lang="en-US" sz="1800" b="1" dirty="0" err="1" smtClean="0">
                <a:latin typeface="Calibri" panose="020F0502020204030204" pitchFamily="34" charset="0"/>
                <a:cs typeface="Calibri" panose="020F0502020204030204" pitchFamily="34" charset="0"/>
              </a:rPr>
              <a:t>scipy</a:t>
            </a:r>
            <a:r>
              <a:rPr lang="en-US" sz="1800" b="1" dirty="0" smtClean="0">
                <a:latin typeface="Calibri" panose="020F0502020204030204" pitchFamily="34" charset="0"/>
                <a:cs typeface="Calibri" panose="020F0502020204030204" pitchFamily="34" charset="0"/>
              </a:rPr>
              <a:t> sparse matrices</a:t>
            </a:r>
            <a:endParaRPr lang="en-US" sz="1800" dirty="0" smtClean="0">
              <a:latin typeface="Calibri" panose="020F0502020204030204" pitchFamily="34" charset="0"/>
              <a:cs typeface="Calibri" panose="020F0502020204030204" pitchFamily="34" charset="0"/>
            </a:endParaRPr>
          </a:p>
          <a:p>
            <a:pPr marL="0" indent="0">
              <a:buSzPct val="70000"/>
              <a:buNone/>
            </a:pPr>
            <a:endParaRPr lang="en-US" sz="1800" dirty="0" smtClean="0">
              <a:latin typeface="Calibri" panose="020F0502020204030204" pitchFamily="34" charset="0"/>
              <a:cs typeface="Calibri" panose="020F0502020204030204" pitchFamily="34" charset="0"/>
            </a:endParaRPr>
          </a:p>
          <a:p>
            <a:pPr>
              <a:buSzPct val="70000"/>
            </a:pPr>
            <a:r>
              <a:rPr lang="en-US" sz="1800" dirty="0" smtClean="0">
                <a:latin typeface="Calibri" panose="020F0502020204030204" pitchFamily="34" charset="0"/>
                <a:cs typeface="Calibri" panose="020F0502020204030204" pitchFamily="34" charset="0"/>
              </a:rPr>
              <a:t>The most convenient way to </a:t>
            </a:r>
            <a:r>
              <a:rPr lang="en-US" sz="1800" b="1" dirty="0" smtClean="0">
                <a:latin typeface="Calibri" panose="020F0502020204030204" pitchFamily="34" charset="0"/>
                <a:cs typeface="Calibri" panose="020F0502020204030204" pitchFamily="34" charset="0"/>
              </a:rPr>
              <a:t>read</a:t>
            </a:r>
            <a:r>
              <a:rPr lang="en-US" sz="1800" dirty="0" smtClean="0">
                <a:latin typeface="Calibri" panose="020F0502020204030204" pitchFamily="34" charset="0"/>
                <a:cs typeface="Calibri" panose="020F0502020204030204" pitchFamily="34" charset="0"/>
              </a:rPr>
              <a:t> a </a:t>
            </a:r>
            <a:r>
              <a:rPr lang="en-US" sz="1800" b="1" dirty="0" smtClean="0">
                <a:latin typeface="Calibri" panose="020F0502020204030204" pitchFamily="34" charset="0"/>
                <a:cs typeface="Calibri" panose="020F0502020204030204" pitchFamily="34" charset="0"/>
              </a:rPr>
              <a:t>database</a:t>
            </a:r>
            <a:r>
              <a:rPr lang="en-US" sz="1800" dirty="0" smtClean="0">
                <a:latin typeface="Calibri" panose="020F0502020204030204" pitchFamily="34" charset="0"/>
                <a:cs typeface="Calibri" panose="020F0502020204030204" pitchFamily="34" charset="0"/>
              </a:rPr>
              <a:t> stored </a:t>
            </a:r>
            <a:r>
              <a:rPr lang="en-US" sz="1800" dirty="0">
                <a:latin typeface="Calibri" panose="020F0502020204030204" pitchFamily="34" charset="0"/>
                <a:cs typeface="Calibri" panose="020F0502020204030204" pitchFamily="34" charset="0"/>
              </a:rPr>
              <a:t>in </a:t>
            </a:r>
            <a:r>
              <a:rPr lang="en-US" sz="1800" b="1" dirty="0">
                <a:latin typeface="Calibri" panose="020F0502020204030204" pitchFamily="34" charset="0"/>
                <a:cs typeface="Calibri" panose="020F0502020204030204" pitchFamily="34" charset="0"/>
              </a:rPr>
              <a:t>CSV</a:t>
            </a:r>
            <a:r>
              <a:rPr lang="en-US" sz="1800" dirty="0">
                <a:latin typeface="Calibri" panose="020F0502020204030204" pitchFamily="34" charset="0"/>
                <a:cs typeface="Calibri" panose="020F0502020204030204" pitchFamily="34" charset="0"/>
              </a:rPr>
              <a:t>, </a:t>
            </a:r>
            <a:r>
              <a:rPr lang="en-US" sz="1800" b="1" dirty="0">
                <a:latin typeface="Calibri" panose="020F0502020204030204" pitchFamily="34" charset="0"/>
                <a:cs typeface="Calibri" panose="020F0502020204030204" pitchFamily="34" charset="0"/>
              </a:rPr>
              <a:t>Excel</a:t>
            </a:r>
            <a:r>
              <a:rPr lang="en-US" sz="1800" dirty="0">
                <a:latin typeface="Calibri" panose="020F0502020204030204" pitchFamily="34" charset="0"/>
                <a:cs typeface="Calibri" panose="020F0502020204030204" pitchFamily="34" charset="0"/>
              </a:rPr>
              <a:t>, </a:t>
            </a:r>
            <a:r>
              <a:rPr lang="en-US" sz="1800" b="1" dirty="0">
                <a:latin typeface="Calibri" panose="020F0502020204030204" pitchFamily="34" charset="0"/>
                <a:cs typeface="Calibri" panose="020F0502020204030204" pitchFamily="34" charset="0"/>
              </a:rPr>
              <a:t>JSON</a:t>
            </a:r>
            <a:r>
              <a:rPr lang="en-US" sz="1800" dirty="0">
                <a:latin typeface="Calibri" panose="020F0502020204030204" pitchFamily="34" charset="0"/>
                <a:cs typeface="Calibri" panose="020F0502020204030204" pitchFamily="34" charset="0"/>
              </a:rPr>
              <a:t> </a:t>
            </a:r>
            <a:r>
              <a:rPr lang="en-US" sz="1800" dirty="0" smtClean="0">
                <a:latin typeface="Calibri" panose="020F0502020204030204" pitchFamily="34" charset="0"/>
                <a:cs typeface="Calibri" panose="020F0502020204030204" pitchFamily="34" charset="0"/>
              </a:rPr>
              <a:t>or </a:t>
            </a:r>
            <a:r>
              <a:rPr lang="en-US" sz="1800" b="1" dirty="0" smtClean="0">
                <a:latin typeface="Calibri" panose="020F0502020204030204" pitchFamily="34" charset="0"/>
                <a:cs typeface="Calibri" panose="020F0502020204030204" pitchFamily="34" charset="0"/>
              </a:rPr>
              <a:t>SQL</a:t>
            </a:r>
            <a:r>
              <a:rPr lang="en-US" sz="1800" dirty="0" smtClean="0">
                <a:latin typeface="Calibri" panose="020F0502020204030204" pitchFamily="34" charset="0"/>
                <a:cs typeface="Calibri" panose="020F0502020204030204" pitchFamily="34" charset="0"/>
              </a:rPr>
              <a:t> format is by using the </a:t>
            </a:r>
            <a:r>
              <a:rPr lang="en-US" sz="1800" b="1" dirty="0" smtClean="0">
                <a:latin typeface="Calibri" panose="020F0502020204030204" pitchFamily="34" charset="0"/>
                <a:cs typeface="Calibri" panose="020F0502020204030204" pitchFamily="34" charset="0"/>
              </a:rPr>
              <a:t>pandas.io</a:t>
            </a:r>
            <a:r>
              <a:rPr lang="en-US" sz="1800" dirty="0" smtClean="0">
                <a:latin typeface="Calibri" panose="020F0502020204030204" pitchFamily="34" charset="0"/>
                <a:cs typeface="Calibri" panose="020F0502020204030204" pitchFamily="34" charset="0"/>
              </a:rPr>
              <a:t> API</a:t>
            </a:r>
          </a:p>
          <a:p>
            <a:pPr lvl="1">
              <a:buSzPct val="70000"/>
            </a:pPr>
            <a:r>
              <a:rPr lang="en-US" sz="1600" dirty="0" smtClean="0">
                <a:latin typeface="Calibri" panose="020F0502020204030204" pitchFamily="34" charset="0"/>
                <a:cs typeface="Calibri" panose="020F0502020204030204" pitchFamily="34" charset="0"/>
              </a:rPr>
              <a:t>It provides mechanisms to convert the acquired database to a numeric array suitable for </a:t>
            </a:r>
            <a:r>
              <a:rPr lang="en-US" sz="1600" dirty="0" err="1" smtClean="0">
                <a:latin typeface="Calibri" panose="020F0502020204030204" pitchFamily="34" charset="0"/>
                <a:cs typeface="Calibri" panose="020F0502020204030204" pitchFamily="34" charset="0"/>
              </a:rPr>
              <a:t>scikit</a:t>
            </a:r>
            <a:r>
              <a:rPr lang="en-US" sz="1600" dirty="0" smtClean="0">
                <a:latin typeface="Calibri" panose="020F0502020204030204" pitchFamily="34" charset="0"/>
                <a:cs typeface="Calibri" panose="020F0502020204030204" pitchFamily="34" charset="0"/>
              </a:rPr>
              <a:t>-learn</a:t>
            </a:r>
          </a:p>
          <a:p>
            <a:pPr lvl="1">
              <a:buSzPct val="70000"/>
            </a:pPr>
            <a:endParaRPr lang="en-US" sz="2000" dirty="0" smtClean="0">
              <a:latin typeface="Calibri" panose="020F0502020204030204" pitchFamily="34" charset="0"/>
              <a:cs typeface="Calibri" panose="020F0502020204030204" pitchFamily="34" charset="0"/>
            </a:endParaRPr>
          </a:p>
          <a:p>
            <a:pPr>
              <a:buSzPct val="70000"/>
            </a:pPr>
            <a:r>
              <a:rPr lang="en-US" sz="1800" dirty="0" smtClean="0">
                <a:latin typeface="Calibri" panose="020F0502020204030204" pitchFamily="34" charset="0"/>
                <a:cs typeface="Calibri" panose="020F0502020204030204" pitchFamily="34" charset="0"/>
              </a:rPr>
              <a:t>To use pandas.io, it is necessary to </a:t>
            </a:r>
            <a:r>
              <a:rPr lang="en-US" sz="1800" b="1" dirty="0" smtClean="0">
                <a:latin typeface="Calibri" panose="020F0502020204030204" pitchFamily="34" charset="0"/>
                <a:cs typeface="Calibri" panose="020F0502020204030204" pitchFamily="34" charset="0"/>
              </a:rPr>
              <a:t>add</a:t>
            </a:r>
            <a:r>
              <a:rPr lang="en-US" sz="1800" dirty="0" smtClean="0">
                <a:latin typeface="Calibri" panose="020F0502020204030204" pitchFamily="34" charset="0"/>
                <a:cs typeface="Calibri" panose="020F0502020204030204" pitchFamily="34" charset="0"/>
              </a:rPr>
              <a:t> the </a:t>
            </a:r>
            <a:r>
              <a:rPr lang="en-US" sz="1800" b="1" dirty="0" smtClean="0">
                <a:latin typeface="Calibri" panose="020F0502020204030204" pitchFamily="34" charset="0"/>
                <a:cs typeface="Calibri" panose="020F0502020204030204" pitchFamily="34" charset="0"/>
              </a:rPr>
              <a:t>pandas</a:t>
            </a:r>
            <a:r>
              <a:rPr lang="en-US" sz="1800" dirty="0" smtClean="0">
                <a:latin typeface="Calibri" panose="020F0502020204030204" pitchFamily="34" charset="0"/>
                <a:cs typeface="Calibri" panose="020F0502020204030204" pitchFamily="34" charset="0"/>
              </a:rPr>
              <a:t> </a:t>
            </a:r>
            <a:r>
              <a:rPr lang="en-US" sz="1800" b="1" dirty="0" smtClean="0">
                <a:latin typeface="Calibri" panose="020F0502020204030204" pitchFamily="34" charset="0"/>
                <a:cs typeface="Calibri" panose="020F0502020204030204" pitchFamily="34" charset="0"/>
              </a:rPr>
              <a:t>package</a:t>
            </a:r>
            <a:r>
              <a:rPr lang="en-US" sz="1800" dirty="0" smtClean="0">
                <a:latin typeface="Calibri" panose="020F0502020204030204" pitchFamily="34" charset="0"/>
                <a:cs typeface="Calibri" panose="020F0502020204030204" pitchFamily="34" charset="0"/>
              </a:rPr>
              <a:t> </a:t>
            </a:r>
            <a:r>
              <a:rPr lang="en-US" sz="1800" b="1" dirty="0" smtClean="0">
                <a:latin typeface="Calibri" panose="020F0502020204030204" pitchFamily="34" charset="0"/>
                <a:cs typeface="Calibri" panose="020F0502020204030204" pitchFamily="34" charset="0"/>
              </a:rPr>
              <a:t>on</a:t>
            </a:r>
            <a:r>
              <a:rPr lang="en-US" sz="1800" dirty="0" smtClean="0">
                <a:latin typeface="Calibri" panose="020F0502020204030204" pitchFamily="34" charset="0"/>
                <a:cs typeface="Calibri" panose="020F0502020204030204" pitchFamily="34" charset="0"/>
              </a:rPr>
              <a:t> the </a:t>
            </a:r>
            <a:r>
              <a:rPr lang="en-US" sz="1800" b="1" dirty="0" smtClean="0">
                <a:latin typeface="Calibri" panose="020F0502020204030204" pitchFamily="34" charset="0"/>
                <a:cs typeface="Calibri" panose="020F0502020204030204" pitchFamily="34" charset="0"/>
              </a:rPr>
              <a:t>Project Interpreter</a:t>
            </a:r>
          </a:p>
          <a:p>
            <a:pPr>
              <a:buSzPct val="70000"/>
            </a:pPr>
            <a:endParaRPr lang="en-US" sz="1800" b="1" dirty="0">
              <a:latin typeface="Calibri" panose="020F0502020204030204" pitchFamily="34" charset="0"/>
              <a:cs typeface="Calibri" panose="020F0502020204030204" pitchFamily="34" charset="0"/>
            </a:endParaRPr>
          </a:p>
          <a:p>
            <a:pPr>
              <a:buSzPct val="70000"/>
            </a:pPr>
            <a:r>
              <a:rPr lang="en-US" sz="1800" dirty="0" smtClean="0">
                <a:latin typeface="Calibri" panose="020F0502020204030204" pitchFamily="34" charset="0"/>
                <a:cs typeface="Calibri" panose="020F0502020204030204" pitchFamily="34" charset="0"/>
              </a:rPr>
              <a:t>At this point, a CSV database can be loaded…</a:t>
            </a:r>
          </a:p>
          <a:p>
            <a:pPr lvl="1">
              <a:buSzPct val="70000"/>
            </a:pPr>
            <a:endParaRPr lang="en-US" sz="1600" dirty="0">
              <a:latin typeface="Calibri" panose="020F0502020204030204" pitchFamily="34" charset="0"/>
              <a:cs typeface="Calibri" panose="020F0502020204030204" pitchFamily="34" charset="0"/>
            </a:endParaRPr>
          </a:p>
          <a:p>
            <a:pPr>
              <a:buSzPct val="70000"/>
            </a:pPr>
            <a:endParaRPr lang="en-US" sz="2000" dirty="0" smtClean="0">
              <a:latin typeface="Calibri" panose="020F0502020204030204" pitchFamily="34" charset="0"/>
              <a:cs typeface="Calibri" panose="020F0502020204030204" pitchFamily="34" charset="0"/>
            </a:endParaRPr>
          </a:p>
        </p:txBody>
      </p:sp>
      <p:pic>
        <p:nvPicPr>
          <p:cNvPr id="7" name="Imagem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73683" y="4365104"/>
            <a:ext cx="7468642" cy="2086266"/>
          </a:xfrm>
          <a:prstGeom prst="rect">
            <a:avLst/>
          </a:prstGeom>
          <a:ln w="3175">
            <a:solidFill>
              <a:schemeClr val="tx1"/>
            </a:solidFill>
          </a:ln>
        </p:spPr>
      </p:pic>
      <p:pic>
        <p:nvPicPr>
          <p:cNvPr id="8" name="Imagem 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956376" y="6345324"/>
            <a:ext cx="801197" cy="432048"/>
          </a:xfrm>
          <a:prstGeom prst="rect">
            <a:avLst/>
          </a:prstGeom>
        </p:spPr>
      </p:pic>
    </p:spTree>
    <p:extLst>
      <p:ext uri="{BB962C8B-B14F-4D97-AF65-F5344CB8AC3E}">
        <p14:creationId xmlns:p14="http://schemas.microsoft.com/office/powerpoint/2010/main" val="164605666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Posição do Número do Diapositivo 2"/>
          <p:cNvSpPr>
            <a:spLocks noGrp="1"/>
          </p:cNvSpPr>
          <p:nvPr>
            <p:ph type="sldNum" sz="quarter" idx="11"/>
          </p:nvPr>
        </p:nvSpPr>
        <p:spPr/>
        <p:txBody>
          <a:bodyPr/>
          <a:lstStyle/>
          <a:p>
            <a:pPr algn="r"/>
            <a:fld id="{D4C49B74-5DB2-4B03-B1D2-7F6A3C51C318}" type="slidenum">
              <a:rPr lang="pt-PT" smtClean="0"/>
              <a:pPr algn="r"/>
              <a:t>6</a:t>
            </a:fld>
            <a:endParaRPr lang="pt-PT" dirty="0"/>
          </a:p>
        </p:txBody>
      </p:sp>
      <p:sp>
        <p:nvSpPr>
          <p:cNvPr id="5" name="Title 3"/>
          <p:cNvSpPr>
            <a:spLocks noGrp="1"/>
          </p:cNvSpPr>
          <p:nvPr>
            <p:ph type="title"/>
          </p:nvPr>
        </p:nvSpPr>
        <p:spPr>
          <a:xfrm>
            <a:off x="2483768" y="1"/>
            <a:ext cx="4680520" cy="908719"/>
          </a:xfrm>
        </p:spPr>
        <p:txBody>
          <a:bodyPr/>
          <a:lstStyle/>
          <a:p>
            <a:pPr algn="ctr"/>
            <a:r>
              <a:rPr lang="en-US" b="1" dirty="0" smtClean="0">
                <a:latin typeface="Calibri" panose="020F0502020204030204" pitchFamily="34" charset="0"/>
                <a:cs typeface="Calibri" panose="020F0502020204030204" pitchFamily="34" charset="0"/>
              </a:rPr>
              <a:t>Building a SVM Classifier</a:t>
            </a:r>
            <a:br>
              <a:rPr lang="en-US" b="1" dirty="0" smtClean="0">
                <a:latin typeface="Calibri" panose="020F0502020204030204" pitchFamily="34" charset="0"/>
                <a:cs typeface="Calibri" panose="020F0502020204030204" pitchFamily="34" charset="0"/>
              </a:rPr>
            </a:br>
            <a:r>
              <a:rPr lang="en-US" sz="2000" b="1" dirty="0" smtClean="0">
                <a:latin typeface="Calibri" panose="020F0502020204030204" pitchFamily="34" charset="0"/>
                <a:cs typeface="Calibri" panose="020F0502020204030204" pitchFamily="34" charset="0"/>
              </a:rPr>
              <a:t>Splitting the dataset</a:t>
            </a:r>
            <a:endParaRPr lang="en-US" b="1" dirty="0">
              <a:latin typeface="Calibri" panose="020F0502020204030204" pitchFamily="34" charset="0"/>
              <a:cs typeface="Calibri" panose="020F0502020204030204" pitchFamily="34" charset="0"/>
            </a:endParaRPr>
          </a:p>
        </p:txBody>
      </p:sp>
      <p:sp>
        <p:nvSpPr>
          <p:cNvPr id="6" name="Text Placeholder 1"/>
          <p:cNvSpPr>
            <a:spLocks noGrp="1"/>
          </p:cNvSpPr>
          <p:nvPr>
            <p:ph type="body" idx="1"/>
          </p:nvPr>
        </p:nvSpPr>
        <p:spPr>
          <a:xfrm>
            <a:off x="323528" y="1700808"/>
            <a:ext cx="8568952" cy="2736304"/>
          </a:xfrm>
        </p:spPr>
        <p:txBody>
          <a:bodyPr>
            <a:normAutofit/>
          </a:bodyPr>
          <a:lstStyle/>
          <a:p>
            <a:pPr>
              <a:buSzPct val="70000"/>
            </a:pPr>
            <a:r>
              <a:rPr lang="en-US" sz="1800" dirty="0" smtClean="0">
                <a:latin typeface="Calibri" panose="020F0502020204030204" pitchFamily="34" charset="0"/>
                <a:cs typeface="Calibri" panose="020F0502020204030204" pitchFamily="34" charset="0"/>
              </a:rPr>
              <a:t>To test the model with data the model has not seen before, it is fundamental to divide the dataset into two subsets: (</a:t>
            </a:r>
            <a:r>
              <a:rPr lang="en-US" sz="1800" dirty="0" err="1" smtClean="0">
                <a:latin typeface="Calibri" panose="020F0502020204030204" pitchFamily="34" charset="0"/>
                <a:cs typeface="Calibri" panose="020F0502020204030204" pitchFamily="34" charset="0"/>
              </a:rPr>
              <a:t>i</a:t>
            </a:r>
            <a:r>
              <a:rPr lang="en-US" sz="1800" dirty="0" smtClean="0">
                <a:latin typeface="Calibri" panose="020F0502020204030204" pitchFamily="34" charset="0"/>
                <a:cs typeface="Calibri" panose="020F0502020204030204" pitchFamily="34" charset="0"/>
              </a:rPr>
              <a:t>) one for training (60%) and (ii) another for testing (40%).</a:t>
            </a:r>
          </a:p>
          <a:p>
            <a:pPr>
              <a:buSzPct val="70000"/>
            </a:pPr>
            <a:endParaRPr lang="en-US" sz="1800" dirty="0">
              <a:latin typeface="Calibri" panose="020F0502020204030204" pitchFamily="34" charset="0"/>
              <a:cs typeface="Calibri" panose="020F0502020204030204" pitchFamily="34" charset="0"/>
            </a:endParaRPr>
          </a:p>
          <a:p>
            <a:pPr>
              <a:buSzPct val="70000"/>
            </a:pPr>
            <a:r>
              <a:rPr lang="en-US" sz="1800" dirty="0" smtClean="0">
                <a:latin typeface="Calibri" panose="020F0502020204030204" pitchFamily="34" charset="0"/>
                <a:cs typeface="Calibri" panose="020F0502020204030204" pitchFamily="34" charset="0"/>
              </a:rPr>
              <a:t>The dataset must be shuffled before </a:t>
            </a:r>
            <a:r>
              <a:rPr lang="en-US" sz="1800" dirty="0">
                <a:latin typeface="Calibri" panose="020F0502020204030204" pitchFamily="34" charset="0"/>
                <a:cs typeface="Calibri" panose="020F0502020204030204" pitchFamily="34" charset="0"/>
              </a:rPr>
              <a:t>being </a:t>
            </a:r>
            <a:r>
              <a:rPr lang="en-US" sz="1800" dirty="0" smtClean="0">
                <a:latin typeface="Calibri" panose="020F0502020204030204" pitchFamily="34" charset="0"/>
                <a:cs typeface="Calibri" panose="020F0502020204030204" pitchFamily="34" charset="0"/>
              </a:rPr>
              <a:t>splitted, in order to avoid any correlation between consequent samples.</a:t>
            </a:r>
          </a:p>
          <a:p>
            <a:pPr>
              <a:buSzPct val="70000"/>
            </a:pPr>
            <a:endParaRPr lang="en-US" sz="1800" dirty="0">
              <a:latin typeface="Calibri" panose="020F0502020204030204" pitchFamily="34" charset="0"/>
              <a:cs typeface="Calibri" panose="020F0502020204030204" pitchFamily="34" charset="0"/>
            </a:endParaRPr>
          </a:p>
          <a:p>
            <a:pPr>
              <a:buSzPct val="70000"/>
            </a:pPr>
            <a:r>
              <a:rPr lang="en-US" sz="1800" dirty="0" smtClean="0">
                <a:latin typeface="Calibri" panose="020F0502020204030204" pitchFamily="34" charset="0"/>
                <a:cs typeface="Calibri" panose="020F0502020204030204" pitchFamily="34" charset="0"/>
              </a:rPr>
              <a:t>It must be ensured that the training subset remains balanced, i.e., all classes are represented by the same number of samples.</a:t>
            </a:r>
          </a:p>
        </p:txBody>
      </p:sp>
      <p:pic>
        <p:nvPicPr>
          <p:cNvPr id="9" name="Imagem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956376" y="6345324"/>
            <a:ext cx="801197" cy="432048"/>
          </a:xfrm>
          <a:prstGeom prst="rect">
            <a:avLst/>
          </a:prstGeom>
        </p:spPr>
      </p:pic>
      <p:pic>
        <p:nvPicPr>
          <p:cNvPr id="15" name="Imagem 1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743833" y="4618603"/>
            <a:ext cx="3728342" cy="1221194"/>
          </a:xfrm>
          <a:prstGeom prst="rect">
            <a:avLst/>
          </a:prstGeom>
        </p:spPr>
      </p:pic>
    </p:spTree>
    <p:extLst>
      <p:ext uri="{BB962C8B-B14F-4D97-AF65-F5344CB8AC3E}">
        <p14:creationId xmlns:p14="http://schemas.microsoft.com/office/powerpoint/2010/main" val="56026061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Posição do Número do Diapositivo 2"/>
          <p:cNvSpPr>
            <a:spLocks noGrp="1"/>
          </p:cNvSpPr>
          <p:nvPr>
            <p:ph type="sldNum" sz="quarter" idx="11"/>
          </p:nvPr>
        </p:nvSpPr>
        <p:spPr/>
        <p:txBody>
          <a:bodyPr/>
          <a:lstStyle/>
          <a:p>
            <a:pPr algn="r"/>
            <a:fld id="{D4C49B74-5DB2-4B03-B1D2-7F6A3C51C318}" type="slidenum">
              <a:rPr lang="pt-PT" smtClean="0"/>
              <a:pPr algn="r"/>
              <a:t>7</a:t>
            </a:fld>
            <a:endParaRPr lang="pt-PT" dirty="0"/>
          </a:p>
        </p:txBody>
      </p:sp>
      <p:sp>
        <p:nvSpPr>
          <p:cNvPr id="5" name="Title 3"/>
          <p:cNvSpPr>
            <a:spLocks noGrp="1"/>
          </p:cNvSpPr>
          <p:nvPr>
            <p:ph type="title"/>
          </p:nvPr>
        </p:nvSpPr>
        <p:spPr>
          <a:xfrm>
            <a:off x="2483768" y="1"/>
            <a:ext cx="4680520" cy="908719"/>
          </a:xfrm>
        </p:spPr>
        <p:txBody>
          <a:bodyPr/>
          <a:lstStyle/>
          <a:p>
            <a:pPr algn="ctr"/>
            <a:r>
              <a:rPr lang="en-US" b="1" dirty="0" smtClean="0">
                <a:latin typeface="Calibri" panose="020F0502020204030204" pitchFamily="34" charset="0"/>
                <a:cs typeface="Calibri" panose="020F0502020204030204" pitchFamily="34" charset="0"/>
              </a:rPr>
              <a:t>Building a SVM Classifier</a:t>
            </a:r>
            <a:br>
              <a:rPr lang="en-US" b="1" dirty="0" smtClean="0">
                <a:latin typeface="Calibri" panose="020F0502020204030204" pitchFamily="34" charset="0"/>
                <a:cs typeface="Calibri" panose="020F0502020204030204" pitchFamily="34" charset="0"/>
              </a:rPr>
            </a:br>
            <a:r>
              <a:rPr lang="en-US" sz="2000" b="1" dirty="0" smtClean="0">
                <a:latin typeface="Calibri" panose="020F0502020204030204" pitchFamily="34" charset="0"/>
                <a:cs typeface="Calibri" panose="020F0502020204030204" pitchFamily="34" charset="0"/>
              </a:rPr>
              <a:t>Splitting the dataset</a:t>
            </a:r>
            <a:endParaRPr lang="en-US" b="1" dirty="0">
              <a:latin typeface="Calibri" panose="020F0502020204030204" pitchFamily="34" charset="0"/>
              <a:cs typeface="Calibri" panose="020F0502020204030204" pitchFamily="34" charset="0"/>
            </a:endParaRPr>
          </a:p>
        </p:txBody>
      </p:sp>
      <p:sp>
        <p:nvSpPr>
          <p:cNvPr id="6" name="Text Placeholder 1"/>
          <p:cNvSpPr>
            <a:spLocks noGrp="1"/>
          </p:cNvSpPr>
          <p:nvPr>
            <p:ph type="body" idx="1"/>
          </p:nvPr>
        </p:nvSpPr>
        <p:spPr>
          <a:xfrm>
            <a:off x="323528" y="1268760"/>
            <a:ext cx="8712968" cy="900100"/>
          </a:xfrm>
        </p:spPr>
        <p:txBody>
          <a:bodyPr>
            <a:normAutofit/>
          </a:bodyPr>
          <a:lstStyle/>
          <a:p>
            <a:pPr>
              <a:buSzPct val="70000"/>
            </a:pPr>
            <a:r>
              <a:rPr lang="en-US" sz="1800" dirty="0" smtClean="0">
                <a:latin typeface="Calibri" panose="020F0502020204030204" pitchFamily="34" charset="0"/>
                <a:cs typeface="Calibri" panose="020F0502020204030204" pitchFamily="34" charset="0"/>
              </a:rPr>
              <a:t>The dataset splitting is performed by the “</a:t>
            </a:r>
            <a:r>
              <a:rPr lang="en-US" sz="1800" dirty="0" err="1" smtClean="0">
                <a:latin typeface="Calibri" panose="020F0502020204030204" pitchFamily="34" charset="0"/>
                <a:cs typeface="Calibri" panose="020F0502020204030204" pitchFamily="34" charset="0"/>
              </a:rPr>
              <a:t>train_test_split</a:t>
            </a:r>
            <a:r>
              <a:rPr lang="en-US" sz="1800" dirty="0" smtClean="0">
                <a:latin typeface="Calibri" panose="020F0502020204030204" pitchFamily="34" charset="0"/>
                <a:cs typeface="Calibri" panose="020F0502020204030204" pitchFamily="34" charset="0"/>
              </a:rPr>
              <a:t>” function, provided by the </a:t>
            </a:r>
            <a:r>
              <a:rPr lang="en-US" sz="1800" dirty="0" err="1" smtClean="0">
                <a:latin typeface="Calibri" panose="020F0502020204030204" pitchFamily="34" charset="0"/>
                <a:cs typeface="Calibri" panose="020F0502020204030204" pitchFamily="34" charset="0"/>
              </a:rPr>
              <a:t>scikit</a:t>
            </a:r>
            <a:r>
              <a:rPr lang="en-US" sz="1800" dirty="0" smtClean="0">
                <a:latin typeface="Calibri" panose="020F0502020204030204" pitchFamily="34" charset="0"/>
                <a:cs typeface="Calibri" panose="020F0502020204030204" pitchFamily="34" charset="0"/>
              </a:rPr>
              <a:t>-learn module “</a:t>
            </a:r>
            <a:r>
              <a:rPr lang="en-US" sz="1800" dirty="0" err="1" smtClean="0">
                <a:latin typeface="Calibri" panose="020F0502020204030204" pitchFamily="34" charset="0"/>
                <a:cs typeface="Calibri" panose="020F0502020204030204" pitchFamily="34" charset="0"/>
              </a:rPr>
              <a:t>model_selection</a:t>
            </a:r>
            <a:r>
              <a:rPr lang="en-US" sz="1800" dirty="0" smtClean="0">
                <a:latin typeface="Calibri" panose="020F0502020204030204" pitchFamily="34" charset="0"/>
                <a:cs typeface="Calibri" panose="020F0502020204030204" pitchFamily="34" charset="0"/>
              </a:rPr>
              <a:t>”.</a:t>
            </a:r>
          </a:p>
          <a:p>
            <a:pPr lvl="1">
              <a:buSzPct val="70000"/>
            </a:pPr>
            <a:r>
              <a:rPr lang="en-US" sz="1600" dirty="0" smtClean="0">
                <a:latin typeface="Calibri" panose="020F0502020204030204" pitchFamily="34" charset="0"/>
                <a:cs typeface="Calibri" panose="020F0502020204030204" pitchFamily="34" charset="0"/>
              </a:rPr>
              <a:t>These are the parameters to be configured</a:t>
            </a:r>
            <a:r>
              <a:rPr lang="en-US" sz="1200" dirty="0" smtClean="0">
                <a:latin typeface="Calibri" panose="020F0502020204030204" pitchFamily="34" charset="0"/>
                <a:cs typeface="Calibri" panose="020F0502020204030204" pitchFamily="34" charset="0"/>
              </a:rPr>
              <a:t>:</a:t>
            </a:r>
            <a:endParaRPr lang="en-US" sz="1200" dirty="0">
              <a:latin typeface="Calibri" panose="020F0502020204030204" pitchFamily="34" charset="0"/>
              <a:cs typeface="Calibri" panose="020F0502020204030204" pitchFamily="34" charset="0"/>
            </a:endParaRPr>
          </a:p>
        </p:txBody>
      </p:sp>
      <p:graphicFrame>
        <p:nvGraphicFramePr>
          <p:cNvPr id="7" name="Tabela 6"/>
          <p:cNvGraphicFramePr>
            <a:graphicFrameLocks noGrp="1"/>
          </p:cNvGraphicFramePr>
          <p:nvPr>
            <p:extLst>
              <p:ext uri="{D42A27DB-BD31-4B8C-83A1-F6EECF244321}">
                <p14:modId xmlns:p14="http://schemas.microsoft.com/office/powerpoint/2010/main" val="663565358"/>
              </p:ext>
            </p:extLst>
          </p:nvPr>
        </p:nvGraphicFramePr>
        <p:xfrm>
          <a:off x="863587" y="2276872"/>
          <a:ext cx="7920880" cy="2072640"/>
        </p:xfrm>
        <a:graphic>
          <a:graphicData uri="http://schemas.openxmlformats.org/drawingml/2006/table">
            <a:tbl>
              <a:tblPr firstRow="1" bandRow="1"/>
              <a:tblGrid>
                <a:gridCol w="1368152">
                  <a:extLst>
                    <a:ext uri="{9D8B030D-6E8A-4147-A177-3AD203B41FA5}">
                      <a16:colId xmlns:a16="http://schemas.microsoft.com/office/drawing/2014/main" val="4233559361"/>
                    </a:ext>
                  </a:extLst>
                </a:gridCol>
                <a:gridCol w="6552728">
                  <a:extLst>
                    <a:ext uri="{9D8B030D-6E8A-4147-A177-3AD203B41FA5}">
                      <a16:colId xmlns:a16="http://schemas.microsoft.com/office/drawing/2014/main" val="2305120250"/>
                    </a:ext>
                  </a:extLst>
                </a:gridCol>
              </a:tblGrid>
              <a:tr h="0">
                <a:tc>
                  <a:txBody>
                    <a:bodyPr/>
                    <a:lstStyle/>
                    <a:p>
                      <a:pPr algn="ctr"/>
                      <a:r>
                        <a:rPr lang="en-US" sz="1600" b="1" noProof="0" dirty="0" smtClean="0">
                          <a:latin typeface="Calibri" panose="020F0502020204030204" pitchFamily="34" charset="0"/>
                          <a:cs typeface="Calibri" panose="020F0502020204030204" pitchFamily="34" charset="0"/>
                        </a:rPr>
                        <a:t>Parameter</a:t>
                      </a:r>
                      <a:endParaRPr lang="en-US" sz="1600" b="1" noProof="0" dirty="0">
                        <a:latin typeface="Calibri" panose="020F0502020204030204" pitchFamily="34" charset="0"/>
                        <a:cs typeface="Calibri" panose="020F0502020204030204" pitchFamily="34" charset="0"/>
                      </a:endParaRPr>
                    </a:p>
                  </a:txBody>
                  <a:tcPr/>
                </a:tc>
                <a:tc>
                  <a:txBody>
                    <a:bodyPr/>
                    <a:lstStyle/>
                    <a:p>
                      <a:pPr algn="ctr"/>
                      <a:r>
                        <a:rPr lang="en-US" sz="1600" b="1" noProof="0" dirty="0" smtClean="0">
                          <a:latin typeface="Calibri" panose="020F0502020204030204" pitchFamily="34" charset="0"/>
                          <a:cs typeface="Calibri" panose="020F0502020204030204" pitchFamily="34" charset="0"/>
                        </a:rPr>
                        <a:t>Description</a:t>
                      </a:r>
                      <a:endParaRPr lang="en-US" sz="1600" b="1" noProof="0" dirty="0">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870273844"/>
                  </a:ext>
                </a:extLst>
              </a:tr>
              <a:tr h="0">
                <a:tc>
                  <a:txBody>
                    <a:bodyPr/>
                    <a:lstStyle/>
                    <a:p>
                      <a:r>
                        <a:rPr lang="pt-PT" sz="1300" i="1" dirty="0" err="1" smtClean="0">
                          <a:latin typeface="Calibri" panose="020F0502020204030204" pitchFamily="34" charset="0"/>
                          <a:cs typeface="Calibri" panose="020F0502020204030204" pitchFamily="34" charset="0"/>
                        </a:rPr>
                        <a:t>arrays</a:t>
                      </a:r>
                      <a:endParaRPr lang="pt-PT" sz="1300" i="1" dirty="0">
                        <a:latin typeface="Calibri" panose="020F0502020204030204" pitchFamily="34" charset="0"/>
                        <a:cs typeface="Calibri" panose="020F0502020204030204" pitchFamily="34" charset="0"/>
                      </a:endParaRPr>
                    </a:p>
                  </a:txBody>
                  <a:tcPr/>
                </a:tc>
                <a:tc>
                  <a:txBody>
                    <a:bodyPr/>
                    <a:lstStyle/>
                    <a:p>
                      <a:r>
                        <a:rPr lang="en-US" sz="1300" dirty="0" smtClean="0">
                          <a:latin typeface="Calibri" panose="020F0502020204030204" pitchFamily="34" charset="0"/>
                          <a:cs typeface="Calibri" panose="020F0502020204030204" pitchFamily="34" charset="0"/>
                        </a:rPr>
                        <a:t>Allowed inputs are lists, </a:t>
                      </a:r>
                      <a:r>
                        <a:rPr lang="en-US" sz="1300" dirty="0" err="1" smtClean="0">
                          <a:latin typeface="Calibri" panose="020F0502020204030204" pitchFamily="34" charset="0"/>
                          <a:cs typeface="Calibri" panose="020F0502020204030204" pitchFamily="34" charset="0"/>
                        </a:rPr>
                        <a:t>numpy</a:t>
                      </a:r>
                      <a:r>
                        <a:rPr lang="en-US" sz="1300" dirty="0" smtClean="0">
                          <a:latin typeface="Calibri" panose="020F0502020204030204" pitchFamily="34" charset="0"/>
                          <a:cs typeface="Calibri" panose="020F0502020204030204" pitchFamily="34" charset="0"/>
                        </a:rPr>
                        <a:t> arrays, </a:t>
                      </a:r>
                      <a:r>
                        <a:rPr lang="en-US" sz="1300" dirty="0" err="1" smtClean="0">
                          <a:latin typeface="Calibri" panose="020F0502020204030204" pitchFamily="34" charset="0"/>
                          <a:cs typeface="Calibri" panose="020F0502020204030204" pitchFamily="34" charset="0"/>
                        </a:rPr>
                        <a:t>scipy</a:t>
                      </a:r>
                      <a:r>
                        <a:rPr lang="en-US" sz="1300" dirty="0" smtClean="0">
                          <a:latin typeface="Calibri" panose="020F0502020204030204" pitchFamily="34" charset="0"/>
                          <a:cs typeface="Calibri" panose="020F0502020204030204" pitchFamily="34" charset="0"/>
                        </a:rPr>
                        <a:t>-sparse matrices or pandas</a:t>
                      </a:r>
                      <a:r>
                        <a:rPr lang="en-US" sz="1300" baseline="0" dirty="0" smtClean="0">
                          <a:latin typeface="Calibri" panose="020F0502020204030204" pitchFamily="34" charset="0"/>
                          <a:cs typeface="Calibri" panose="020F0502020204030204" pitchFamily="34" charset="0"/>
                        </a:rPr>
                        <a:t> </a:t>
                      </a:r>
                      <a:r>
                        <a:rPr lang="en-US" sz="1300" dirty="0" err="1" smtClean="0">
                          <a:latin typeface="Calibri" panose="020F0502020204030204" pitchFamily="34" charset="0"/>
                          <a:cs typeface="Calibri" panose="020F0502020204030204" pitchFamily="34" charset="0"/>
                        </a:rPr>
                        <a:t>dataframes</a:t>
                      </a:r>
                      <a:endParaRPr lang="pt-PT" sz="1300" dirty="0">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3439358120"/>
                  </a:ext>
                </a:extLst>
              </a:tr>
              <a:tr h="0">
                <a:tc>
                  <a:txBody>
                    <a:bodyPr/>
                    <a:lstStyle/>
                    <a:p>
                      <a:r>
                        <a:rPr lang="pt-PT" sz="1300" i="1" dirty="0" err="1" smtClean="0">
                          <a:latin typeface="Calibri" panose="020F0502020204030204" pitchFamily="34" charset="0"/>
                          <a:cs typeface="Calibri" panose="020F0502020204030204" pitchFamily="34" charset="0"/>
                        </a:rPr>
                        <a:t>test_size</a:t>
                      </a:r>
                      <a:endParaRPr lang="pt-PT" sz="1300" i="1" dirty="0">
                        <a:latin typeface="Calibri" panose="020F0502020204030204" pitchFamily="34" charset="0"/>
                        <a:cs typeface="Calibri" panose="020F0502020204030204" pitchFamily="34" charset="0"/>
                      </a:endParaRPr>
                    </a:p>
                  </a:txBody>
                  <a:tcPr/>
                </a:tc>
                <a:tc>
                  <a:txBody>
                    <a:bodyPr/>
                    <a:lstStyle/>
                    <a:p>
                      <a:r>
                        <a:rPr lang="en-US" sz="1300" dirty="0" smtClean="0">
                          <a:latin typeface="Calibri" panose="020F0502020204030204" pitchFamily="34" charset="0"/>
                          <a:cs typeface="Calibri" panose="020F0502020204030204" pitchFamily="34" charset="0"/>
                        </a:rPr>
                        <a:t>Proportion of the dataset to include in the test split</a:t>
                      </a:r>
                      <a:endParaRPr lang="pt-PT" sz="1300" dirty="0">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3327853628"/>
                  </a:ext>
                </a:extLst>
              </a:tr>
              <a:tr h="0">
                <a:tc>
                  <a:txBody>
                    <a:bodyPr/>
                    <a:lstStyle/>
                    <a:p>
                      <a:r>
                        <a:rPr lang="pt-PT" sz="1300" i="1" dirty="0" err="1" smtClean="0">
                          <a:latin typeface="Calibri" panose="020F0502020204030204" pitchFamily="34" charset="0"/>
                          <a:cs typeface="Calibri" panose="020F0502020204030204" pitchFamily="34" charset="0"/>
                        </a:rPr>
                        <a:t>train_size</a:t>
                      </a:r>
                      <a:endParaRPr lang="pt-PT" sz="1300" i="1" dirty="0">
                        <a:latin typeface="Calibri" panose="020F0502020204030204" pitchFamily="34" charset="0"/>
                        <a:cs typeface="Calibri" panose="020F0502020204030204" pitchFamily="34" charset="0"/>
                      </a:endParaRPr>
                    </a:p>
                  </a:txBody>
                  <a:tcPr/>
                </a:tc>
                <a:tc>
                  <a:txBody>
                    <a:bodyPr/>
                    <a:lstStyle/>
                    <a:p>
                      <a:r>
                        <a:rPr lang="en-US" sz="1300" dirty="0" smtClean="0">
                          <a:latin typeface="Calibri" panose="020F0502020204030204" pitchFamily="34" charset="0"/>
                          <a:cs typeface="Calibri" panose="020F0502020204030204" pitchFamily="34" charset="0"/>
                        </a:rPr>
                        <a:t>Proportion of the dataset to include in the train split</a:t>
                      </a:r>
                      <a:endParaRPr lang="pt-PT" sz="1300" dirty="0">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2064454494"/>
                  </a:ext>
                </a:extLst>
              </a:tr>
              <a:tr h="0">
                <a:tc>
                  <a:txBody>
                    <a:bodyPr/>
                    <a:lstStyle/>
                    <a:p>
                      <a:r>
                        <a:rPr lang="pt-PT" sz="1300" i="1" dirty="0" err="1" smtClean="0">
                          <a:latin typeface="Calibri" panose="020F0502020204030204" pitchFamily="34" charset="0"/>
                          <a:cs typeface="Calibri" panose="020F0502020204030204" pitchFamily="34" charset="0"/>
                        </a:rPr>
                        <a:t>random_state</a:t>
                      </a:r>
                      <a:endParaRPr lang="pt-PT" sz="1300" i="1" dirty="0">
                        <a:latin typeface="Calibri" panose="020F0502020204030204" pitchFamily="34" charset="0"/>
                        <a:cs typeface="Calibri" panose="020F0502020204030204" pitchFamily="34" charset="0"/>
                      </a:endParaRPr>
                    </a:p>
                  </a:txBody>
                  <a:tcPr/>
                </a:tc>
                <a:tc>
                  <a:txBody>
                    <a:bodyPr/>
                    <a:lstStyle/>
                    <a:p>
                      <a:r>
                        <a:rPr lang="en-US" sz="1300" dirty="0" smtClean="0">
                          <a:latin typeface="Calibri" panose="020F0502020204030204" pitchFamily="34" charset="0"/>
                          <a:cs typeface="Calibri" panose="020F0502020204030204" pitchFamily="34" charset="0"/>
                        </a:rPr>
                        <a:t>Seed used by the random number generator for splitting the dataset</a:t>
                      </a:r>
                      <a:endParaRPr lang="pt-PT" sz="1300" dirty="0">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3912470233"/>
                  </a:ext>
                </a:extLst>
              </a:tr>
              <a:tr h="0">
                <a:tc>
                  <a:txBody>
                    <a:bodyPr/>
                    <a:lstStyle/>
                    <a:p>
                      <a:r>
                        <a:rPr lang="pt-PT" sz="1300" i="1" dirty="0" err="1" smtClean="0">
                          <a:latin typeface="Calibri" panose="020F0502020204030204" pitchFamily="34" charset="0"/>
                          <a:cs typeface="Calibri" panose="020F0502020204030204" pitchFamily="34" charset="0"/>
                        </a:rPr>
                        <a:t>shuffle</a:t>
                      </a:r>
                      <a:endParaRPr lang="pt-PT" sz="1300" i="1" dirty="0">
                        <a:latin typeface="Calibri" panose="020F0502020204030204" pitchFamily="34" charset="0"/>
                        <a:cs typeface="Calibri" panose="020F0502020204030204" pitchFamily="34" charset="0"/>
                      </a:endParaRPr>
                    </a:p>
                  </a:txBody>
                  <a:tcPr/>
                </a:tc>
                <a:tc>
                  <a:txBody>
                    <a:bodyPr/>
                    <a:lstStyle/>
                    <a:p>
                      <a:r>
                        <a:rPr lang="en-US" sz="1300" dirty="0" smtClean="0">
                          <a:latin typeface="Calibri" panose="020F0502020204030204" pitchFamily="34" charset="0"/>
                          <a:cs typeface="Calibri" panose="020F0502020204030204" pitchFamily="34" charset="0"/>
                        </a:rPr>
                        <a:t>Whether or not to shuffle the data before splitting</a:t>
                      </a:r>
                      <a:endParaRPr lang="pt-PT" sz="1300" dirty="0">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3112605200"/>
                  </a:ext>
                </a:extLst>
              </a:tr>
              <a:tr h="0">
                <a:tc>
                  <a:txBody>
                    <a:bodyPr/>
                    <a:lstStyle/>
                    <a:p>
                      <a:r>
                        <a:rPr lang="pt-PT" sz="1300" i="1" dirty="0" err="1" smtClean="0">
                          <a:latin typeface="Calibri" panose="020F0502020204030204" pitchFamily="34" charset="0"/>
                          <a:cs typeface="Calibri" panose="020F0502020204030204" pitchFamily="34" charset="0"/>
                        </a:rPr>
                        <a:t>stratify</a:t>
                      </a:r>
                      <a:endParaRPr lang="pt-PT" sz="1300" i="1" dirty="0">
                        <a:latin typeface="Calibri" panose="020F0502020204030204" pitchFamily="34" charset="0"/>
                        <a:cs typeface="Calibri" panose="020F0502020204030204" pitchFamily="34" charset="0"/>
                      </a:endParaRPr>
                    </a:p>
                  </a:txBody>
                  <a:tcPr/>
                </a:tc>
                <a:tc>
                  <a:txBody>
                    <a:bodyPr/>
                    <a:lstStyle/>
                    <a:p>
                      <a:r>
                        <a:rPr lang="en-US" sz="1300" dirty="0" smtClean="0">
                          <a:latin typeface="Calibri" panose="020F0502020204030204" pitchFamily="34" charset="0"/>
                          <a:cs typeface="Calibri" panose="020F0502020204030204" pitchFamily="34" charset="0"/>
                        </a:rPr>
                        <a:t>If not None, data is split in a stratified fashion, using this as the class labels</a:t>
                      </a:r>
                      <a:endParaRPr lang="pt-PT" sz="1300" dirty="0">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3924791501"/>
                  </a:ext>
                </a:extLst>
              </a:tr>
            </a:tbl>
          </a:graphicData>
        </a:graphic>
      </p:graphicFrame>
      <p:pic>
        <p:nvPicPr>
          <p:cNvPr id="9" name="Imagem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956376" y="6345324"/>
            <a:ext cx="801197" cy="432048"/>
          </a:xfrm>
          <a:prstGeom prst="rect">
            <a:avLst/>
          </a:prstGeom>
        </p:spPr>
      </p:pic>
      <p:pic>
        <p:nvPicPr>
          <p:cNvPr id="4" name="Imagem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63587" y="4537680"/>
            <a:ext cx="7897327" cy="1619476"/>
          </a:xfrm>
          <a:prstGeom prst="rect">
            <a:avLst/>
          </a:prstGeom>
          <a:ln w="3175">
            <a:solidFill>
              <a:schemeClr val="tx1"/>
            </a:solidFill>
          </a:ln>
        </p:spPr>
      </p:pic>
    </p:spTree>
    <p:extLst>
      <p:ext uri="{BB962C8B-B14F-4D97-AF65-F5344CB8AC3E}">
        <p14:creationId xmlns:p14="http://schemas.microsoft.com/office/powerpoint/2010/main" val="172578913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Posição do Número do Diapositivo 2"/>
          <p:cNvSpPr>
            <a:spLocks noGrp="1"/>
          </p:cNvSpPr>
          <p:nvPr>
            <p:ph type="sldNum" sz="quarter" idx="11"/>
          </p:nvPr>
        </p:nvSpPr>
        <p:spPr/>
        <p:txBody>
          <a:bodyPr/>
          <a:lstStyle/>
          <a:p>
            <a:pPr algn="r"/>
            <a:fld id="{D4C49B74-5DB2-4B03-B1D2-7F6A3C51C318}" type="slidenum">
              <a:rPr lang="pt-PT" smtClean="0"/>
              <a:pPr algn="r"/>
              <a:t>8</a:t>
            </a:fld>
            <a:endParaRPr lang="pt-PT" dirty="0"/>
          </a:p>
        </p:txBody>
      </p:sp>
      <p:sp>
        <p:nvSpPr>
          <p:cNvPr id="5" name="Title 3"/>
          <p:cNvSpPr>
            <a:spLocks noGrp="1"/>
          </p:cNvSpPr>
          <p:nvPr>
            <p:ph type="title"/>
          </p:nvPr>
        </p:nvSpPr>
        <p:spPr>
          <a:xfrm>
            <a:off x="2483768" y="1"/>
            <a:ext cx="4680520" cy="908719"/>
          </a:xfrm>
        </p:spPr>
        <p:txBody>
          <a:bodyPr/>
          <a:lstStyle/>
          <a:p>
            <a:pPr algn="ctr"/>
            <a:r>
              <a:rPr lang="en-US" b="1" dirty="0" smtClean="0">
                <a:latin typeface="Calibri" panose="020F0502020204030204" pitchFamily="34" charset="0"/>
                <a:cs typeface="Calibri" panose="020F0502020204030204" pitchFamily="34" charset="0"/>
              </a:rPr>
              <a:t>Building a SVM Classifier</a:t>
            </a:r>
            <a:br>
              <a:rPr lang="en-US" b="1" dirty="0" smtClean="0">
                <a:latin typeface="Calibri" panose="020F0502020204030204" pitchFamily="34" charset="0"/>
                <a:cs typeface="Calibri" panose="020F0502020204030204" pitchFamily="34" charset="0"/>
              </a:rPr>
            </a:br>
            <a:r>
              <a:rPr lang="en-US" sz="2000" b="1" dirty="0" smtClean="0">
                <a:latin typeface="Calibri" panose="020F0502020204030204" pitchFamily="34" charset="0"/>
                <a:cs typeface="Calibri" panose="020F0502020204030204" pitchFamily="34" charset="0"/>
              </a:rPr>
              <a:t>Dataset Normalization</a:t>
            </a:r>
            <a:endParaRPr lang="en-US" b="1" dirty="0">
              <a:latin typeface="Calibri" panose="020F0502020204030204" pitchFamily="34" charset="0"/>
              <a:cs typeface="Calibri" panose="020F0502020204030204" pitchFamily="34" charset="0"/>
            </a:endParaRPr>
          </a:p>
        </p:txBody>
      </p:sp>
      <p:sp>
        <p:nvSpPr>
          <p:cNvPr id="6" name="Text Placeholder 1"/>
          <p:cNvSpPr>
            <a:spLocks noGrp="1"/>
          </p:cNvSpPr>
          <p:nvPr>
            <p:ph type="body" idx="1"/>
          </p:nvPr>
        </p:nvSpPr>
        <p:spPr>
          <a:xfrm>
            <a:off x="323528" y="1603030"/>
            <a:ext cx="8568952" cy="3656384"/>
          </a:xfrm>
        </p:spPr>
        <p:txBody>
          <a:bodyPr>
            <a:normAutofit/>
          </a:bodyPr>
          <a:lstStyle/>
          <a:p>
            <a:pPr>
              <a:buSzPct val="70000"/>
            </a:pPr>
            <a:r>
              <a:rPr lang="en-US" sz="1800" dirty="0" smtClean="0">
                <a:latin typeface="Calibri" panose="020F0502020204030204" pitchFamily="34" charset="0"/>
                <a:cs typeface="Calibri" panose="020F0502020204030204" pitchFamily="34" charset="0"/>
              </a:rPr>
              <a:t>Normalizing the entire dataset prevents…</a:t>
            </a:r>
          </a:p>
          <a:p>
            <a:pPr lvl="1">
              <a:buSzPct val="70000"/>
            </a:pPr>
            <a:r>
              <a:rPr lang="en-US" sz="1800" dirty="0">
                <a:latin typeface="Calibri" panose="020F0502020204030204" pitchFamily="34" charset="0"/>
                <a:cs typeface="Calibri" panose="020F0502020204030204" pitchFamily="34" charset="0"/>
              </a:rPr>
              <a:t>O</a:t>
            </a:r>
            <a:r>
              <a:rPr lang="en-US" sz="1800" dirty="0" smtClean="0">
                <a:latin typeface="Calibri" panose="020F0502020204030204" pitchFamily="34" charset="0"/>
                <a:cs typeface="Calibri" panose="020F0502020204030204" pitchFamily="34" charset="0"/>
              </a:rPr>
              <a:t>ne feature with a scale/variance larger than other from dominating the classifier’s inference function</a:t>
            </a:r>
          </a:p>
          <a:p>
            <a:pPr lvl="1">
              <a:buSzPct val="70000"/>
            </a:pPr>
            <a:r>
              <a:rPr lang="en-US" sz="1800" dirty="0" smtClean="0">
                <a:latin typeface="Calibri" panose="020F0502020204030204" pitchFamily="34" charset="0"/>
                <a:cs typeface="Calibri" panose="020F0502020204030204" pitchFamily="34" charset="0"/>
              </a:rPr>
              <a:t>Prevents the classification algorithm from getting stuck on a local optima</a:t>
            </a:r>
          </a:p>
          <a:p>
            <a:pPr marL="457200" lvl="1" indent="0">
              <a:buSzPct val="70000"/>
              <a:buNone/>
            </a:pPr>
            <a:endParaRPr lang="en-US" sz="1800" dirty="0" smtClean="0">
              <a:latin typeface="Calibri" panose="020F0502020204030204" pitchFamily="34" charset="0"/>
              <a:cs typeface="Calibri" panose="020F0502020204030204" pitchFamily="34" charset="0"/>
            </a:endParaRPr>
          </a:p>
          <a:p>
            <a:pPr>
              <a:buSzPct val="70000"/>
            </a:pPr>
            <a:r>
              <a:rPr lang="en-US" sz="1800" dirty="0" smtClean="0">
                <a:latin typeface="Calibri" panose="020F0502020204030204" pitchFamily="34" charset="0"/>
                <a:cs typeface="Calibri" panose="020F0502020204030204" pitchFamily="34" charset="0"/>
              </a:rPr>
              <a:t>The dataset normalization must be performed always after the dataset split into training and test subsets</a:t>
            </a:r>
          </a:p>
          <a:p>
            <a:pPr lvl="1">
              <a:buSzPct val="70000"/>
            </a:pPr>
            <a:r>
              <a:rPr lang="en-US" sz="1600" dirty="0" smtClean="0">
                <a:latin typeface="Calibri" panose="020F0502020204030204" pitchFamily="34" charset="0"/>
                <a:cs typeface="Calibri" panose="020F0502020204030204" pitchFamily="34" charset="0"/>
              </a:rPr>
              <a:t>This avoids the leaking of information about the data range on the future test subset, preventing over-optimistic performance results</a:t>
            </a:r>
          </a:p>
          <a:p>
            <a:pPr lvl="1">
              <a:buSzPct val="70000"/>
            </a:pPr>
            <a:endParaRPr lang="en-US" sz="1600" dirty="0">
              <a:latin typeface="Calibri" panose="020F0502020204030204" pitchFamily="34" charset="0"/>
              <a:cs typeface="Calibri" panose="020F0502020204030204" pitchFamily="34" charset="0"/>
            </a:endParaRPr>
          </a:p>
          <a:p>
            <a:pPr>
              <a:buSzPct val="70000"/>
            </a:pPr>
            <a:r>
              <a:rPr lang="en-US" sz="1800" dirty="0" smtClean="0">
                <a:latin typeface="Calibri" panose="020F0502020204030204" pitchFamily="34" charset="0"/>
                <a:cs typeface="Calibri" panose="020F0502020204030204" pitchFamily="34" charset="0"/>
              </a:rPr>
              <a:t>The scaling instance created during the training phase must be saved in order to reapply the same transformation on new and unseen data, including the test dataset</a:t>
            </a:r>
          </a:p>
          <a:p>
            <a:pPr lvl="1">
              <a:buSzPct val="70000"/>
            </a:pPr>
            <a:r>
              <a:rPr lang="en-US" sz="1600" dirty="0" err="1">
                <a:latin typeface="Calibri" panose="020F0502020204030204" pitchFamily="34" charset="0"/>
                <a:cs typeface="Calibri" panose="020F0502020204030204" pitchFamily="34" charset="0"/>
              </a:rPr>
              <a:t>s</a:t>
            </a:r>
            <a:r>
              <a:rPr lang="en-US" sz="1600" dirty="0" err="1" smtClean="0">
                <a:latin typeface="Calibri" panose="020F0502020204030204" pitchFamily="34" charset="0"/>
                <a:cs typeface="Calibri" panose="020F0502020204030204" pitchFamily="34" charset="0"/>
              </a:rPr>
              <a:t>cikit</a:t>
            </a:r>
            <a:r>
              <a:rPr lang="en-US" sz="1600" dirty="0" smtClean="0">
                <a:latin typeface="Calibri" panose="020F0502020204030204" pitchFamily="34" charset="0"/>
                <a:cs typeface="Calibri" panose="020F0502020204030204" pitchFamily="34" charset="0"/>
              </a:rPr>
              <a:t>-learn provides mechanisms to handle with this requirement</a:t>
            </a:r>
          </a:p>
        </p:txBody>
      </p:sp>
      <p:pic>
        <p:nvPicPr>
          <p:cNvPr id="9" name="Imagem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956376" y="6345324"/>
            <a:ext cx="801197" cy="432048"/>
          </a:xfrm>
          <a:prstGeom prst="rect">
            <a:avLst/>
          </a:prstGeom>
        </p:spPr>
      </p:pic>
    </p:spTree>
    <p:extLst>
      <p:ext uri="{BB962C8B-B14F-4D97-AF65-F5344CB8AC3E}">
        <p14:creationId xmlns:p14="http://schemas.microsoft.com/office/powerpoint/2010/main" val="338215540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Posição do Número do Diapositivo 2"/>
          <p:cNvSpPr>
            <a:spLocks noGrp="1"/>
          </p:cNvSpPr>
          <p:nvPr>
            <p:ph type="sldNum" sz="quarter" idx="11"/>
          </p:nvPr>
        </p:nvSpPr>
        <p:spPr/>
        <p:txBody>
          <a:bodyPr/>
          <a:lstStyle/>
          <a:p>
            <a:pPr algn="r"/>
            <a:fld id="{D4C49B74-5DB2-4B03-B1D2-7F6A3C51C318}" type="slidenum">
              <a:rPr lang="pt-PT" smtClean="0"/>
              <a:pPr algn="r"/>
              <a:t>9</a:t>
            </a:fld>
            <a:endParaRPr lang="pt-PT" dirty="0"/>
          </a:p>
        </p:txBody>
      </p:sp>
      <p:sp>
        <p:nvSpPr>
          <p:cNvPr id="5" name="Title 3"/>
          <p:cNvSpPr>
            <a:spLocks noGrp="1"/>
          </p:cNvSpPr>
          <p:nvPr>
            <p:ph type="title"/>
          </p:nvPr>
        </p:nvSpPr>
        <p:spPr>
          <a:xfrm>
            <a:off x="2483768" y="1"/>
            <a:ext cx="4680520" cy="908719"/>
          </a:xfrm>
        </p:spPr>
        <p:txBody>
          <a:bodyPr/>
          <a:lstStyle/>
          <a:p>
            <a:pPr algn="ctr"/>
            <a:r>
              <a:rPr lang="en-US" b="1" dirty="0" smtClean="0">
                <a:latin typeface="Calibri" panose="020F0502020204030204" pitchFamily="34" charset="0"/>
                <a:cs typeface="Calibri" panose="020F0502020204030204" pitchFamily="34" charset="0"/>
              </a:rPr>
              <a:t>Building a SVM Classifier</a:t>
            </a:r>
            <a:br>
              <a:rPr lang="en-US" b="1" dirty="0" smtClean="0">
                <a:latin typeface="Calibri" panose="020F0502020204030204" pitchFamily="34" charset="0"/>
                <a:cs typeface="Calibri" panose="020F0502020204030204" pitchFamily="34" charset="0"/>
              </a:rPr>
            </a:br>
            <a:r>
              <a:rPr lang="en-US" sz="2000" b="1" dirty="0" smtClean="0">
                <a:latin typeface="Calibri" panose="020F0502020204030204" pitchFamily="34" charset="0"/>
                <a:cs typeface="Calibri" panose="020F0502020204030204" pitchFamily="34" charset="0"/>
              </a:rPr>
              <a:t>Dataset Normalization</a:t>
            </a:r>
            <a:endParaRPr lang="en-US" b="1" dirty="0">
              <a:latin typeface="Calibri" panose="020F0502020204030204" pitchFamily="34" charset="0"/>
              <a:cs typeface="Calibri" panose="020F0502020204030204" pitchFamily="34" charset="0"/>
            </a:endParaRPr>
          </a:p>
        </p:txBody>
      </p:sp>
      <p:sp>
        <p:nvSpPr>
          <p:cNvPr id="6" name="Text Placeholder 1"/>
          <p:cNvSpPr>
            <a:spLocks noGrp="1"/>
          </p:cNvSpPr>
          <p:nvPr>
            <p:ph type="body" idx="1"/>
          </p:nvPr>
        </p:nvSpPr>
        <p:spPr>
          <a:xfrm>
            <a:off x="323528" y="1528800"/>
            <a:ext cx="8568952" cy="920080"/>
          </a:xfrm>
        </p:spPr>
        <p:txBody>
          <a:bodyPr>
            <a:normAutofit/>
          </a:bodyPr>
          <a:lstStyle/>
          <a:p>
            <a:pPr>
              <a:buSzPct val="70000"/>
            </a:pPr>
            <a:r>
              <a:rPr lang="en-US" sz="1800" dirty="0" smtClean="0">
                <a:latin typeface="Calibri" panose="020F0502020204030204" pitchFamily="34" charset="0"/>
                <a:cs typeface="Calibri" panose="020F0502020204030204" pitchFamily="34" charset="0"/>
              </a:rPr>
              <a:t>The “preprocessing” module of </a:t>
            </a:r>
            <a:r>
              <a:rPr lang="en-US" sz="1800" dirty="0" err="1" smtClean="0">
                <a:latin typeface="Calibri" panose="020F0502020204030204" pitchFamily="34" charset="0"/>
                <a:cs typeface="Calibri" panose="020F0502020204030204" pitchFamily="34" charset="0"/>
              </a:rPr>
              <a:t>scikit</a:t>
            </a:r>
            <a:r>
              <a:rPr lang="en-US" sz="1800" dirty="0" smtClean="0">
                <a:latin typeface="Calibri" panose="020F0502020204030204" pitchFamily="34" charset="0"/>
                <a:cs typeface="Calibri" panose="020F0502020204030204" pitchFamily="34" charset="0"/>
              </a:rPr>
              <a:t>-learn </a:t>
            </a:r>
            <a:r>
              <a:rPr lang="en-US" sz="1800" dirty="0">
                <a:latin typeface="Calibri" panose="020F0502020204030204" pitchFamily="34" charset="0"/>
                <a:cs typeface="Calibri" panose="020F0502020204030204" pitchFamily="34" charset="0"/>
              </a:rPr>
              <a:t>provides a </a:t>
            </a:r>
            <a:r>
              <a:rPr lang="en-US" sz="1800" dirty="0" smtClean="0">
                <a:latin typeface="Calibri" panose="020F0502020204030204" pitchFamily="34" charset="0"/>
                <a:cs typeface="Calibri" panose="020F0502020204030204" pitchFamily="34" charset="0"/>
              </a:rPr>
              <a:t>very rich set </a:t>
            </a:r>
            <a:r>
              <a:rPr lang="en-US" sz="1800" dirty="0">
                <a:latin typeface="Calibri" panose="020F0502020204030204" pitchFamily="34" charset="0"/>
                <a:cs typeface="Calibri" panose="020F0502020204030204" pitchFamily="34" charset="0"/>
              </a:rPr>
              <a:t>of functions for normalizing </a:t>
            </a:r>
            <a:r>
              <a:rPr lang="en-US" sz="1800" dirty="0" smtClean="0">
                <a:latin typeface="Calibri" panose="020F0502020204030204" pitchFamily="34" charset="0"/>
                <a:cs typeface="Calibri" panose="020F0502020204030204" pitchFamily="34" charset="0"/>
              </a:rPr>
              <a:t>datasets</a:t>
            </a:r>
          </a:p>
          <a:p>
            <a:pPr lvl="1">
              <a:buSzPct val="70000"/>
            </a:pPr>
            <a:r>
              <a:rPr lang="en-US" sz="1600" dirty="0" smtClean="0">
                <a:latin typeface="Calibri" panose="020F0502020204030204" pitchFamily="34" charset="0"/>
                <a:cs typeface="Calibri" panose="020F0502020204030204" pitchFamily="34" charset="0"/>
              </a:rPr>
              <a:t>The most common functions are:</a:t>
            </a:r>
          </a:p>
        </p:txBody>
      </p:sp>
      <p:graphicFrame>
        <p:nvGraphicFramePr>
          <p:cNvPr id="7" name="Tabela 6"/>
          <p:cNvGraphicFramePr>
            <a:graphicFrameLocks noGrp="1"/>
          </p:cNvGraphicFramePr>
          <p:nvPr>
            <p:extLst>
              <p:ext uri="{D42A27DB-BD31-4B8C-83A1-F6EECF244321}">
                <p14:modId xmlns:p14="http://schemas.microsoft.com/office/powerpoint/2010/main" val="1240414022"/>
              </p:ext>
            </p:extLst>
          </p:nvPr>
        </p:nvGraphicFramePr>
        <p:xfrm>
          <a:off x="1560004" y="2448880"/>
          <a:ext cx="6096000" cy="1402080"/>
        </p:xfrm>
        <a:graphic>
          <a:graphicData uri="http://schemas.openxmlformats.org/drawingml/2006/table">
            <a:tbl>
              <a:tblPr firstRow="1" bandRow="1"/>
              <a:tblGrid>
                <a:gridCol w="1211796">
                  <a:extLst>
                    <a:ext uri="{9D8B030D-6E8A-4147-A177-3AD203B41FA5}">
                      <a16:colId xmlns:a16="http://schemas.microsoft.com/office/drawing/2014/main" val="2040841071"/>
                    </a:ext>
                  </a:extLst>
                </a:gridCol>
                <a:gridCol w="4884204">
                  <a:extLst>
                    <a:ext uri="{9D8B030D-6E8A-4147-A177-3AD203B41FA5}">
                      <a16:colId xmlns:a16="http://schemas.microsoft.com/office/drawing/2014/main" val="26317667"/>
                    </a:ext>
                  </a:extLst>
                </a:gridCol>
              </a:tblGrid>
              <a:tr h="0">
                <a:tc>
                  <a:txBody>
                    <a:bodyPr/>
                    <a:lstStyle/>
                    <a:p>
                      <a:pPr algn="ctr"/>
                      <a:r>
                        <a:rPr lang="en-US" sz="1600" b="1" noProof="0" dirty="0" smtClean="0">
                          <a:latin typeface="Calibri" panose="020F0502020204030204" pitchFamily="34" charset="0"/>
                          <a:cs typeface="Calibri" panose="020F0502020204030204" pitchFamily="34" charset="0"/>
                        </a:rPr>
                        <a:t>Function</a:t>
                      </a:r>
                      <a:endParaRPr lang="en-US" sz="1600" b="1" noProof="0" dirty="0">
                        <a:latin typeface="Calibri" panose="020F0502020204030204" pitchFamily="34" charset="0"/>
                        <a:cs typeface="Calibri" panose="020F0502020204030204" pitchFamily="34" charset="0"/>
                      </a:endParaRPr>
                    </a:p>
                  </a:txBody>
                  <a:tcPr/>
                </a:tc>
                <a:tc>
                  <a:txBody>
                    <a:bodyPr/>
                    <a:lstStyle/>
                    <a:p>
                      <a:pPr algn="ctr"/>
                      <a:r>
                        <a:rPr lang="en-US" sz="1600" b="1" noProof="0" dirty="0" smtClean="0">
                          <a:latin typeface="Calibri" panose="020F0502020204030204" pitchFamily="34" charset="0"/>
                          <a:cs typeface="Calibri" panose="020F0502020204030204" pitchFamily="34" charset="0"/>
                        </a:rPr>
                        <a:t>Description</a:t>
                      </a:r>
                      <a:endParaRPr lang="en-US" sz="1600" b="1" noProof="0" dirty="0">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1754024055"/>
                  </a:ext>
                </a:extLst>
              </a:tr>
              <a:tr h="0">
                <a:tc>
                  <a:txBody>
                    <a:bodyPr/>
                    <a:lstStyle/>
                    <a:p>
                      <a:r>
                        <a:rPr lang="en-US" sz="1300" i="1" noProof="0" dirty="0" err="1" smtClean="0">
                          <a:latin typeface="Calibri" panose="020F0502020204030204" pitchFamily="34" charset="0"/>
                          <a:cs typeface="Calibri" panose="020F0502020204030204" pitchFamily="34" charset="0"/>
                        </a:rPr>
                        <a:t>StandardScaler</a:t>
                      </a:r>
                      <a:endParaRPr lang="en-US" sz="1300" i="1" noProof="0" dirty="0">
                        <a:latin typeface="Calibri" panose="020F0502020204030204" pitchFamily="34" charset="0"/>
                        <a:cs typeface="Calibri" panose="020F0502020204030204" pitchFamily="34" charset="0"/>
                      </a:endParaRPr>
                    </a:p>
                  </a:txBody>
                  <a:tcPr/>
                </a:tc>
                <a:tc>
                  <a:txBody>
                    <a:bodyPr/>
                    <a:lstStyle/>
                    <a:p>
                      <a:r>
                        <a:rPr lang="en-US" sz="1300" noProof="0" dirty="0" smtClean="0">
                          <a:latin typeface="Calibri" panose="020F0502020204030204" pitchFamily="34" charset="0"/>
                          <a:cs typeface="Calibri" panose="020F0502020204030204" pitchFamily="34" charset="0"/>
                        </a:rPr>
                        <a:t>Turns</a:t>
                      </a:r>
                      <a:r>
                        <a:rPr lang="en-US" sz="1300" baseline="0" noProof="0" dirty="0" smtClean="0">
                          <a:latin typeface="Calibri" panose="020F0502020204030204" pitchFamily="34" charset="0"/>
                          <a:cs typeface="Calibri" panose="020F0502020204030204" pitchFamily="34" charset="0"/>
                        </a:rPr>
                        <a:t> a dataset into standard normally distributed data (zero mean and unit variance)</a:t>
                      </a:r>
                      <a:endParaRPr lang="en-US" sz="1300" noProof="0" dirty="0">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581414043"/>
                  </a:ext>
                </a:extLst>
              </a:tr>
              <a:tr h="0">
                <a:tc>
                  <a:txBody>
                    <a:bodyPr/>
                    <a:lstStyle/>
                    <a:p>
                      <a:r>
                        <a:rPr lang="pt-PT" sz="1300" i="1" dirty="0" err="1" smtClean="0">
                          <a:latin typeface="Calibri" panose="020F0502020204030204" pitchFamily="34" charset="0"/>
                          <a:cs typeface="Calibri" panose="020F0502020204030204" pitchFamily="34" charset="0"/>
                        </a:rPr>
                        <a:t>MinMaxScaler</a:t>
                      </a:r>
                      <a:endParaRPr lang="pt-PT" sz="1300" i="1" dirty="0">
                        <a:latin typeface="Calibri" panose="020F0502020204030204" pitchFamily="34" charset="0"/>
                        <a:cs typeface="Calibri" panose="020F0502020204030204" pitchFamily="34" charset="0"/>
                      </a:endParaRPr>
                    </a:p>
                  </a:txBody>
                  <a:tcPr/>
                </a:tc>
                <a:tc>
                  <a:txBody>
                    <a:bodyPr/>
                    <a:lstStyle/>
                    <a:p>
                      <a:r>
                        <a:rPr lang="en-US" sz="1300" noProof="0" dirty="0" smtClean="0">
                          <a:latin typeface="Calibri" panose="020F0502020204030204" pitchFamily="34" charset="0"/>
                          <a:cs typeface="Calibri" panose="020F0502020204030204" pitchFamily="34" charset="0"/>
                        </a:rPr>
                        <a:t>Scales</a:t>
                      </a:r>
                      <a:r>
                        <a:rPr lang="en-US" sz="1300" baseline="0" noProof="0" dirty="0" smtClean="0">
                          <a:latin typeface="Calibri" panose="020F0502020204030204" pitchFamily="34" charset="0"/>
                          <a:cs typeface="Calibri" panose="020F0502020204030204" pitchFamily="34" charset="0"/>
                        </a:rPr>
                        <a:t> the values of each feature to the</a:t>
                      </a:r>
                      <a:r>
                        <a:rPr lang="pt-PT" sz="1300" baseline="0" dirty="0" smtClean="0">
                          <a:latin typeface="Calibri" panose="020F0502020204030204" pitchFamily="34" charset="0"/>
                          <a:cs typeface="Calibri" panose="020F0502020204030204" pitchFamily="34" charset="0"/>
                        </a:rPr>
                        <a:t> range [0, 1]</a:t>
                      </a:r>
                      <a:endParaRPr lang="pt-PT" sz="1300" dirty="0">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777897968"/>
                  </a:ext>
                </a:extLst>
              </a:tr>
              <a:tr h="0">
                <a:tc>
                  <a:txBody>
                    <a:bodyPr/>
                    <a:lstStyle/>
                    <a:p>
                      <a:r>
                        <a:rPr lang="pt-PT" sz="1300" i="1" dirty="0" err="1" smtClean="0">
                          <a:latin typeface="Calibri" panose="020F0502020204030204" pitchFamily="34" charset="0"/>
                          <a:cs typeface="Calibri" panose="020F0502020204030204" pitchFamily="34" charset="0"/>
                        </a:rPr>
                        <a:t>MaxAbsScaler</a:t>
                      </a:r>
                      <a:endParaRPr lang="pt-PT" sz="1300" i="1" dirty="0">
                        <a:latin typeface="Calibri" panose="020F0502020204030204" pitchFamily="34" charset="0"/>
                        <a:cs typeface="Calibri" panose="020F0502020204030204" pitchFamily="34" charset="0"/>
                      </a:endParaRPr>
                    </a:p>
                  </a:txBody>
                  <a:tcPr/>
                </a:tc>
                <a:tc>
                  <a:txBody>
                    <a:bodyPr/>
                    <a:lstStyle/>
                    <a:p>
                      <a:r>
                        <a:rPr lang="en-US" sz="1300" noProof="0" dirty="0" smtClean="0">
                          <a:latin typeface="Calibri" panose="020F0502020204030204" pitchFamily="34" charset="0"/>
                          <a:cs typeface="Calibri" panose="020F0502020204030204" pitchFamily="34" charset="0"/>
                        </a:rPr>
                        <a:t>Scales</a:t>
                      </a:r>
                      <a:r>
                        <a:rPr lang="pt-PT" sz="1300" dirty="0" smtClean="0">
                          <a:latin typeface="Calibri" panose="020F0502020204030204" pitchFamily="34" charset="0"/>
                          <a:cs typeface="Calibri" panose="020F0502020204030204" pitchFamily="34" charset="0"/>
                        </a:rPr>
                        <a:t> </a:t>
                      </a:r>
                      <a:r>
                        <a:rPr lang="en-US" sz="1300" noProof="0" dirty="0" smtClean="0">
                          <a:latin typeface="Calibri" panose="020F0502020204030204" pitchFamily="34" charset="0"/>
                          <a:cs typeface="Calibri" panose="020F0502020204030204" pitchFamily="34" charset="0"/>
                        </a:rPr>
                        <a:t>the values of each feature to the </a:t>
                      </a:r>
                      <a:r>
                        <a:rPr lang="pt-PT" sz="1300" dirty="0" smtClean="0">
                          <a:latin typeface="Calibri" panose="020F0502020204030204" pitchFamily="34" charset="0"/>
                          <a:cs typeface="Calibri" panose="020F0502020204030204" pitchFamily="34" charset="0"/>
                        </a:rPr>
                        <a:t>range [-1, 1]</a:t>
                      </a:r>
                      <a:endParaRPr lang="pt-PT" sz="1300" dirty="0">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415133728"/>
                  </a:ext>
                </a:extLst>
              </a:tr>
            </a:tbl>
          </a:graphicData>
        </a:graphic>
      </p:graphicFrame>
      <p:pic>
        <p:nvPicPr>
          <p:cNvPr id="9" name="Imagem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956376" y="6345324"/>
            <a:ext cx="801197" cy="432048"/>
          </a:xfrm>
          <a:prstGeom prst="rect">
            <a:avLst/>
          </a:prstGeom>
        </p:spPr>
      </p:pic>
      <p:pic>
        <p:nvPicPr>
          <p:cNvPr id="13" name="Imagem 1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324419" y="4047026"/>
            <a:ext cx="6567170" cy="2334302"/>
          </a:xfrm>
          <a:prstGeom prst="rect">
            <a:avLst/>
          </a:prstGeom>
          <a:ln w="3175">
            <a:solidFill>
              <a:schemeClr val="tx1"/>
            </a:solidFill>
          </a:ln>
        </p:spPr>
      </p:pic>
    </p:spTree>
    <p:extLst>
      <p:ext uri="{BB962C8B-B14F-4D97-AF65-F5344CB8AC3E}">
        <p14:creationId xmlns:p14="http://schemas.microsoft.com/office/powerpoint/2010/main" val="297184775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Posição do Número do Diapositivo 2"/>
          <p:cNvSpPr>
            <a:spLocks noGrp="1"/>
          </p:cNvSpPr>
          <p:nvPr>
            <p:ph type="sldNum" sz="quarter" idx="11"/>
          </p:nvPr>
        </p:nvSpPr>
        <p:spPr/>
        <p:txBody>
          <a:bodyPr/>
          <a:lstStyle/>
          <a:p>
            <a:pPr algn="r"/>
            <a:fld id="{D4C49B74-5DB2-4B03-B1D2-7F6A3C51C318}" type="slidenum">
              <a:rPr lang="pt-PT" smtClean="0"/>
              <a:pPr algn="r"/>
              <a:t>10</a:t>
            </a:fld>
            <a:endParaRPr lang="pt-PT" dirty="0"/>
          </a:p>
        </p:txBody>
      </p:sp>
      <p:sp>
        <p:nvSpPr>
          <p:cNvPr id="5" name="Title 3"/>
          <p:cNvSpPr>
            <a:spLocks noGrp="1"/>
          </p:cNvSpPr>
          <p:nvPr>
            <p:ph type="title"/>
          </p:nvPr>
        </p:nvSpPr>
        <p:spPr>
          <a:xfrm>
            <a:off x="2483768" y="1"/>
            <a:ext cx="4680520" cy="908719"/>
          </a:xfrm>
        </p:spPr>
        <p:txBody>
          <a:bodyPr/>
          <a:lstStyle/>
          <a:p>
            <a:pPr algn="ctr"/>
            <a:r>
              <a:rPr lang="en-US" b="1" dirty="0" smtClean="0">
                <a:latin typeface="Calibri" panose="020F0502020204030204" pitchFamily="34" charset="0"/>
                <a:cs typeface="Calibri" panose="020F0502020204030204" pitchFamily="34" charset="0"/>
              </a:rPr>
              <a:t>Building a SVM Classifier</a:t>
            </a:r>
            <a:br>
              <a:rPr lang="en-US" b="1" dirty="0" smtClean="0">
                <a:latin typeface="Calibri" panose="020F0502020204030204" pitchFamily="34" charset="0"/>
                <a:cs typeface="Calibri" panose="020F0502020204030204" pitchFamily="34" charset="0"/>
              </a:rPr>
            </a:br>
            <a:r>
              <a:rPr lang="en-US" sz="2000" b="1" dirty="0" smtClean="0">
                <a:latin typeface="Calibri" panose="020F0502020204030204" pitchFamily="34" charset="0"/>
                <a:cs typeface="Calibri" panose="020F0502020204030204" pitchFamily="34" charset="0"/>
              </a:rPr>
              <a:t>Feature Selection</a:t>
            </a:r>
            <a:endParaRPr lang="en-US" b="1" dirty="0">
              <a:latin typeface="Calibri" panose="020F0502020204030204" pitchFamily="34" charset="0"/>
              <a:cs typeface="Calibri" panose="020F0502020204030204" pitchFamily="34" charset="0"/>
            </a:endParaRPr>
          </a:p>
        </p:txBody>
      </p:sp>
      <p:sp>
        <p:nvSpPr>
          <p:cNvPr id="7" name="Text Placeholder 1"/>
          <p:cNvSpPr>
            <a:spLocks noGrp="1"/>
          </p:cNvSpPr>
          <p:nvPr>
            <p:ph type="body" idx="1"/>
          </p:nvPr>
        </p:nvSpPr>
        <p:spPr>
          <a:xfrm>
            <a:off x="323528" y="1412776"/>
            <a:ext cx="8568952" cy="4392488"/>
          </a:xfrm>
        </p:spPr>
        <p:txBody>
          <a:bodyPr>
            <a:normAutofit/>
          </a:bodyPr>
          <a:lstStyle/>
          <a:p>
            <a:pPr>
              <a:buSzPct val="70000"/>
            </a:pPr>
            <a:r>
              <a:rPr lang="en-US" sz="1800" dirty="0" err="1" smtClean="0">
                <a:latin typeface="Calibri" panose="020F0502020204030204" pitchFamily="34" charset="0"/>
                <a:cs typeface="Calibri" panose="020F0502020204030204" pitchFamily="34" charset="0"/>
              </a:rPr>
              <a:t>scikit</a:t>
            </a:r>
            <a:r>
              <a:rPr lang="en-US" sz="1800" dirty="0" smtClean="0">
                <a:latin typeface="Calibri" panose="020F0502020204030204" pitchFamily="34" charset="0"/>
                <a:cs typeface="Calibri" panose="020F0502020204030204" pitchFamily="34" charset="0"/>
              </a:rPr>
              <a:t>-learn provides two types of algorithms for feature selection:</a:t>
            </a:r>
          </a:p>
          <a:p>
            <a:pPr lvl="1">
              <a:buSzPct val="70000"/>
            </a:pPr>
            <a:r>
              <a:rPr lang="en-US" sz="1600" b="1" dirty="0" smtClean="0">
                <a:latin typeface="Calibri" panose="020F0502020204030204" pitchFamily="34" charset="0"/>
                <a:cs typeface="Calibri" panose="020F0502020204030204" pitchFamily="34" charset="0"/>
              </a:rPr>
              <a:t>Filter algorithms</a:t>
            </a:r>
            <a:r>
              <a:rPr lang="en-US" sz="1600" dirty="0">
                <a:latin typeface="Calibri" panose="020F0502020204030204" pitchFamily="34" charset="0"/>
                <a:cs typeface="Calibri" panose="020F0502020204030204" pitchFamily="34" charset="0"/>
              </a:rPr>
              <a:t>: </a:t>
            </a:r>
            <a:r>
              <a:rPr lang="en-US" sz="1600" dirty="0" smtClean="0">
                <a:latin typeface="Calibri" panose="020F0502020204030204" pitchFamily="34" charset="0"/>
                <a:cs typeface="Calibri" panose="020F0502020204030204" pitchFamily="34" charset="0"/>
              </a:rPr>
              <a:t>select </a:t>
            </a:r>
            <a:r>
              <a:rPr lang="en-US" sz="1600" dirty="0">
                <a:latin typeface="Calibri" panose="020F0502020204030204" pitchFamily="34" charset="0"/>
                <a:cs typeface="Calibri" panose="020F0502020204030204" pitchFamily="34" charset="0"/>
              </a:rPr>
              <a:t>features based on a </a:t>
            </a:r>
            <a:r>
              <a:rPr lang="en-US" sz="1600" dirty="0" smtClean="0">
                <a:latin typeface="Calibri" panose="020F0502020204030204" pitchFamily="34" charset="0"/>
                <a:cs typeface="Calibri" panose="020F0502020204030204" pitchFamily="34" charset="0"/>
              </a:rPr>
              <a:t>performance measure, regardless </a:t>
            </a:r>
            <a:r>
              <a:rPr lang="en-US" sz="1600" dirty="0">
                <a:latin typeface="Calibri" panose="020F0502020204030204" pitchFamily="34" charset="0"/>
                <a:cs typeface="Calibri" panose="020F0502020204030204" pitchFamily="34" charset="0"/>
              </a:rPr>
              <a:t>of the employed </a:t>
            </a:r>
            <a:r>
              <a:rPr lang="en-US" sz="1600" dirty="0" smtClean="0">
                <a:latin typeface="Calibri" panose="020F0502020204030204" pitchFamily="34" charset="0"/>
                <a:cs typeface="Calibri" panose="020F0502020204030204" pitchFamily="34" charset="0"/>
              </a:rPr>
              <a:t>data classification algorithm</a:t>
            </a:r>
          </a:p>
          <a:p>
            <a:pPr marL="457200" lvl="1" indent="0">
              <a:buSzPct val="70000"/>
              <a:buNone/>
            </a:pPr>
            <a:endParaRPr lang="en-US" sz="400" dirty="0" smtClean="0">
              <a:latin typeface="Calibri" panose="020F0502020204030204" pitchFamily="34" charset="0"/>
              <a:cs typeface="Calibri" panose="020F0502020204030204" pitchFamily="34" charset="0"/>
            </a:endParaRPr>
          </a:p>
          <a:p>
            <a:pPr lvl="1">
              <a:buSzPct val="70000"/>
            </a:pPr>
            <a:r>
              <a:rPr lang="en-US" sz="1600" b="1" dirty="0" smtClean="0">
                <a:latin typeface="Calibri" panose="020F0502020204030204" pitchFamily="34" charset="0"/>
                <a:cs typeface="Calibri" panose="020F0502020204030204" pitchFamily="34" charset="0"/>
              </a:rPr>
              <a:t>Wrapper algorithms:</a:t>
            </a:r>
            <a:r>
              <a:rPr lang="en-US" sz="1600" dirty="0" smtClean="0">
                <a:latin typeface="Calibri" panose="020F0502020204030204" pitchFamily="34" charset="0"/>
                <a:cs typeface="Calibri" panose="020F0502020204030204" pitchFamily="34" charset="0"/>
              </a:rPr>
              <a:t> relies on the employed classification algorithm to evaluate different feature subsets</a:t>
            </a:r>
          </a:p>
          <a:p>
            <a:pPr lvl="1">
              <a:buSzPct val="70000"/>
            </a:pPr>
            <a:endParaRPr lang="en-US" sz="1600" dirty="0">
              <a:latin typeface="Calibri" panose="020F0502020204030204" pitchFamily="34" charset="0"/>
              <a:cs typeface="Calibri" panose="020F0502020204030204" pitchFamily="34" charset="0"/>
            </a:endParaRPr>
          </a:p>
          <a:p>
            <a:pPr>
              <a:buSzPct val="70000"/>
            </a:pPr>
            <a:r>
              <a:rPr lang="en-US" sz="1800" b="1" dirty="0" smtClean="0">
                <a:latin typeface="Calibri" panose="020F0502020204030204" pitchFamily="34" charset="0"/>
                <a:cs typeface="Calibri" panose="020F0502020204030204" pitchFamily="34" charset="0"/>
              </a:rPr>
              <a:t>Filter algorithms:</a:t>
            </a:r>
            <a:endParaRPr lang="en-US" sz="1800" dirty="0" smtClean="0">
              <a:latin typeface="Calibri" panose="020F0502020204030204" pitchFamily="34" charset="0"/>
              <a:cs typeface="Calibri" panose="020F0502020204030204" pitchFamily="34" charset="0"/>
            </a:endParaRPr>
          </a:p>
          <a:p>
            <a:pPr lvl="1">
              <a:buSzPct val="70000"/>
            </a:pPr>
            <a:r>
              <a:rPr lang="en-US" sz="1600" b="1" dirty="0">
                <a:latin typeface="Calibri" panose="020F0502020204030204" pitchFamily="34" charset="0"/>
                <a:cs typeface="Calibri" panose="020F0502020204030204" pitchFamily="34" charset="0"/>
              </a:rPr>
              <a:t>Removing features with low variance: </a:t>
            </a:r>
            <a:r>
              <a:rPr lang="en-US" sz="1600" dirty="0">
                <a:latin typeface="Calibri" panose="020F0502020204030204" pitchFamily="34" charset="0"/>
                <a:cs typeface="Calibri" panose="020F0502020204030204" pitchFamily="34" charset="0"/>
              </a:rPr>
              <a:t>R</a:t>
            </a:r>
            <a:r>
              <a:rPr lang="en-US" sz="1600" dirty="0" smtClean="0">
                <a:latin typeface="Calibri" panose="020F0502020204030204" pitchFamily="34" charset="0"/>
                <a:cs typeface="Calibri" panose="020F0502020204030204" pitchFamily="34" charset="0"/>
              </a:rPr>
              <a:t>emoves </a:t>
            </a:r>
            <a:r>
              <a:rPr lang="en-US" sz="1600" dirty="0">
                <a:latin typeface="Calibri" panose="020F0502020204030204" pitchFamily="34" charset="0"/>
                <a:cs typeface="Calibri" panose="020F0502020204030204" pitchFamily="34" charset="0"/>
              </a:rPr>
              <a:t>all features whose variance </a:t>
            </a:r>
            <a:r>
              <a:rPr lang="en-US" sz="1600" dirty="0" smtClean="0">
                <a:latin typeface="Calibri" panose="020F0502020204030204" pitchFamily="34" charset="0"/>
                <a:cs typeface="Calibri" panose="020F0502020204030204" pitchFamily="34" charset="0"/>
              </a:rPr>
              <a:t>is equal or lower than a given threshold. This mechanism does not consider the desired outputs (labels)</a:t>
            </a:r>
          </a:p>
          <a:p>
            <a:pPr marL="457200" lvl="1" indent="0">
              <a:buSzPct val="70000"/>
              <a:buNone/>
            </a:pPr>
            <a:endParaRPr lang="en-US" sz="400" dirty="0" smtClean="0">
              <a:latin typeface="Calibri" panose="020F0502020204030204" pitchFamily="34" charset="0"/>
              <a:cs typeface="Calibri" panose="020F0502020204030204" pitchFamily="34" charset="0"/>
            </a:endParaRPr>
          </a:p>
          <a:p>
            <a:pPr lvl="1">
              <a:buSzPct val="70000"/>
            </a:pPr>
            <a:r>
              <a:rPr lang="en-US" sz="1600" b="1" dirty="0">
                <a:latin typeface="Calibri" panose="020F0502020204030204" pitchFamily="34" charset="0"/>
                <a:cs typeface="Calibri" panose="020F0502020204030204" pitchFamily="34" charset="0"/>
              </a:rPr>
              <a:t>Univariate feature </a:t>
            </a:r>
            <a:r>
              <a:rPr lang="en-US" sz="1600" b="1" dirty="0" smtClean="0">
                <a:latin typeface="Calibri" panose="020F0502020204030204" pitchFamily="34" charset="0"/>
                <a:cs typeface="Calibri" panose="020F0502020204030204" pitchFamily="34" charset="0"/>
              </a:rPr>
              <a:t>selection:</a:t>
            </a:r>
            <a:r>
              <a:rPr lang="en-US" sz="1600" dirty="0">
                <a:latin typeface="Calibri" panose="020F0502020204030204" pitchFamily="34" charset="0"/>
                <a:cs typeface="Calibri" panose="020F0502020204030204" pitchFamily="34" charset="0"/>
              </a:rPr>
              <a:t> </a:t>
            </a:r>
            <a:r>
              <a:rPr lang="en-US" sz="1600" dirty="0" smtClean="0">
                <a:latin typeface="Calibri" panose="020F0502020204030204" pitchFamily="34" charset="0"/>
                <a:cs typeface="Calibri" panose="020F0502020204030204" pitchFamily="34" charset="0"/>
              </a:rPr>
              <a:t>Selects </a:t>
            </a:r>
            <a:r>
              <a:rPr lang="en-US" sz="1600" dirty="0">
                <a:latin typeface="Calibri" panose="020F0502020204030204" pitchFamily="34" charset="0"/>
                <a:cs typeface="Calibri" panose="020F0502020204030204" pitchFamily="34" charset="0"/>
              </a:rPr>
              <a:t>the best features based on univariate statistical </a:t>
            </a:r>
            <a:r>
              <a:rPr lang="en-US" sz="1600" dirty="0" smtClean="0">
                <a:latin typeface="Calibri" panose="020F0502020204030204" pitchFamily="34" charset="0"/>
                <a:cs typeface="Calibri" panose="020F0502020204030204" pitchFamily="34" charset="0"/>
              </a:rPr>
              <a:t>tests</a:t>
            </a:r>
            <a:endParaRPr lang="en-US" sz="1400" dirty="0" smtClean="0">
              <a:latin typeface="Calibri" panose="020F0502020204030204" pitchFamily="34" charset="0"/>
              <a:cs typeface="Calibri" panose="020F0502020204030204" pitchFamily="34" charset="0"/>
            </a:endParaRPr>
          </a:p>
          <a:p>
            <a:pPr lvl="1">
              <a:buSzPct val="70000"/>
            </a:pPr>
            <a:endParaRPr lang="en-US" sz="1400" b="1" dirty="0">
              <a:latin typeface="Calibri" panose="020F0502020204030204" pitchFamily="34" charset="0"/>
              <a:cs typeface="Calibri" panose="020F0502020204030204" pitchFamily="34" charset="0"/>
            </a:endParaRPr>
          </a:p>
          <a:p>
            <a:pPr>
              <a:buSzPct val="70000"/>
            </a:pPr>
            <a:r>
              <a:rPr lang="en-US" sz="1800" b="1" dirty="0" smtClean="0">
                <a:latin typeface="Calibri" panose="020F0502020204030204" pitchFamily="34" charset="0"/>
                <a:cs typeface="Calibri" panose="020F0502020204030204" pitchFamily="34" charset="0"/>
              </a:rPr>
              <a:t>Wrapper algorithms:</a:t>
            </a:r>
          </a:p>
          <a:p>
            <a:pPr lvl="1">
              <a:buSzPct val="70000"/>
            </a:pPr>
            <a:r>
              <a:rPr lang="en-US" sz="1600" b="1" dirty="0" smtClean="0">
                <a:latin typeface="Calibri" panose="020F0502020204030204" pitchFamily="34" charset="0"/>
                <a:cs typeface="Calibri" panose="020F0502020204030204" pitchFamily="34" charset="0"/>
              </a:rPr>
              <a:t>Recursive </a:t>
            </a:r>
            <a:r>
              <a:rPr lang="en-US" sz="1600" b="1" dirty="0">
                <a:latin typeface="Calibri" panose="020F0502020204030204" pitchFamily="34" charset="0"/>
                <a:cs typeface="Calibri" panose="020F0502020204030204" pitchFamily="34" charset="0"/>
              </a:rPr>
              <a:t>feature </a:t>
            </a:r>
            <a:r>
              <a:rPr lang="en-US" sz="1600" b="1" dirty="0" smtClean="0">
                <a:latin typeface="Calibri" panose="020F0502020204030204" pitchFamily="34" charset="0"/>
                <a:cs typeface="Calibri" panose="020F0502020204030204" pitchFamily="34" charset="0"/>
              </a:rPr>
              <a:t>elimination</a:t>
            </a:r>
            <a:r>
              <a:rPr lang="en-US" sz="1600" b="1" dirty="0">
                <a:latin typeface="Calibri" panose="020F0502020204030204" pitchFamily="34" charset="0"/>
                <a:cs typeface="Calibri" panose="020F0502020204030204" pitchFamily="34" charset="0"/>
              </a:rPr>
              <a:t>: </a:t>
            </a:r>
            <a:r>
              <a:rPr lang="en-US" sz="1600" dirty="0" smtClean="0">
                <a:latin typeface="Calibri" panose="020F0502020204030204" pitchFamily="34" charset="0"/>
                <a:cs typeface="Calibri" panose="020F0502020204030204" pitchFamily="34" charset="0"/>
              </a:rPr>
              <a:t>Select </a:t>
            </a:r>
            <a:r>
              <a:rPr lang="en-US" sz="1600" dirty="0">
                <a:latin typeface="Calibri" panose="020F0502020204030204" pitchFamily="34" charset="0"/>
                <a:cs typeface="Calibri" panose="020F0502020204030204" pitchFamily="34" charset="0"/>
              </a:rPr>
              <a:t>features by recursively considering smaller and smaller sets of </a:t>
            </a:r>
            <a:r>
              <a:rPr lang="en-US" sz="1600" dirty="0" smtClean="0">
                <a:latin typeface="Calibri" panose="020F0502020204030204" pitchFamily="34" charset="0"/>
                <a:cs typeface="Calibri" panose="020F0502020204030204" pitchFamily="34" charset="0"/>
              </a:rPr>
              <a:t>features, until getting the best </a:t>
            </a:r>
            <a:r>
              <a:rPr lang="en-US" sz="1600" i="1" dirty="0" smtClean="0">
                <a:latin typeface="Calibri" panose="020F0502020204030204" pitchFamily="34" charset="0"/>
                <a:cs typeface="Calibri" panose="020F0502020204030204" pitchFamily="34" charset="0"/>
              </a:rPr>
              <a:t>n </a:t>
            </a:r>
            <a:r>
              <a:rPr lang="en-US" sz="1600" dirty="0" smtClean="0">
                <a:latin typeface="Calibri" panose="020F0502020204030204" pitchFamily="34" charset="0"/>
                <a:cs typeface="Calibri" panose="020F0502020204030204" pitchFamily="34" charset="0"/>
              </a:rPr>
              <a:t>features</a:t>
            </a:r>
          </a:p>
          <a:p>
            <a:pPr marL="457200" lvl="1" indent="0">
              <a:buSzPct val="70000"/>
              <a:buNone/>
            </a:pPr>
            <a:endParaRPr lang="en-US" sz="400" dirty="0" smtClean="0">
              <a:latin typeface="Calibri" panose="020F0502020204030204" pitchFamily="34" charset="0"/>
              <a:cs typeface="Calibri" panose="020F0502020204030204" pitchFamily="34" charset="0"/>
            </a:endParaRPr>
          </a:p>
          <a:p>
            <a:pPr lvl="1">
              <a:buSzPct val="70000"/>
            </a:pPr>
            <a:r>
              <a:rPr lang="en-US" sz="1600" b="1" dirty="0">
                <a:latin typeface="Calibri" panose="020F0502020204030204" pitchFamily="34" charset="0"/>
                <a:cs typeface="Calibri" panose="020F0502020204030204" pitchFamily="34" charset="0"/>
              </a:rPr>
              <a:t>Feature selection using </a:t>
            </a:r>
            <a:r>
              <a:rPr lang="en-US" sz="1600" b="1" dirty="0" smtClean="0">
                <a:latin typeface="Calibri" panose="020F0502020204030204" pitchFamily="34" charset="0"/>
                <a:cs typeface="Calibri" panose="020F0502020204030204" pitchFamily="34" charset="0"/>
              </a:rPr>
              <a:t>“</a:t>
            </a:r>
            <a:r>
              <a:rPr lang="en-US" sz="1600" b="1" dirty="0" err="1" smtClean="0">
                <a:latin typeface="Calibri" panose="020F0502020204030204" pitchFamily="34" charset="0"/>
                <a:cs typeface="Calibri" panose="020F0502020204030204" pitchFamily="34" charset="0"/>
              </a:rPr>
              <a:t>SelectFromModel</a:t>
            </a:r>
            <a:r>
              <a:rPr lang="en-US" sz="1600" b="1" dirty="0" smtClean="0">
                <a:latin typeface="Calibri" panose="020F0502020204030204" pitchFamily="34" charset="0"/>
                <a:cs typeface="Calibri" panose="020F0502020204030204" pitchFamily="34" charset="0"/>
              </a:rPr>
              <a:t>”: </a:t>
            </a:r>
            <a:r>
              <a:rPr lang="en-US" sz="1600" dirty="0" smtClean="0">
                <a:latin typeface="Calibri" panose="020F0502020204030204" pitchFamily="34" charset="0"/>
                <a:cs typeface="Calibri" panose="020F0502020204030204" pitchFamily="34" charset="0"/>
              </a:rPr>
              <a:t>selects the set of features whose score, attributed by a given classification algorithm, is higher than a specific threshold</a:t>
            </a:r>
            <a:endParaRPr lang="en-US" sz="1400" dirty="0" smtClean="0">
              <a:latin typeface="Calibri" panose="020F0502020204030204" pitchFamily="34" charset="0"/>
              <a:cs typeface="Calibri" panose="020F0502020204030204" pitchFamily="34" charset="0"/>
            </a:endParaRPr>
          </a:p>
        </p:txBody>
      </p:sp>
      <p:pic>
        <p:nvPicPr>
          <p:cNvPr id="8" name="Imagem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956376" y="6345324"/>
            <a:ext cx="801197" cy="432048"/>
          </a:xfrm>
          <a:prstGeom prst="rect">
            <a:avLst/>
          </a:prstGeom>
        </p:spPr>
      </p:pic>
    </p:spTree>
    <p:extLst>
      <p:ext uri="{BB962C8B-B14F-4D97-AF65-F5344CB8AC3E}">
        <p14:creationId xmlns:p14="http://schemas.microsoft.com/office/powerpoint/2010/main" val="120257998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Posição do Número do Diapositivo 2"/>
          <p:cNvSpPr>
            <a:spLocks noGrp="1"/>
          </p:cNvSpPr>
          <p:nvPr>
            <p:ph type="sldNum" sz="quarter" idx="11"/>
          </p:nvPr>
        </p:nvSpPr>
        <p:spPr/>
        <p:txBody>
          <a:bodyPr/>
          <a:lstStyle/>
          <a:p>
            <a:pPr algn="r"/>
            <a:fld id="{D4C49B74-5DB2-4B03-B1D2-7F6A3C51C318}" type="slidenum">
              <a:rPr lang="pt-PT" smtClean="0"/>
              <a:pPr algn="r"/>
              <a:t>11</a:t>
            </a:fld>
            <a:endParaRPr lang="pt-PT" dirty="0"/>
          </a:p>
        </p:txBody>
      </p:sp>
      <p:sp>
        <p:nvSpPr>
          <p:cNvPr id="5" name="Title 3"/>
          <p:cNvSpPr>
            <a:spLocks noGrp="1"/>
          </p:cNvSpPr>
          <p:nvPr>
            <p:ph type="title"/>
          </p:nvPr>
        </p:nvSpPr>
        <p:spPr>
          <a:xfrm>
            <a:off x="2483768" y="1"/>
            <a:ext cx="4680520" cy="908719"/>
          </a:xfrm>
        </p:spPr>
        <p:txBody>
          <a:bodyPr/>
          <a:lstStyle/>
          <a:p>
            <a:pPr algn="ctr"/>
            <a:r>
              <a:rPr lang="en-US" b="1" dirty="0" smtClean="0">
                <a:latin typeface="Calibri" panose="020F0502020204030204" pitchFamily="34" charset="0"/>
                <a:cs typeface="Calibri" panose="020F0502020204030204" pitchFamily="34" charset="0"/>
              </a:rPr>
              <a:t>Building a SVM Classifier</a:t>
            </a:r>
            <a:br>
              <a:rPr lang="en-US" b="1" dirty="0" smtClean="0">
                <a:latin typeface="Calibri" panose="020F0502020204030204" pitchFamily="34" charset="0"/>
                <a:cs typeface="Calibri" panose="020F0502020204030204" pitchFamily="34" charset="0"/>
              </a:rPr>
            </a:br>
            <a:r>
              <a:rPr lang="en-US" sz="2000" b="1" dirty="0" smtClean="0">
                <a:latin typeface="Calibri" panose="020F0502020204030204" pitchFamily="34" charset="0"/>
                <a:cs typeface="Calibri" panose="020F0502020204030204" pitchFamily="34" charset="0"/>
              </a:rPr>
              <a:t>Feature Selection</a:t>
            </a:r>
            <a:endParaRPr lang="en-US" b="1" dirty="0">
              <a:latin typeface="Calibri" panose="020F0502020204030204" pitchFamily="34" charset="0"/>
              <a:cs typeface="Calibri" panose="020F0502020204030204" pitchFamily="34" charset="0"/>
            </a:endParaRPr>
          </a:p>
        </p:txBody>
      </p:sp>
      <p:sp>
        <p:nvSpPr>
          <p:cNvPr id="6" name="Text Placeholder 1"/>
          <p:cNvSpPr>
            <a:spLocks noGrp="1"/>
          </p:cNvSpPr>
          <p:nvPr>
            <p:ph type="body" idx="1"/>
          </p:nvPr>
        </p:nvSpPr>
        <p:spPr>
          <a:xfrm>
            <a:off x="323528" y="1242422"/>
            <a:ext cx="8568952" cy="1102446"/>
          </a:xfrm>
        </p:spPr>
        <p:txBody>
          <a:bodyPr>
            <a:normAutofit/>
          </a:bodyPr>
          <a:lstStyle/>
          <a:p>
            <a:pPr>
              <a:buSzPct val="70000"/>
            </a:pPr>
            <a:r>
              <a:rPr lang="en-US" sz="1800" dirty="0" smtClean="0">
                <a:latin typeface="Calibri" panose="020F0502020204030204" pitchFamily="34" charset="0"/>
                <a:cs typeface="Calibri" panose="020F0502020204030204" pitchFamily="34" charset="0"/>
              </a:rPr>
              <a:t>The “digits_short.csv” dataset is composed by 783 features</a:t>
            </a:r>
          </a:p>
          <a:p>
            <a:pPr lvl="1">
              <a:buSzPct val="70000"/>
            </a:pPr>
            <a:r>
              <a:rPr lang="en-US" sz="1600" dirty="0" smtClean="0">
                <a:latin typeface="Calibri" panose="020F0502020204030204" pitchFamily="34" charset="0"/>
                <a:cs typeface="Calibri" panose="020F0502020204030204" pitchFamily="34" charset="0"/>
              </a:rPr>
              <a:t>Some of them assume the same value during the entire dataset</a:t>
            </a:r>
          </a:p>
          <a:p>
            <a:pPr marL="457200" lvl="1" indent="0">
              <a:buSzPct val="70000"/>
              <a:buNone/>
            </a:pPr>
            <a:endParaRPr lang="en-US" sz="800" dirty="0">
              <a:latin typeface="Calibri" panose="020F0502020204030204" pitchFamily="34" charset="0"/>
              <a:cs typeface="Calibri" panose="020F0502020204030204" pitchFamily="34" charset="0"/>
            </a:endParaRPr>
          </a:p>
          <a:p>
            <a:pPr>
              <a:buSzPct val="70000"/>
            </a:pPr>
            <a:r>
              <a:rPr lang="en-US" sz="1800" b="1" dirty="0" smtClean="0">
                <a:latin typeface="Calibri" panose="020F0502020204030204" pitchFamily="34" charset="0"/>
                <a:cs typeface="Calibri" panose="020F0502020204030204" pitchFamily="34" charset="0"/>
              </a:rPr>
              <a:t>Removing features with null-variance</a:t>
            </a:r>
            <a:r>
              <a:rPr lang="en-US" sz="1800" dirty="0" smtClean="0">
                <a:latin typeface="Calibri" panose="020F0502020204030204" pitchFamily="34" charset="0"/>
                <a:cs typeface="Calibri" panose="020F0502020204030204" pitchFamily="34" charset="0"/>
              </a:rPr>
              <a:t>…</a:t>
            </a:r>
          </a:p>
          <a:p>
            <a:pPr lvl="1">
              <a:buSzPct val="70000"/>
            </a:pPr>
            <a:endParaRPr lang="en-US" sz="1600" dirty="0">
              <a:latin typeface="Calibri" panose="020F0502020204030204" pitchFamily="34" charset="0"/>
              <a:cs typeface="Calibri" panose="020F0502020204030204" pitchFamily="34" charset="0"/>
            </a:endParaRPr>
          </a:p>
          <a:p>
            <a:pPr lvl="1">
              <a:buSzPct val="70000"/>
            </a:pPr>
            <a:endParaRPr lang="en-US" sz="1600" dirty="0" smtClean="0">
              <a:latin typeface="Calibri" panose="020F0502020204030204" pitchFamily="34" charset="0"/>
              <a:cs typeface="Calibri" panose="020F0502020204030204" pitchFamily="34" charset="0"/>
            </a:endParaRPr>
          </a:p>
          <a:p>
            <a:pPr>
              <a:buSzPct val="70000"/>
            </a:pPr>
            <a:endParaRPr lang="en-US" sz="1800" dirty="0" smtClean="0">
              <a:latin typeface="Calibri" panose="020F0502020204030204" pitchFamily="34" charset="0"/>
              <a:cs typeface="Calibri" panose="020F0502020204030204" pitchFamily="34" charset="0"/>
            </a:endParaRPr>
          </a:p>
          <a:p>
            <a:pPr>
              <a:buSzPct val="70000"/>
            </a:pPr>
            <a:endParaRPr lang="en-US" sz="1800" dirty="0">
              <a:latin typeface="Calibri" panose="020F0502020204030204" pitchFamily="34" charset="0"/>
              <a:cs typeface="Calibri" panose="020F0502020204030204" pitchFamily="34" charset="0"/>
            </a:endParaRPr>
          </a:p>
          <a:p>
            <a:pPr>
              <a:buSzPct val="70000"/>
            </a:pPr>
            <a:endParaRPr lang="en-US" sz="1800" dirty="0" smtClean="0">
              <a:latin typeface="Calibri" panose="020F0502020204030204" pitchFamily="34" charset="0"/>
              <a:cs typeface="Calibri" panose="020F0502020204030204" pitchFamily="34" charset="0"/>
            </a:endParaRPr>
          </a:p>
          <a:p>
            <a:pPr>
              <a:buSzPct val="70000"/>
            </a:pPr>
            <a:endParaRPr lang="en-US" sz="1800" dirty="0">
              <a:latin typeface="Calibri" panose="020F0502020204030204" pitchFamily="34" charset="0"/>
              <a:cs typeface="Calibri" panose="020F0502020204030204" pitchFamily="34" charset="0"/>
            </a:endParaRPr>
          </a:p>
          <a:p>
            <a:pPr>
              <a:buSzPct val="70000"/>
            </a:pPr>
            <a:endParaRPr lang="en-US" sz="1800" dirty="0">
              <a:latin typeface="Calibri" panose="020F0502020204030204" pitchFamily="34" charset="0"/>
              <a:cs typeface="Calibri" panose="020F0502020204030204" pitchFamily="34" charset="0"/>
            </a:endParaRPr>
          </a:p>
        </p:txBody>
      </p:sp>
      <p:pic>
        <p:nvPicPr>
          <p:cNvPr id="7" name="Imagem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5551" y="2306441"/>
            <a:ext cx="7744906" cy="1476581"/>
          </a:xfrm>
          <a:prstGeom prst="rect">
            <a:avLst/>
          </a:prstGeom>
          <a:ln w="3175">
            <a:solidFill>
              <a:schemeClr val="tx1"/>
            </a:solidFill>
          </a:ln>
        </p:spPr>
      </p:pic>
      <p:sp>
        <p:nvSpPr>
          <p:cNvPr id="9" name="Text Placeholder 1"/>
          <p:cNvSpPr txBox="1">
            <a:spLocks/>
          </p:cNvSpPr>
          <p:nvPr/>
        </p:nvSpPr>
        <p:spPr>
          <a:xfrm>
            <a:off x="325731" y="3931441"/>
            <a:ext cx="8568952" cy="873345"/>
          </a:xfrm>
          <a:prstGeom prst="rect">
            <a:avLst/>
          </a:prstGeom>
        </p:spPr>
        <p:txBody>
          <a:bodyPr>
            <a:normAutofit/>
          </a:bodyPr>
          <a:lstStyle>
            <a:defPPr>
              <a:defRPr lang="pt-PT">
                <a:solidFill>
                  <a:schemeClr val="tx1"/>
                </a:solidFill>
                <a:latin typeface="+mn-lt"/>
                <a:ea typeface="+mn-ea"/>
                <a:cs typeface="+mn-cs"/>
              </a:defRPr>
            </a:defPPr>
            <a:lvl1pPr marL="342900" indent="-342900" eaLnBrk="1" latinLnBrk="0" hangingPunct="1">
              <a:buChar char="•"/>
              <a:defRPr lang="pt-PT" sz="2400">
                <a:solidFill>
                  <a:srgbClr val="373E48"/>
                </a:solidFill>
                <a:latin typeface="Arial" panose="020B0604020202020204" pitchFamily="34" charset="0"/>
                <a:cs typeface="Arial" panose="020B0604020202020204" pitchFamily="34" charset="0"/>
              </a:defRPr>
            </a:lvl1pPr>
            <a:lvl2pPr marL="742950" indent="-285750" eaLnBrk="1" hangingPunct="1">
              <a:buChar char="–"/>
              <a:defRPr lang="en-US" sz="2000">
                <a:solidFill>
                  <a:schemeClr val="tx2"/>
                </a:solidFill>
                <a:latin typeface="Arial" panose="020B0604020202020204" pitchFamily="34" charset="0"/>
                <a:cs typeface="Arial" panose="020B0604020202020204" pitchFamily="34" charset="0"/>
              </a:defRPr>
            </a:lvl2pPr>
            <a:lvl3pPr marL="1143000" indent="-228600" eaLnBrk="1" hangingPunct="1">
              <a:buChar char="•"/>
              <a:defRPr lang="pt-PT" sz="2000">
                <a:solidFill>
                  <a:srgbClr val="373E48"/>
                </a:solidFill>
                <a:latin typeface="Arial" panose="020B0604020202020204" pitchFamily="34" charset="0"/>
                <a:cs typeface="Arial" panose="020B0604020202020204" pitchFamily="34" charset="0"/>
              </a:defRPr>
            </a:lvl3pPr>
            <a:lvl4pPr marL="1600200" indent="-228600" eaLnBrk="1" hangingPunct="1">
              <a:buChar char="–"/>
              <a:defRPr lang="pt-PT" sz="1800">
                <a:latin typeface="Arial" panose="020B0604020202020204" pitchFamily="34" charset="0"/>
                <a:cs typeface="Arial" panose="020B0604020202020204" pitchFamily="34" charset="0"/>
              </a:defRPr>
            </a:lvl4pPr>
            <a:lvl5pPr marL="2057400" indent="-228600" eaLnBrk="1" hangingPunct="1">
              <a:buChar char="»"/>
              <a:defRPr lang="pt-PT" sz="1800">
                <a:latin typeface="Arial" panose="020B0604020202020204" pitchFamily="34" charset="0"/>
                <a:cs typeface="Arial" panose="020B0604020202020204" pitchFamily="34" charset="0"/>
              </a:defRPr>
            </a:lvl5pPr>
            <a:lvl6pPr marL="2514600" indent="-228600" eaLnBrk="1" hangingPunct="1">
              <a:buChar char="•"/>
              <a:defRPr lang="pt-PT" sz="2000"/>
            </a:lvl6pPr>
            <a:lvl7pPr marL="2971800" indent="-228600" eaLnBrk="1" hangingPunct="1">
              <a:buChar char="•"/>
              <a:defRPr lang="pt-PT" sz="2000"/>
            </a:lvl7pPr>
            <a:lvl8pPr marL="3429000" indent="-228600" eaLnBrk="1" hangingPunct="1">
              <a:buChar char="•"/>
              <a:defRPr lang="pt-PT" sz="2000"/>
            </a:lvl8pPr>
            <a:lvl9pPr marL="3886200" indent="-228600" eaLnBrk="1" hangingPunct="1">
              <a:buChar char="•"/>
              <a:defRPr lang="pt-PT" sz="2000"/>
            </a:lvl9pPr>
          </a:lstStyle>
          <a:p>
            <a:pPr>
              <a:buSzPct val="70000"/>
            </a:pPr>
            <a:r>
              <a:rPr lang="en-US" sz="1800" b="1" kern="0" dirty="0" smtClean="0">
                <a:latin typeface="Calibri" panose="020F0502020204030204" pitchFamily="34" charset="0"/>
                <a:cs typeface="Calibri" panose="020F0502020204030204" pitchFamily="34" charset="0"/>
              </a:rPr>
              <a:t>Selec</a:t>
            </a:r>
            <a:r>
              <a:rPr lang="en-US" sz="1600" b="1" kern="0" dirty="0" smtClean="0">
                <a:latin typeface="Calibri" panose="020F0502020204030204" pitchFamily="34" charset="0"/>
                <a:cs typeface="Calibri" panose="020F0502020204030204" pitchFamily="34" charset="0"/>
              </a:rPr>
              <a:t>ting the best 500 features according to the ANNOVA F-value</a:t>
            </a:r>
            <a:r>
              <a:rPr lang="en-US" sz="1600" kern="0" dirty="0" smtClean="0">
                <a:latin typeface="Calibri" panose="020F0502020204030204" pitchFamily="34" charset="0"/>
                <a:cs typeface="Calibri" panose="020F0502020204030204" pitchFamily="34" charset="0"/>
              </a:rPr>
              <a:t>…</a:t>
            </a:r>
          </a:p>
          <a:p>
            <a:pPr lvl="1">
              <a:buSzPct val="70000"/>
            </a:pPr>
            <a:r>
              <a:rPr lang="en-US" sz="1600" dirty="0">
                <a:latin typeface="Calibri" panose="020F0502020204030204" pitchFamily="34" charset="0"/>
                <a:cs typeface="Calibri" panose="020F0502020204030204" pitchFamily="34" charset="0"/>
              </a:rPr>
              <a:t>The methods based on F-test estimate the degree of linear dependency between two random </a:t>
            </a:r>
            <a:r>
              <a:rPr lang="en-US" sz="1600" dirty="0" smtClean="0">
                <a:latin typeface="Calibri" panose="020F0502020204030204" pitchFamily="34" charset="0"/>
                <a:cs typeface="Calibri" panose="020F0502020204030204" pitchFamily="34" charset="0"/>
              </a:rPr>
              <a:t>variables</a:t>
            </a:r>
            <a:endParaRPr lang="en-US" sz="1600" kern="0" dirty="0" smtClean="0">
              <a:latin typeface="Calibri" panose="020F0502020204030204" pitchFamily="34" charset="0"/>
              <a:cs typeface="Calibri" panose="020F0502020204030204" pitchFamily="34" charset="0"/>
            </a:endParaRPr>
          </a:p>
          <a:p>
            <a:pPr lvl="1">
              <a:buSzPct val="70000"/>
            </a:pPr>
            <a:endParaRPr lang="en-US" sz="1600" kern="0" dirty="0" smtClean="0">
              <a:latin typeface="Calibri" panose="020F0502020204030204" pitchFamily="34" charset="0"/>
              <a:cs typeface="Calibri" panose="020F0502020204030204" pitchFamily="34" charset="0"/>
            </a:endParaRPr>
          </a:p>
          <a:p>
            <a:pPr>
              <a:buSzPct val="70000"/>
            </a:pPr>
            <a:endParaRPr lang="en-US" sz="1800" kern="0" dirty="0" smtClean="0">
              <a:latin typeface="Calibri" panose="020F0502020204030204" pitchFamily="34" charset="0"/>
              <a:cs typeface="Calibri" panose="020F0502020204030204" pitchFamily="34" charset="0"/>
            </a:endParaRPr>
          </a:p>
          <a:p>
            <a:pPr>
              <a:buSzPct val="70000"/>
            </a:pPr>
            <a:endParaRPr lang="en-US" sz="1800" kern="0" dirty="0" smtClean="0">
              <a:latin typeface="Calibri" panose="020F0502020204030204" pitchFamily="34" charset="0"/>
              <a:cs typeface="Calibri" panose="020F0502020204030204" pitchFamily="34" charset="0"/>
            </a:endParaRPr>
          </a:p>
          <a:p>
            <a:pPr>
              <a:buSzPct val="70000"/>
            </a:pPr>
            <a:endParaRPr lang="en-US" sz="1800" kern="0" dirty="0" smtClean="0">
              <a:latin typeface="Calibri" panose="020F0502020204030204" pitchFamily="34" charset="0"/>
              <a:cs typeface="Calibri" panose="020F0502020204030204" pitchFamily="34" charset="0"/>
            </a:endParaRPr>
          </a:p>
          <a:p>
            <a:pPr>
              <a:buSzPct val="70000"/>
            </a:pPr>
            <a:endParaRPr lang="en-US" sz="1800" kern="0" dirty="0" smtClean="0">
              <a:latin typeface="Calibri" panose="020F0502020204030204" pitchFamily="34" charset="0"/>
              <a:cs typeface="Calibri" panose="020F0502020204030204" pitchFamily="34" charset="0"/>
            </a:endParaRPr>
          </a:p>
          <a:p>
            <a:pPr>
              <a:buSzPct val="70000"/>
            </a:pPr>
            <a:endParaRPr lang="en-US" sz="1800" kern="0" dirty="0">
              <a:latin typeface="Calibri" panose="020F0502020204030204" pitchFamily="34" charset="0"/>
              <a:cs typeface="Calibri" panose="020F0502020204030204" pitchFamily="34" charset="0"/>
            </a:endParaRPr>
          </a:p>
        </p:txBody>
      </p:sp>
      <p:pic>
        <p:nvPicPr>
          <p:cNvPr id="11" name="Imagem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5551" y="4801798"/>
            <a:ext cx="7744906" cy="1619048"/>
          </a:xfrm>
          <a:prstGeom prst="rect">
            <a:avLst/>
          </a:prstGeom>
          <a:ln w="3175">
            <a:solidFill>
              <a:schemeClr val="tx1"/>
            </a:solidFill>
          </a:ln>
        </p:spPr>
      </p:pic>
      <p:pic>
        <p:nvPicPr>
          <p:cNvPr id="12" name="Imagem 1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956376" y="6345324"/>
            <a:ext cx="801197" cy="432048"/>
          </a:xfrm>
          <a:prstGeom prst="rect">
            <a:avLst/>
          </a:prstGeom>
        </p:spPr>
      </p:pic>
    </p:spTree>
    <p:extLst>
      <p:ext uri="{BB962C8B-B14F-4D97-AF65-F5344CB8AC3E}">
        <p14:creationId xmlns:p14="http://schemas.microsoft.com/office/powerpoint/2010/main" val="395461958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Posição do Número do Diapositivo 2"/>
          <p:cNvSpPr>
            <a:spLocks noGrp="1"/>
          </p:cNvSpPr>
          <p:nvPr>
            <p:ph type="sldNum" sz="quarter" idx="11"/>
          </p:nvPr>
        </p:nvSpPr>
        <p:spPr/>
        <p:txBody>
          <a:bodyPr/>
          <a:lstStyle/>
          <a:p>
            <a:pPr algn="r"/>
            <a:fld id="{D4C49B74-5DB2-4B03-B1D2-7F6A3C51C318}" type="slidenum">
              <a:rPr lang="pt-PT" smtClean="0"/>
              <a:pPr algn="r"/>
              <a:t>12</a:t>
            </a:fld>
            <a:endParaRPr lang="pt-PT" dirty="0"/>
          </a:p>
        </p:txBody>
      </p:sp>
      <p:sp>
        <p:nvSpPr>
          <p:cNvPr id="5" name="Title 3"/>
          <p:cNvSpPr>
            <a:spLocks noGrp="1"/>
          </p:cNvSpPr>
          <p:nvPr>
            <p:ph type="title"/>
          </p:nvPr>
        </p:nvSpPr>
        <p:spPr>
          <a:xfrm>
            <a:off x="2483768" y="1"/>
            <a:ext cx="4680520" cy="908719"/>
          </a:xfrm>
        </p:spPr>
        <p:txBody>
          <a:bodyPr/>
          <a:lstStyle/>
          <a:p>
            <a:pPr algn="ctr"/>
            <a:r>
              <a:rPr lang="en-US" b="1" dirty="0" smtClean="0">
                <a:latin typeface="Calibri" panose="020F0502020204030204" pitchFamily="34" charset="0"/>
                <a:cs typeface="Calibri" panose="020F0502020204030204" pitchFamily="34" charset="0"/>
              </a:rPr>
              <a:t>Building a SVM Classifier</a:t>
            </a:r>
            <a:br>
              <a:rPr lang="en-US" b="1" dirty="0" smtClean="0">
                <a:latin typeface="Calibri" panose="020F0502020204030204" pitchFamily="34" charset="0"/>
                <a:cs typeface="Calibri" panose="020F0502020204030204" pitchFamily="34" charset="0"/>
              </a:rPr>
            </a:br>
            <a:r>
              <a:rPr lang="en-US" sz="2000" b="1" dirty="0" smtClean="0">
                <a:latin typeface="Calibri" panose="020F0502020204030204" pitchFamily="34" charset="0"/>
                <a:cs typeface="Calibri" panose="020F0502020204030204" pitchFamily="34" charset="0"/>
              </a:rPr>
              <a:t>Hyper-Parameter Tuning</a:t>
            </a:r>
            <a:endParaRPr lang="en-US" b="1" dirty="0">
              <a:latin typeface="Calibri" panose="020F0502020204030204" pitchFamily="34" charset="0"/>
              <a:cs typeface="Calibri" panose="020F0502020204030204" pitchFamily="34" charset="0"/>
            </a:endParaRPr>
          </a:p>
        </p:txBody>
      </p:sp>
      <p:sp>
        <p:nvSpPr>
          <p:cNvPr id="6" name="Text Placeholder 1"/>
          <p:cNvSpPr>
            <a:spLocks noGrp="1"/>
          </p:cNvSpPr>
          <p:nvPr>
            <p:ph type="body" idx="1"/>
          </p:nvPr>
        </p:nvSpPr>
        <p:spPr>
          <a:xfrm>
            <a:off x="323528" y="2132856"/>
            <a:ext cx="8568952" cy="2232248"/>
          </a:xfrm>
        </p:spPr>
        <p:txBody>
          <a:bodyPr>
            <a:normAutofit/>
          </a:bodyPr>
          <a:lstStyle/>
          <a:p>
            <a:pPr>
              <a:buSzPct val="70000"/>
            </a:pPr>
            <a:r>
              <a:rPr lang="en-US" sz="1800" dirty="0" err="1">
                <a:latin typeface="Calibri" panose="020F0502020204030204" pitchFamily="34" charset="0"/>
                <a:cs typeface="Calibri" panose="020F0502020204030204" pitchFamily="34" charset="0"/>
              </a:rPr>
              <a:t>s</a:t>
            </a:r>
            <a:r>
              <a:rPr lang="en-US" sz="1800" dirty="0" err="1" smtClean="0">
                <a:latin typeface="Calibri" panose="020F0502020204030204" pitchFamily="34" charset="0"/>
                <a:cs typeface="Calibri" panose="020F0502020204030204" pitchFamily="34" charset="0"/>
              </a:rPr>
              <a:t>cikit</a:t>
            </a:r>
            <a:r>
              <a:rPr lang="en-US" sz="1800" dirty="0" smtClean="0">
                <a:latin typeface="Calibri" panose="020F0502020204030204" pitchFamily="34" charset="0"/>
                <a:cs typeface="Calibri" panose="020F0502020204030204" pitchFamily="34" charset="0"/>
              </a:rPr>
              <a:t>-learn provides two different approaches to tune hyper-parameters:</a:t>
            </a:r>
          </a:p>
          <a:p>
            <a:pPr lvl="1">
              <a:buSzPct val="70000"/>
            </a:pPr>
            <a:r>
              <a:rPr lang="en-US" sz="1600" b="1" dirty="0">
                <a:latin typeface="Calibri" panose="020F0502020204030204" pitchFamily="34" charset="0"/>
                <a:cs typeface="Calibri" panose="020F0502020204030204" pitchFamily="34" charset="0"/>
              </a:rPr>
              <a:t>Exhaustive Grid </a:t>
            </a:r>
            <a:r>
              <a:rPr lang="en-US" sz="1600" b="1" dirty="0" smtClean="0">
                <a:latin typeface="Calibri" panose="020F0502020204030204" pitchFamily="34" charset="0"/>
                <a:cs typeface="Calibri" panose="020F0502020204030204" pitchFamily="34" charset="0"/>
              </a:rPr>
              <a:t>Search</a:t>
            </a:r>
            <a:r>
              <a:rPr lang="en-US" sz="1600" dirty="0" smtClean="0">
                <a:latin typeface="Calibri" panose="020F0502020204030204" pitchFamily="34" charset="0"/>
                <a:cs typeface="Calibri" panose="020F0502020204030204" pitchFamily="34" charset="0"/>
              </a:rPr>
              <a:t>: exhaustively generates and evaluates classification models for each combination of hyper-parameter values specified in a grid</a:t>
            </a:r>
          </a:p>
          <a:p>
            <a:pPr marL="457200" lvl="1" indent="0">
              <a:buSzPct val="70000"/>
              <a:buNone/>
            </a:pPr>
            <a:endParaRPr lang="en-US" sz="800" dirty="0" smtClean="0">
              <a:latin typeface="Calibri" panose="020F0502020204030204" pitchFamily="34" charset="0"/>
              <a:cs typeface="Calibri" panose="020F0502020204030204" pitchFamily="34" charset="0"/>
            </a:endParaRPr>
          </a:p>
          <a:p>
            <a:pPr lvl="1">
              <a:buSzPct val="70000"/>
            </a:pPr>
            <a:r>
              <a:rPr lang="en-US" sz="1600" b="1" dirty="0" smtClean="0">
                <a:latin typeface="Calibri" panose="020F0502020204030204" pitchFamily="34" charset="0"/>
                <a:cs typeface="Calibri" panose="020F0502020204030204" pitchFamily="34" charset="0"/>
              </a:rPr>
              <a:t>Randomized Parameter Optimization</a:t>
            </a:r>
            <a:r>
              <a:rPr lang="en-US" sz="1600" b="1" dirty="0">
                <a:latin typeface="Calibri" panose="020F0502020204030204" pitchFamily="34" charset="0"/>
                <a:cs typeface="Calibri" panose="020F0502020204030204" pitchFamily="34" charset="0"/>
              </a:rPr>
              <a:t>: </a:t>
            </a:r>
            <a:r>
              <a:rPr lang="en-US" sz="1600" dirty="0">
                <a:latin typeface="Calibri" panose="020F0502020204030204" pitchFamily="34" charset="0"/>
                <a:cs typeface="Calibri" panose="020F0502020204030204" pitchFamily="34" charset="0"/>
              </a:rPr>
              <a:t>implements a randomized search over </a:t>
            </a:r>
            <a:r>
              <a:rPr lang="en-US" sz="1600" dirty="0" smtClean="0">
                <a:latin typeface="Calibri" panose="020F0502020204030204" pitchFamily="34" charset="0"/>
                <a:cs typeface="Calibri" panose="020F0502020204030204" pitchFamily="34" charset="0"/>
              </a:rPr>
              <a:t>hyper-parameters</a:t>
            </a:r>
            <a:r>
              <a:rPr lang="en-US" sz="1600" dirty="0">
                <a:latin typeface="Calibri" panose="020F0502020204030204" pitchFamily="34" charset="0"/>
                <a:cs typeface="Calibri" panose="020F0502020204030204" pitchFamily="34" charset="0"/>
              </a:rPr>
              <a:t>, where each setting is sampled from a distribution over possible </a:t>
            </a:r>
            <a:r>
              <a:rPr lang="en-US" sz="1600" dirty="0" smtClean="0">
                <a:latin typeface="Calibri" panose="020F0502020204030204" pitchFamily="34" charset="0"/>
                <a:cs typeface="Calibri" panose="020F0502020204030204" pitchFamily="34" charset="0"/>
              </a:rPr>
              <a:t>hyper-parameter values</a:t>
            </a:r>
          </a:p>
        </p:txBody>
      </p:sp>
      <p:pic>
        <p:nvPicPr>
          <p:cNvPr id="8" name="Imagem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956376" y="6345324"/>
            <a:ext cx="801197" cy="432048"/>
          </a:xfrm>
          <a:prstGeom prst="rect">
            <a:avLst/>
          </a:prstGeom>
        </p:spPr>
      </p:pic>
    </p:spTree>
    <p:extLst>
      <p:ext uri="{BB962C8B-B14F-4D97-AF65-F5344CB8AC3E}">
        <p14:creationId xmlns:p14="http://schemas.microsoft.com/office/powerpoint/2010/main" val="416022645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m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24301" y="3833963"/>
            <a:ext cx="6819117" cy="2935328"/>
          </a:xfrm>
          <a:prstGeom prst="rect">
            <a:avLst/>
          </a:prstGeom>
          <a:ln w="3175">
            <a:solidFill>
              <a:schemeClr val="tx1"/>
            </a:solidFill>
          </a:ln>
        </p:spPr>
      </p:pic>
      <p:sp>
        <p:nvSpPr>
          <p:cNvPr id="3" name="Marcador de Posição do Número do Diapositivo 2"/>
          <p:cNvSpPr>
            <a:spLocks noGrp="1"/>
          </p:cNvSpPr>
          <p:nvPr>
            <p:ph type="sldNum" sz="quarter" idx="11"/>
          </p:nvPr>
        </p:nvSpPr>
        <p:spPr/>
        <p:txBody>
          <a:bodyPr/>
          <a:lstStyle/>
          <a:p>
            <a:pPr algn="r"/>
            <a:fld id="{D4C49B74-5DB2-4B03-B1D2-7F6A3C51C318}" type="slidenum">
              <a:rPr lang="pt-PT" smtClean="0"/>
              <a:pPr algn="r"/>
              <a:t>13</a:t>
            </a:fld>
            <a:endParaRPr lang="pt-PT" dirty="0"/>
          </a:p>
        </p:txBody>
      </p:sp>
      <p:sp>
        <p:nvSpPr>
          <p:cNvPr id="5" name="Title 3"/>
          <p:cNvSpPr>
            <a:spLocks noGrp="1"/>
          </p:cNvSpPr>
          <p:nvPr>
            <p:ph type="title"/>
          </p:nvPr>
        </p:nvSpPr>
        <p:spPr>
          <a:xfrm>
            <a:off x="2483768" y="1"/>
            <a:ext cx="4680520" cy="908719"/>
          </a:xfrm>
        </p:spPr>
        <p:txBody>
          <a:bodyPr/>
          <a:lstStyle/>
          <a:p>
            <a:pPr algn="ctr"/>
            <a:r>
              <a:rPr lang="en-US" b="1" dirty="0" smtClean="0">
                <a:latin typeface="Calibri" panose="020F0502020204030204" pitchFamily="34" charset="0"/>
                <a:cs typeface="Calibri" panose="020F0502020204030204" pitchFamily="34" charset="0"/>
              </a:rPr>
              <a:t>Building a SVM Classifier</a:t>
            </a:r>
            <a:br>
              <a:rPr lang="en-US" b="1" dirty="0" smtClean="0">
                <a:latin typeface="Calibri" panose="020F0502020204030204" pitchFamily="34" charset="0"/>
                <a:cs typeface="Calibri" panose="020F0502020204030204" pitchFamily="34" charset="0"/>
              </a:rPr>
            </a:br>
            <a:r>
              <a:rPr lang="en-US" sz="2000" b="1" dirty="0" smtClean="0">
                <a:latin typeface="Calibri" panose="020F0502020204030204" pitchFamily="34" charset="0"/>
                <a:cs typeface="Calibri" panose="020F0502020204030204" pitchFamily="34" charset="0"/>
              </a:rPr>
              <a:t>Hyper-Parameter Tuning</a:t>
            </a:r>
            <a:endParaRPr lang="en-US" b="1" dirty="0">
              <a:latin typeface="Calibri" panose="020F0502020204030204" pitchFamily="34" charset="0"/>
              <a:cs typeface="Calibri" panose="020F0502020204030204" pitchFamily="34" charset="0"/>
            </a:endParaRPr>
          </a:p>
        </p:txBody>
      </p:sp>
      <p:pic>
        <p:nvPicPr>
          <p:cNvPr id="8" name="Imagem 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956376" y="6345324"/>
            <a:ext cx="801197" cy="432048"/>
          </a:xfrm>
          <a:prstGeom prst="rect">
            <a:avLst/>
          </a:prstGeom>
        </p:spPr>
      </p:pic>
      <p:graphicFrame>
        <p:nvGraphicFramePr>
          <p:cNvPr id="4" name="Tabela 3"/>
          <p:cNvGraphicFramePr>
            <a:graphicFrameLocks noGrp="1"/>
          </p:cNvGraphicFramePr>
          <p:nvPr>
            <p:extLst>
              <p:ext uri="{D42A27DB-BD31-4B8C-83A1-F6EECF244321}">
                <p14:modId xmlns:p14="http://schemas.microsoft.com/office/powerpoint/2010/main" val="3662292836"/>
              </p:ext>
            </p:extLst>
          </p:nvPr>
        </p:nvGraphicFramePr>
        <p:xfrm>
          <a:off x="755576" y="1657566"/>
          <a:ext cx="7756571" cy="2072640"/>
        </p:xfrm>
        <a:graphic>
          <a:graphicData uri="http://schemas.openxmlformats.org/drawingml/2006/table">
            <a:tbl>
              <a:tblPr firstRow="1" bandRow="1"/>
              <a:tblGrid>
                <a:gridCol w="1579874">
                  <a:extLst>
                    <a:ext uri="{9D8B030D-6E8A-4147-A177-3AD203B41FA5}">
                      <a16:colId xmlns:a16="http://schemas.microsoft.com/office/drawing/2014/main" val="2181084847"/>
                    </a:ext>
                  </a:extLst>
                </a:gridCol>
                <a:gridCol w="6176697">
                  <a:extLst>
                    <a:ext uri="{9D8B030D-6E8A-4147-A177-3AD203B41FA5}">
                      <a16:colId xmlns:a16="http://schemas.microsoft.com/office/drawing/2014/main" val="728446888"/>
                    </a:ext>
                  </a:extLst>
                </a:gridCol>
              </a:tblGrid>
              <a:tr h="0">
                <a:tc>
                  <a:txBody>
                    <a:bodyPr/>
                    <a:lstStyle/>
                    <a:p>
                      <a:pPr algn="ctr"/>
                      <a:r>
                        <a:rPr lang="en-US" sz="1600" b="1" dirty="0" smtClean="0">
                          <a:latin typeface="Calibri" panose="020F0502020204030204" pitchFamily="34" charset="0"/>
                          <a:cs typeface="Calibri" panose="020F0502020204030204" pitchFamily="34" charset="0"/>
                        </a:rPr>
                        <a:t>Parameter</a:t>
                      </a:r>
                      <a:endParaRPr lang="en-US" sz="1600" b="1" dirty="0">
                        <a:latin typeface="Calibri" panose="020F0502020204030204" pitchFamily="34" charset="0"/>
                        <a:cs typeface="Calibri" panose="020F0502020204030204" pitchFamily="34" charset="0"/>
                      </a:endParaRPr>
                    </a:p>
                  </a:txBody>
                  <a:tcPr/>
                </a:tc>
                <a:tc>
                  <a:txBody>
                    <a:bodyPr/>
                    <a:lstStyle/>
                    <a:p>
                      <a:pPr algn="ctr"/>
                      <a:r>
                        <a:rPr lang="en-US" sz="1600" b="1" dirty="0" smtClean="0">
                          <a:latin typeface="Calibri" panose="020F0502020204030204" pitchFamily="34" charset="0"/>
                          <a:cs typeface="Calibri" panose="020F0502020204030204" pitchFamily="34" charset="0"/>
                        </a:rPr>
                        <a:t>Description</a:t>
                      </a:r>
                      <a:endParaRPr lang="en-US" sz="1600" b="1" dirty="0">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381817151"/>
                  </a:ext>
                </a:extLst>
              </a:tr>
              <a:tr h="0">
                <a:tc>
                  <a:txBody>
                    <a:bodyPr/>
                    <a:lstStyle/>
                    <a:p>
                      <a:r>
                        <a:rPr lang="en-US" sz="1300" i="1" dirty="0" smtClean="0">
                          <a:latin typeface="Calibri" panose="020F0502020204030204" pitchFamily="34" charset="0"/>
                          <a:cs typeface="Calibri" panose="020F0502020204030204" pitchFamily="34" charset="0"/>
                        </a:rPr>
                        <a:t>estimator</a:t>
                      </a:r>
                      <a:endParaRPr lang="en-US" sz="1300" i="1" dirty="0">
                        <a:latin typeface="Calibri" panose="020F0502020204030204" pitchFamily="34" charset="0"/>
                        <a:cs typeface="Calibri" panose="020F0502020204030204" pitchFamily="34" charset="0"/>
                      </a:endParaRPr>
                    </a:p>
                  </a:txBody>
                  <a:tcPr/>
                </a:tc>
                <a:tc>
                  <a:txBody>
                    <a:bodyPr/>
                    <a:lstStyle/>
                    <a:p>
                      <a:r>
                        <a:rPr lang="en-US" sz="1300" dirty="0" smtClean="0">
                          <a:latin typeface="Calibri" panose="020F0502020204030204" pitchFamily="34" charset="0"/>
                          <a:cs typeface="Calibri" panose="020F0502020204030204" pitchFamily="34" charset="0"/>
                        </a:rPr>
                        <a:t>Instance of a machine learning classifier</a:t>
                      </a:r>
                      <a:endParaRPr lang="en-US" sz="1300" dirty="0">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421632341"/>
                  </a:ext>
                </a:extLst>
              </a:tr>
              <a:tr h="0">
                <a:tc>
                  <a:txBody>
                    <a:bodyPr/>
                    <a:lstStyle/>
                    <a:p>
                      <a:r>
                        <a:rPr lang="en-US" sz="1300" i="1" dirty="0" err="1" smtClean="0">
                          <a:latin typeface="Calibri" panose="020F0502020204030204" pitchFamily="34" charset="0"/>
                          <a:cs typeface="Calibri" panose="020F0502020204030204" pitchFamily="34" charset="0"/>
                        </a:rPr>
                        <a:t>param_grid</a:t>
                      </a:r>
                      <a:endParaRPr lang="en-US" sz="1300" i="1" dirty="0">
                        <a:latin typeface="Calibri" panose="020F0502020204030204" pitchFamily="34" charset="0"/>
                        <a:cs typeface="Calibri" panose="020F0502020204030204" pitchFamily="34" charset="0"/>
                      </a:endParaRPr>
                    </a:p>
                  </a:txBody>
                  <a:tcPr/>
                </a:tc>
                <a:tc>
                  <a:txBody>
                    <a:bodyPr/>
                    <a:lstStyle/>
                    <a:p>
                      <a:r>
                        <a:rPr lang="en-US" sz="1300" dirty="0" smtClean="0">
                          <a:latin typeface="Calibri" panose="020F0502020204030204" pitchFamily="34" charset="0"/>
                          <a:cs typeface="Calibri" panose="020F0502020204030204" pitchFamily="34" charset="0"/>
                        </a:rPr>
                        <a:t>List of dictionaries with parameters name as keys and lists of parameters to try as values</a:t>
                      </a:r>
                      <a:endParaRPr lang="en-US" sz="1300" dirty="0">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934890382"/>
                  </a:ext>
                </a:extLst>
              </a:tr>
              <a:tr h="0">
                <a:tc>
                  <a:txBody>
                    <a:bodyPr/>
                    <a:lstStyle/>
                    <a:p>
                      <a:r>
                        <a:rPr lang="en-US" sz="1300" i="1" dirty="0" smtClean="0">
                          <a:latin typeface="Calibri" panose="020F0502020204030204" pitchFamily="34" charset="0"/>
                          <a:cs typeface="Calibri" panose="020F0502020204030204" pitchFamily="34" charset="0"/>
                        </a:rPr>
                        <a:t>scoring</a:t>
                      </a:r>
                      <a:endParaRPr lang="en-US" sz="1300" i="1" dirty="0">
                        <a:latin typeface="Calibri" panose="020F0502020204030204" pitchFamily="34" charset="0"/>
                        <a:cs typeface="Calibri" panose="020F0502020204030204" pitchFamily="34" charset="0"/>
                      </a:endParaRPr>
                    </a:p>
                  </a:txBody>
                  <a:tcPr/>
                </a:tc>
                <a:tc>
                  <a:txBody>
                    <a:bodyPr/>
                    <a:lstStyle/>
                    <a:p>
                      <a:r>
                        <a:rPr lang="en-US" sz="1300" dirty="0" smtClean="0">
                          <a:latin typeface="Calibri" panose="020F0502020204030204" pitchFamily="34" charset="0"/>
                          <a:cs typeface="Calibri" panose="020F0502020204030204" pitchFamily="34" charset="0"/>
                        </a:rPr>
                        <a:t>Metric</a:t>
                      </a:r>
                      <a:r>
                        <a:rPr lang="en-US" sz="1300" baseline="0" dirty="0" smtClean="0">
                          <a:latin typeface="Calibri" panose="020F0502020204030204" pitchFamily="34" charset="0"/>
                          <a:cs typeface="Calibri" panose="020F0502020204030204" pitchFamily="34" charset="0"/>
                        </a:rPr>
                        <a:t> or list of metrics to be evaluated</a:t>
                      </a:r>
                      <a:endParaRPr lang="en-US" sz="1300" dirty="0">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3075824543"/>
                  </a:ext>
                </a:extLst>
              </a:tr>
              <a:tr h="0">
                <a:tc>
                  <a:txBody>
                    <a:bodyPr/>
                    <a:lstStyle/>
                    <a:p>
                      <a:r>
                        <a:rPr lang="en-US" sz="1300" i="1" dirty="0" err="1" smtClean="0">
                          <a:latin typeface="Calibri" panose="020F0502020204030204" pitchFamily="34" charset="0"/>
                          <a:cs typeface="Calibri" panose="020F0502020204030204" pitchFamily="34" charset="0"/>
                        </a:rPr>
                        <a:t>n_jobs</a:t>
                      </a:r>
                      <a:endParaRPr lang="en-US" sz="1300" i="1" dirty="0">
                        <a:latin typeface="Calibri" panose="020F0502020204030204" pitchFamily="34" charset="0"/>
                        <a:cs typeface="Calibri" panose="020F0502020204030204" pitchFamily="34" charset="0"/>
                      </a:endParaRPr>
                    </a:p>
                  </a:txBody>
                  <a:tcPr/>
                </a:tc>
                <a:tc>
                  <a:txBody>
                    <a:bodyPr/>
                    <a:lstStyle/>
                    <a:p>
                      <a:r>
                        <a:rPr lang="en-US" sz="1300" dirty="0" smtClean="0">
                          <a:latin typeface="Calibri" panose="020F0502020204030204" pitchFamily="34" charset="0"/>
                          <a:cs typeface="Calibri" panose="020F0502020204030204" pitchFamily="34" charset="0"/>
                        </a:rPr>
                        <a:t>Number</a:t>
                      </a:r>
                      <a:r>
                        <a:rPr lang="en-US" sz="1300" baseline="0" dirty="0" smtClean="0">
                          <a:latin typeface="Calibri" panose="020F0502020204030204" pitchFamily="34" charset="0"/>
                          <a:cs typeface="Calibri" panose="020F0502020204030204" pitchFamily="34" charset="0"/>
                        </a:rPr>
                        <a:t> of jobs to run in parallel</a:t>
                      </a:r>
                      <a:endParaRPr lang="en-US" sz="1300" dirty="0">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1552118241"/>
                  </a:ext>
                </a:extLst>
              </a:tr>
              <a:tr h="0">
                <a:tc>
                  <a:txBody>
                    <a:bodyPr/>
                    <a:lstStyle/>
                    <a:p>
                      <a:r>
                        <a:rPr lang="en-US" sz="1300" i="1" dirty="0" err="1" smtClean="0">
                          <a:latin typeface="Calibri" panose="020F0502020204030204" pitchFamily="34" charset="0"/>
                          <a:cs typeface="Calibri" panose="020F0502020204030204" pitchFamily="34" charset="0"/>
                        </a:rPr>
                        <a:t>pre_dispatch</a:t>
                      </a:r>
                      <a:endParaRPr lang="en-US" sz="1300" i="1" dirty="0">
                        <a:latin typeface="Calibri" panose="020F0502020204030204" pitchFamily="34" charset="0"/>
                        <a:cs typeface="Calibri" panose="020F0502020204030204" pitchFamily="34" charset="0"/>
                      </a:endParaRPr>
                    </a:p>
                  </a:txBody>
                  <a:tcPr/>
                </a:tc>
                <a:tc>
                  <a:txBody>
                    <a:bodyPr/>
                    <a:lstStyle/>
                    <a:p>
                      <a:r>
                        <a:rPr lang="en-US" sz="1300" dirty="0" smtClean="0">
                          <a:latin typeface="Calibri" panose="020F0502020204030204" pitchFamily="34" charset="0"/>
                          <a:cs typeface="Calibri" panose="020F0502020204030204" pitchFamily="34" charset="0"/>
                        </a:rPr>
                        <a:t>Controls the number of jobs that get dispatched during parallel execution</a:t>
                      </a:r>
                      <a:endParaRPr lang="en-US" sz="1300" dirty="0">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3343447861"/>
                  </a:ext>
                </a:extLst>
              </a:tr>
              <a:tr h="0">
                <a:tc>
                  <a:txBody>
                    <a:bodyPr/>
                    <a:lstStyle/>
                    <a:p>
                      <a:r>
                        <a:rPr lang="en-US" sz="1300" i="1" dirty="0" smtClean="0">
                          <a:latin typeface="Calibri" panose="020F0502020204030204" pitchFamily="34" charset="0"/>
                          <a:cs typeface="Calibri" panose="020F0502020204030204" pitchFamily="34" charset="0"/>
                        </a:rPr>
                        <a:t>cv</a:t>
                      </a:r>
                      <a:endParaRPr lang="en-US" sz="1300" i="1" dirty="0">
                        <a:latin typeface="Calibri" panose="020F0502020204030204" pitchFamily="34" charset="0"/>
                        <a:cs typeface="Calibri" panose="020F0502020204030204" pitchFamily="34" charset="0"/>
                      </a:endParaRPr>
                    </a:p>
                  </a:txBody>
                  <a:tcPr/>
                </a:tc>
                <a:tc>
                  <a:txBody>
                    <a:bodyPr/>
                    <a:lstStyle/>
                    <a:p>
                      <a:r>
                        <a:rPr lang="en-US" sz="1300" dirty="0" smtClean="0">
                          <a:latin typeface="Calibri" panose="020F0502020204030204" pitchFamily="34" charset="0"/>
                          <a:cs typeface="Calibri" panose="020F0502020204030204" pitchFamily="34" charset="0"/>
                        </a:rPr>
                        <a:t>Determines the cross-validation splitting strategy</a:t>
                      </a:r>
                      <a:endParaRPr lang="en-US" sz="1300" dirty="0">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608017494"/>
                  </a:ext>
                </a:extLst>
              </a:tr>
            </a:tbl>
          </a:graphicData>
        </a:graphic>
      </p:graphicFrame>
      <p:sp>
        <p:nvSpPr>
          <p:cNvPr id="10" name="Retângulo arredondado 9"/>
          <p:cNvSpPr/>
          <p:nvPr/>
        </p:nvSpPr>
        <p:spPr bwMode="auto">
          <a:xfrm>
            <a:off x="313380" y="1023023"/>
            <a:ext cx="8640960" cy="454523"/>
          </a:xfrm>
          <a:prstGeom prst="roundRect">
            <a:avLst/>
          </a:prstGeom>
          <a:solidFill>
            <a:schemeClr val="accent5">
              <a:lumMod val="60000"/>
              <a:lumOff val="40000"/>
            </a:schemeClr>
          </a:solidFill>
          <a:ln w="28575" cap="flat" cmpd="sng" algn="ctr">
            <a:solidFill>
              <a:srgbClr val="FFFFFF"/>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eaLnBrk="0" fontAlgn="base" hangingPunct="0">
              <a:spcBef>
                <a:spcPct val="0"/>
              </a:spcBef>
              <a:spcAft>
                <a:spcPct val="0"/>
              </a:spcAft>
            </a:pPr>
            <a:r>
              <a:rPr lang="en-US" sz="2000" i="1" dirty="0" smtClean="0">
                <a:latin typeface="Calibri" panose="020F0502020204030204" pitchFamily="34" charset="0"/>
                <a:cs typeface="Calibri" panose="020F0502020204030204" pitchFamily="34" charset="0"/>
              </a:rPr>
              <a:t>Choosing between Linear and RBF kernels via </a:t>
            </a:r>
            <a:r>
              <a:rPr lang="en-US" sz="2000" b="1" i="1" dirty="0" smtClean="0">
                <a:latin typeface="Calibri" panose="020F0502020204030204" pitchFamily="34" charset="0"/>
                <a:cs typeface="Calibri" panose="020F0502020204030204" pitchFamily="34" charset="0"/>
              </a:rPr>
              <a:t>Grid Search</a:t>
            </a:r>
            <a:endParaRPr kumimoji="0" lang="en-US" sz="2000" b="1" i="1"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06368876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Imagem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81691" y="4193632"/>
            <a:ext cx="6704338" cy="2583740"/>
          </a:xfrm>
          <a:prstGeom prst="rect">
            <a:avLst/>
          </a:prstGeom>
          <a:ln w="3175">
            <a:solidFill>
              <a:schemeClr val="tx1"/>
            </a:solidFill>
          </a:ln>
        </p:spPr>
      </p:pic>
      <p:sp>
        <p:nvSpPr>
          <p:cNvPr id="11" name="Retângulo 10"/>
          <p:cNvSpPr/>
          <p:nvPr/>
        </p:nvSpPr>
        <p:spPr bwMode="auto">
          <a:xfrm>
            <a:off x="2850835" y="4999961"/>
            <a:ext cx="1653640" cy="252068"/>
          </a:xfrm>
          <a:prstGeom prst="rect">
            <a:avLst/>
          </a:prstGeom>
          <a:noFill/>
          <a:ln w="19050" cap="flat" cmpd="sng" algn="ctr">
            <a:solidFill>
              <a:srgbClr val="000000"/>
            </a:solidFill>
            <a:prstDash val="sysDash"/>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200" i="0" u="none" strike="noStrike" cap="none" normalizeH="0" baseline="0" dirty="0" smtClean="0">
              <a:ln>
                <a:noFill/>
              </a:ln>
              <a:solidFill>
                <a:schemeClr val="tx1"/>
              </a:solidFill>
              <a:effectLst/>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13" name="CaixaDeTexto 12"/>
              <p:cNvSpPr txBox="1"/>
              <p:nvPr/>
            </p:nvSpPr>
            <p:spPr>
              <a:xfrm>
                <a:off x="2801803" y="4399402"/>
                <a:ext cx="1751704" cy="369332"/>
              </a:xfrm>
              <a:prstGeom prst="rect">
                <a:avLst/>
              </a:prstGeom>
              <a:noFill/>
              <a:ln w="3175">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i="1" smtClean="0">
                              <a:latin typeface="Cambria Math" panose="02040503050406030204" pitchFamily="18" charset="0"/>
                              <a:cs typeface="Arial" panose="020B0604020202020204" pitchFamily="34" charset="0"/>
                            </a:rPr>
                          </m:ctrlPr>
                        </m:sSupPr>
                        <m:e>
                          <m:r>
                            <a:rPr lang="pt-PT" b="0" i="1" smtClean="0">
                              <a:latin typeface="Cambria Math" panose="02040503050406030204" pitchFamily="18" charset="0"/>
                              <a:cs typeface="Arial" panose="020B0604020202020204" pitchFamily="34" charset="0"/>
                            </a:rPr>
                            <m:t>𝑒</m:t>
                          </m:r>
                        </m:e>
                        <m:sup>
                          <m:r>
                            <a:rPr lang="pt-PT" b="0" i="1" smtClean="0">
                              <a:latin typeface="Cambria Math" panose="02040503050406030204" pitchFamily="18" charset="0"/>
                              <a:cs typeface="Arial" panose="020B0604020202020204" pitchFamily="34" charset="0"/>
                            </a:rPr>
                            <m:t>𝑥</m:t>
                          </m:r>
                        </m:sup>
                      </m:sSup>
                      <m:r>
                        <a:rPr lang="pt-PT" b="0" i="1" smtClean="0">
                          <a:latin typeface="Cambria Math" panose="02040503050406030204" pitchFamily="18" charset="0"/>
                          <a:cs typeface="Arial" panose="020B0604020202020204" pitchFamily="34" charset="0"/>
                        </a:rPr>
                        <m:t>, </m:t>
                      </m:r>
                      <m:r>
                        <a:rPr lang="pt-PT" b="0" i="1" smtClean="0">
                          <a:latin typeface="Cambria Math" panose="02040503050406030204" pitchFamily="18" charset="0"/>
                          <a:cs typeface="Arial" panose="020B0604020202020204" pitchFamily="34" charset="0"/>
                        </a:rPr>
                        <m:t>𝑥</m:t>
                      </m:r>
                      <m:r>
                        <a:rPr lang="pt-PT" b="0" i="1" smtClean="0">
                          <a:latin typeface="Cambria Math" panose="02040503050406030204" pitchFamily="18" charset="0"/>
                          <a:cs typeface="Arial" panose="020B0604020202020204" pitchFamily="34" charset="0"/>
                        </a:rPr>
                        <m:t> ∈[0, +∞]</m:t>
                      </m:r>
                    </m:oMath>
                  </m:oMathPara>
                </a14:m>
                <a:endParaRPr lang="en-US" dirty="0" smtClean="0">
                  <a:latin typeface="Arial" panose="020B0604020202020204" pitchFamily="34" charset="0"/>
                  <a:cs typeface="Arial" panose="020B0604020202020204" pitchFamily="34" charset="0"/>
                </a:endParaRPr>
              </a:p>
            </p:txBody>
          </p:sp>
        </mc:Choice>
        <mc:Fallback xmlns="">
          <p:sp>
            <p:nvSpPr>
              <p:cNvPr id="13" name="CaixaDeTexto 12"/>
              <p:cNvSpPr txBox="1">
                <a:spLocks noRot="1" noChangeAspect="1" noMove="1" noResize="1" noEditPoints="1" noAdjustHandles="1" noChangeArrowheads="1" noChangeShapeType="1" noTextEdit="1"/>
              </p:cNvSpPr>
              <p:nvPr/>
            </p:nvSpPr>
            <p:spPr>
              <a:xfrm>
                <a:off x="2801803" y="4399402"/>
                <a:ext cx="1751704" cy="369332"/>
              </a:xfrm>
              <a:prstGeom prst="rect">
                <a:avLst/>
              </a:prstGeom>
              <a:blipFill>
                <a:blip r:embed="rId4"/>
                <a:stretch>
                  <a:fillRect b="-16393"/>
                </a:stretch>
              </a:blipFill>
              <a:ln w="3175">
                <a:solidFill>
                  <a:schemeClr val="tx1"/>
                </a:solidFill>
              </a:ln>
            </p:spPr>
            <p:txBody>
              <a:bodyPr/>
              <a:lstStyle/>
              <a:p>
                <a:r>
                  <a:rPr lang="en-US">
                    <a:noFill/>
                  </a:rPr>
                  <a:t> </a:t>
                </a:r>
              </a:p>
            </p:txBody>
          </p:sp>
        </mc:Fallback>
      </mc:AlternateContent>
      <p:cxnSp>
        <p:nvCxnSpPr>
          <p:cNvPr id="15" name="Conexão reta unidirecional 14"/>
          <p:cNvCxnSpPr>
            <a:stCxn id="11" idx="0"/>
            <a:endCxn id="13" idx="2"/>
          </p:cNvCxnSpPr>
          <p:nvPr/>
        </p:nvCxnSpPr>
        <p:spPr bwMode="auto">
          <a:xfrm flipV="1">
            <a:off x="3677655" y="4768734"/>
            <a:ext cx="0" cy="231227"/>
          </a:xfrm>
          <a:prstGeom prst="straightConnector1">
            <a:avLst/>
          </a:prstGeom>
          <a:solidFill>
            <a:schemeClr val="accent1"/>
          </a:solidFill>
          <a:ln w="12700" cap="flat" cmpd="sng" algn="ctr">
            <a:solidFill>
              <a:schemeClr val="tx1"/>
            </a:solidFill>
            <a:prstDash val="solid"/>
            <a:round/>
            <a:headEnd type="none" w="med" len="med"/>
            <a:tailEnd type="triangle"/>
          </a:ln>
          <a:effectLst/>
        </p:spPr>
      </p:cxnSp>
      <p:sp>
        <p:nvSpPr>
          <p:cNvPr id="16" name="Retângulo 15"/>
          <p:cNvSpPr/>
          <p:nvPr/>
        </p:nvSpPr>
        <p:spPr bwMode="auto">
          <a:xfrm>
            <a:off x="5117378" y="4992509"/>
            <a:ext cx="1686869" cy="259519"/>
          </a:xfrm>
          <a:prstGeom prst="rect">
            <a:avLst/>
          </a:prstGeom>
          <a:noFill/>
          <a:ln w="19050" cap="flat" cmpd="sng" algn="ctr">
            <a:solidFill>
              <a:srgbClr val="000000"/>
            </a:solidFill>
            <a:prstDash val="sysDash"/>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200" i="0" u="none" strike="noStrike" cap="none" normalizeH="0" baseline="0" dirty="0" smtClean="0">
              <a:ln>
                <a:noFill/>
              </a:ln>
              <a:solidFill>
                <a:schemeClr val="tx1"/>
              </a:solidFill>
              <a:effectLst/>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17" name="CaixaDeTexto 16"/>
              <p:cNvSpPr txBox="1"/>
              <p:nvPr/>
            </p:nvSpPr>
            <p:spPr>
              <a:xfrm>
                <a:off x="4888295" y="4403502"/>
                <a:ext cx="2145034" cy="369332"/>
              </a:xfrm>
              <a:prstGeom prst="rect">
                <a:avLst/>
              </a:prstGeom>
              <a:noFill/>
              <a:ln w="3175">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i="1" smtClean="0">
                              <a:latin typeface="Cambria Math" panose="02040503050406030204" pitchFamily="18" charset="0"/>
                              <a:cs typeface="Arial" panose="020B0604020202020204" pitchFamily="34" charset="0"/>
                            </a:rPr>
                          </m:ctrlPr>
                        </m:sSupPr>
                        <m:e>
                          <m:r>
                            <a:rPr lang="pt-PT" b="0" i="1" smtClean="0">
                              <a:latin typeface="Cambria Math" panose="02040503050406030204" pitchFamily="18" charset="0"/>
                              <a:cs typeface="Arial" panose="020B0604020202020204" pitchFamily="34" charset="0"/>
                            </a:rPr>
                            <m:t>0.1</m:t>
                          </m:r>
                          <m:r>
                            <a:rPr lang="pt-PT" b="0" i="1" smtClean="0">
                              <a:latin typeface="Cambria Math" panose="02040503050406030204" pitchFamily="18" charset="0"/>
                              <a:cs typeface="Arial" panose="020B0604020202020204" pitchFamily="34" charset="0"/>
                            </a:rPr>
                            <m:t>𝑒</m:t>
                          </m:r>
                        </m:e>
                        <m:sup>
                          <m:r>
                            <a:rPr lang="pt-PT" b="0" i="1" smtClean="0">
                              <a:latin typeface="Cambria Math" panose="02040503050406030204" pitchFamily="18" charset="0"/>
                              <a:cs typeface="Arial" panose="020B0604020202020204" pitchFamily="34" charset="0"/>
                            </a:rPr>
                            <m:t>𝑥</m:t>
                          </m:r>
                        </m:sup>
                      </m:sSup>
                      <m:r>
                        <a:rPr lang="pt-PT" b="0" i="1" smtClean="0">
                          <a:latin typeface="Cambria Math" panose="02040503050406030204" pitchFamily="18" charset="0"/>
                          <a:cs typeface="Arial" panose="020B0604020202020204" pitchFamily="34" charset="0"/>
                        </a:rPr>
                        <m:t>, </m:t>
                      </m:r>
                      <m:r>
                        <a:rPr lang="pt-PT" b="0" i="1" smtClean="0">
                          <a:latin typeface="Cambria Math" panose="02040503050406030204" pitchFamily="18" charset="0"/>
                          <a:cs typeface="Arial" panose="020B0604020202020204" pitchFamily="34" charset="0"/>
                        </a:rPr>
                        <m:t>𝑥</m:t>
                      </m:r>
                      <m:r>
                        <a:rPr lang="pt-PT" b="0" i="1" smtClean="0">
                          <a:latin typeface="Cambria Math" panose="02040503050406030204" pitchFamily="18" charset="0"/>
                          <a:cs typeface="Arial" panose="020B0604020202020204" pitchFamily="34" charset="0"/>
                        </a:rPr>
                        <m:t> ∈[0, +∞]</m:t>
                      </m:r>
                    </m:oMath>
                  </m:oMathPara>
                </a14:m>
                <a:endParaRPr lang="en-US" dirty="0" smtClean="0">
                  <a:latin typeface="Arial" panose="020B0604020202020204" pitchFamily="34" charset="0"/>
                  <a:cs typeface="Arial" panose="020B0604020202020204" pitchFamily="34" charset="0"/>
                </a:endParaRPr>
              </a:p>
            </p:txBody>
          </p:sp>
        </mc:Choice>
        <mc:Fallback xmlns="">
          <p:sp>
            <p:nvSpPr>
              <p:cNvPr id="17" name="CaixaDeTexto 16"/>
              <p:cNvSpPr txBox="1">
                <a:spLocks noRot="1" noChangeAspect="1" noMove="1" noResize="1" noEditPoints="1" noAdjustHandles="1" noChangeArrowheads="1" noChangeShapeType="1" noTextEdit="1"/>
              </p:cNvSpPr>
              <p:nvPr/>
            </p:nvSpPr>
            <p:spPr>
              <a:xfrm>
                <a:off x="4888295" y="4403502"/>
                <a:ext cx="2145034" cy="369332"/>
              </a:xfrm>
              <a:prstGeom prst="rect">
                <a:avLst/>
              </a:prstGeom>
              <a:blipFill>
                <a:blip r:embed="rId5"/>
                <a:stretch>
                  <a:fillRect b="-14516"/>
                </a:stretch>
              </a:blipFill>
              <a:ln w="3175">
                <a:solidFill>
                  <a:schemeClr val="tx1"/>
                </a:solidFill>
              </a:ln>
            </p:spPr>
            <p:txBody>
              <a:bodyPr/>
              <a:lstStyle/>
              <a:p>
                <a:r>
                  <a:rPr lang="en-US">
                    <a:noFill/>
                  </a:rPr>
                  <a:t> </a:t>
                </a:r>
              </a:p>
            </p:txBody>
          </p:sp>
        </mc:Fallback>
      </mc:AlternateContent>
      <p:cxnSp>
        <p:nvCxnSpPr>
          <p:cNvPr id="19" name="Conexão reta unidirecional 18"/>
          <p:cNvCxnSpPr>
            <a:stCxn id="16" idx="0"/>
            <a:endCxn id="17" idx="2"/>
          </p:cNvCxnSpPr>
          <p:nvPr/>
        </p:nvCxnSpPr>
        <p:spPr bwMode="auto">
          <a:xfrm flipH="1" flipV="1">
            <a:off x="5960812" y="4772834"/>
            <a:ext cx="1" cy="219675"/>
          </a:xfrm>
          <a:prstGeom prst="straightConnector1">
            <a:avLst/>
          </a:prstGeom>
          <a:solidFill>
            <a:schemeClr val="accent1"/>
          </a:solidFill>
          <a:ln w="12700" cap="flat" cmpd="sng" algn="ctr">
            <a:solidFill>
              <a:schemeClr val="tx1"/>
            </a:solidFill>
            <a:prstDash val="solid"/>
            <a:round/>
            <a:headEnd type="none" w="med" len="med"/>
            <a:tailEnd type="triangle"/>
          </a:ln>
          <a:effectLst/>
        </p:spPr>
      </p:cxnSp>
      <p:sp>
        <p:nvSpPr>
          <p:cNvPr id="3" name="Marcador de Posição do Número do Diapositivo 2"/>
          <p:cNvSpPr>
            <a:spLocks noGrp="1"/>
          </p:cNvSpPr>
          <p:nvPr>
            <p:ph type="sldNum" sz="quarter" idx="11"/>
          </p:nvPr>
        </p:nvSpPr>
        <p:spPr/>
        <p:txBody>
          <a:bodyPr/>
          <a:lstStyle/>
          <a:p>
            <a:pPr algn="r"/>
            <a:fld id="{D4C49B74-5DB2-4B03-B1D2-7F6A3C51C318}" type="slidenum">
              <a:rPr lang="pt-PT" smtClean="0"/>
              <a:pPr algn="r"/>
              <a:t>14</a:t>
            </a:fld>
            <a:endParaRPr lang="pt-PT" dirty="0"/>
          </a:p>
        </p:txBody>
      </p:sp>
      <p:sp>
        <p:nvSpPr>
          <p:cNvPr id="5" name="Title 3"/>
          <p:cNvSpPr>
            <a:spLocks noGrp="1"/>
          </p:cNvSpPr>
          <p:nvPr>
            <p:ph type="title"/>
          </p:nvPr>
        </p:nvSpPr>
        <p:spPr>
          <a:xfrm>
            <a:off x="2483768" y="1"/>
            <a:ext cx="4680520" cy="908719"/>
          </a:xfrm>
        </p:spPr>
        <p:txBody>
          <a:bodyPr/>
          <a:lstStyle/>
          <a:p>
            <a:pPr algn="ctr"/>
            <a:r>
              <a:rPr lang="en-US" b="1" dirty="0" smtClean="0">
                <a:latin typeface="Calibri" panose="020F0502020204030204" pitchFamily="34" charset="0"/>
                <a:cs typeface="Calibri" panose="020F0502020204030204" pitchFamily="34" charset="0"/>
              </a:rPr>
              <a:t>Building a SVM Classifier</a:t>
            </a:r>
            <a:br>
              <a:rPr lang="en-US" b="1" dirty="0" smtClean="0">
                <a:latin typeface="Calibri" panose="020F0502020204030204" pitchFamily="34" charset="0"/>
                <a:cs typeface="Calibri" panose="020F0502020204030204" pitchFamily="34" charset="0"/>
              </a:rPr>
            </a:br>
            <a:r>
              <a:rPr lang="en-US" sz="2000" b="1" dirty="0" smtClean="0">
                <a:latin typeface="Calibri" panose="020F0502020204030204" pitchFamily="34" charset="0"/>
                <a:cs typeface="Calibri" panose="020F0502020204030204" pitchFamily="34" charset="0"/>
              </a:rPr>
              <a:t>Hyper-Parameter Tuning</a:t>
            </a:r>
            <a:endParaRPr lang="en-US" b="1" dirty="0">
              <a:latin typeface="Calibri" panose="020F0502020204030204" pitchFamily="34" charset="0"/>
              <a:cs typeface="Calibri" panose="020F0502020204030204" pitchFamily="34" charset="0"/>
            </a:endParaRPr>
          </a:p>
        </p:txBody>
      </p:sp>
      <p:pic>
        <p:nvPicPr>
          <p:cNvPr id="8" name="Imagem 7"/>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7956376" y="6345324"/>
            <a:ext cx="801197" cy="432048"/>
          </a:xfrm>
          <a:prstGeom prst="rect">
            <a:avLst/>
          </a:prstGeom>
        </p:spPr>
      </p:pic>
      <p:graphicFrame>
        <p:nvGraphicFramePr>
          <p:cNvPr id="4" name="Tabela 3"/>
          <p:cNvGraphicFramePr>
            <a:graphicFrameLocks noGrp="1"/>
          </p:cNvGraphicFramePr>
          <p:nvPr>
            <p:extLst>
              <p:ext uri="{D42A27DB-BD31-4B8C-83A1-F6EECF244321}">
                <p14:modId xmlns:p14="http://schemas.microsoft.com/office/powerpoint/2010/main" val="2585806807"/>
              </p:ext>
            </p:extLst>
          </p:nvPr>
        </p:nvGraphicFramePr>
        <p:xfrm>
          <a:off x="755576" y="1570669"/>
          <a:ext cx="7756571" cy="2529840"/>
        </p:xfrm>
        <a:graphic>
          <a:graphicData uri="http://schemas.openxmlformats.org/drawingml/2006/table">
            <a:tbl>
              <a:tblPr firstRow="1" bandRow="1"/>
              <a:tblGrid>
                <a:gridCol w="1579874">
                  <a:extLst>
                    <a:ext uri="{9D8B030D-6E8A-4147-A177-3AD203B41FA5}">
                      <a16:colId xmlns:a16="http://schemas.microsoft.com/office/drawing/2014/main" val="2181084847"/>
                    </a:ext>
                  </a:extLst>
                </a:gridCol>
                <a:gridCol w="6176697">
                  <a:extLst>
                    <a:ext uri="{9D8B030D-6E8A-4147-A177-3AD203B41FA5}">
                      <a16:colId xmlns:a16="http://schemas.microsoft.com/office/drawing/2014/main" val="728446888"/>
                    </a:ext>
                  </a:extLst>
                </a:gridCol>
              </a:tblGrid>
              <a:tr h="205888">
                <a:tc>
                  <a:txBody>
                    <a:bodyPr/>
                    <a:lstStyle/>
                    <a:p>
                      <a:pPr algn="ctr"/>
                      <a:r>
                        <a:rPr lang="en-US" sz="1600" b="1" dirty="0" smtClean="0">
                          <a:latin typeface="Calibri" panose="020F0502020204030204" pitchFamily="34" charset="0"/>
                          <a:cs typeface="Calibri" panose="020F0502020204030204" pitchFamily="34" charset="0"/>
                        </a:rPr>
                        <a:t>Parameter</a:t>
                      </a:r>
                      <a:endParaRPr lang="en-US" sz="1600" b="1" dirty="0">
                        <a:latin typeface="Calibri" panose="020F0502020204030204" pitchFamily="34" charset="0"/>
                        <a:cs typeface="Calibri" panose="020F0502020204030204" pitchFamily="34" charset="0"/>
                      </a:endParaRPr>
                    </a:p>
                  </a:txBody>
                  <a:tcPr/>
                </a:tc>
                <a:tc>
                  <a:txBody>
                    <a:bodyPr/>
                    <a:lstStyle/>
                    <a:p>
                      <a:pPr algn="ctr"/>
                      <a:r>
                        <a:rPr lang="en-US" sz="1600" b="1" dirty="0" smtClean="0">
                          <a:latin typeface="Calibri" panose="020F0502020204030204" pitchFamily="34" charset="0"/>
                          <a:cs typeface="Calibri" panose="020F0502020204030204" pitchFamily="34" charset="0"/>
                        </a:rPr>
                        <a:t>Description</a:t>
                      </a:r>
                      <a:endParaRPr lang="en-US" sz="1600" b="1" dirty="0">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381817151"/>
                  </a:ext>
                </a:extLst>
              </a:tr>
              <a:tr h="168453">
                <a:tc>
                  <a:txBody>
                    <a:bodyPr/>
                    <a:lstStyle/>
                    <a:p>
                      <a:r>
                        <a:rPr lang="en-US" sz="1200" i="1" dirty="0" smtClean="0">
                          <a:latin typeface="Calibri" panose="020F0502020204030204" pitchFamily="34" charset="0"/>
                          <a:cs typeface="Calibri" panose="020F0502020204030204" pitchFamily="34" charset="0"/>
                        </a:rPr>
                        <a:t>estimator</a:t>
                      </a:r>
                      <a:endParaRPr lang="en-US" sz="1200" i="1" dirty="0">
                        <a:latin typeface="Calibri" panose="020F0502020204030204" pitchFamily="34" charset="0"/>
                        <a:cs typeface="Calibri" panose="020F0502020204030204" pitchFamily="34" charset="0"/>
                      </a:endParaRPr>
                    </a:p>
                  </a:txBody>
                  <a:tcPr/>
                </a:tc>
                <a:tc>
                  <a:txBody>
                    <a:bodyPr/>
                    <a:lstStyle/>
                    <a:p>
                      <a:r>
                        <a:rPr lang="en-US" sz="1200" dirty="0" smtClean="0">
                          <a:latin typeface="Calibri" panose="020F0502020204030204" pitchFamily="34" charset="0"/>
                          <a:cs typeface="Calibri" panose="020F0502020204030204" pitchFamily="34" charset="0"/>
                        </a:rPr>
                        <a:t>Instance of a machine learning classifier</a:t>
                      </a:r>
                      <a:endParaRPr lang="en-US" sz="1200" dirty="0">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421632341"/>
                  </a:ext>
                </a:extLst>
              </a:tr>
              <a:tr h="168453">
                <a:tc>
                  <a:txBody>
                    <a:bodyPr/>
                    <a:lstStyle/>
                    <a:p>
                      <a:r>
                        <a:rPr lang="en-US" sz="1200" i="1" dirty="0" err="1" smtClean="0">
                          <a:latin typeface="Calibri" panose="020F0502020204030204" pitchFamily="34" charset="0"/>
                          <a:cs typeface="Calibri" panose="020F0502020204030204" pitchFamily="34" charset="0"/>
                        </a:rPr>
                        <a:t>param_distributions</a:t>
                      </a:r>
                      <a:endParaRPr lang="en-US" sz="1200" i="1" dirty="0">
                        <a:latin typeface="Calibri" panose="020F0502020204030204" pitchFamily="34" charset="0"/>
                        <a:cs typeface="Calibri" panose="020F0502020204030204" pitchFamily="34" charset="0"/>
                      </a:endParaRPr>
                    </a:p>
                  </a:txBody>
                  <a:tcPr/>
                </a:tc>
                <a:tc>
                  <a:txBody>
                    <a:bodyPr/>
                    <a:lstStyle/>
                    <a:p>
                      <a:r>
                        <a:rPr lang="en-US" sz="1200" dirty="0" smtClean="0">
                          <a:latin typeface="Calibri" panose="020F0502020204030204" pitchFamily="34" charset="0"/>
                          <a:cs typeface="Calibri" panose="020F0502020204030204" pitchFamily="34" charset="0"/>
                        </a:rPr>
                        <a:t>Dictionary with parameters names as keys and distributions </a:t>
                      </a:r>
                      <a:r>
                        <a:rPr lang="en-US" sz="1200" dirty="0" smtClean="0">
                          <a:latin typeface="Calibri" panose="020F0502020204030204" pitchFamily="34" charset="0"/>
                          <a:cs typeface="Calibri" panose="020F0502020204030204" pitchFamily="34" charset="0"/>
                        </a:rPr>
                        <a:t>to try as values</a:t>
                      </a:r>
                      <a:endParaRPr lang="en-US" sz="1200" dirty="0">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934890382"/>
                  </a:ext>
                </a:extLst>
              </a:tr>
              <a:tr h="168453">
                <a:tc>
                  <a:txBody>
                    <a:bodyPr/>
                    <a:lstStyle/>
                    <a:p>
                      <a:r>
                        <a:rPr lang="en-US" sz="1200" i="1" dirty="0" err="1" smtClean="0">
                          <a:latin typeface="Calibri" panose="020F0502020204030204" pitchFamily="34" charset="0"/>
                          <a:cs typeface="Calibri" panose="020F0502020204030204" pitchFamily="34" charset="0"/>
                        </a:rPr>
                        <a:t>n_iter</a:t>
                      </a:r>
                      <a:endParaRPr lang="en-US" sz="1200" i="1" dirty="0">
                        <a:latin typeface="Calibri" panose="020F0502020204030204" pitchFamily="34" charset="0"/>
                        <a:cs typeface="Calibri" panose="020F0502020204030204" pitchFamily="34" charset="0"/>
                      </a:endParaRPr>
                    </a:p>
                  </a:txBody>
                  <a:tcPr/>
                </a:tc>
                <a:tc>
                  <a:txBody>
                    <a:bodyPr/>
                    <a:lstStyle/>
                    <a:p>
                      <a:r>
                        <a:rPr lang="en-US" sz="1200" dirty="0" smtClean="0">
                          <a:latin typeface="Calibri" panose="020F0502020204030204" pitchFamily="34" charset="0"/>
                          <a:cs typeface="Calibri" panose="020F0502020204030204" pitchFamily="34" charset="0"/>
                        </a:rPr>
                        <a:t>Number of parameter settings that are sampled</a:t>
                      </a:r>
                      <a:endParaRPr lang="en-US" sz="1200" dirty="0">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490772104"/>
                  </a:ext>
                </a:extLst>
              </a:tr>
              <a:tr h="168453">
                <a:tc>
                  <a:txBody>
                    <a:bodyPr/>
                    <a:lstStyle/>
                    <a:p>
                      <a:r>
                        <a:rPr lang="en-US" sz="1200" i="1" dirty="0" smtClean="0">
                          <a:latin typeface="Calibri" panose="020F0502020204030204" pitchFamily="34" charset="0"/>
                          <a:cs typeface="Calibri" panose="020F0502020204030204" pitchFamily="34" charset="0"/>
                        </a:rPr>
                        <a:t>scoring</a:t>
                      </a:r>
                      <a:endParaRPr lang="en-US" sz="1200" i="1" dirty="0">
                        <a:latin typeface="Calibri" panose="020F0502020204030204" pitchFamily="34" charset="0"/>
                        <a:cs typeface="Calibri" panose="020F0502020204030204" pitchFamily="34" charset="0"/>
                      </a:endParaRPr>
                    </a:p>
                  </a:txBody>
                  <a:tcPr/>
                </a:tc>
                <a:tc>
                  <a:txBody>
                    <a:bodyPr/>
                    <a:lstStyle/>
                    <a:p>
                      <a:r>
                        <a:rPr lang="en-US" sz="1200" dirty="0" smtClean="0">
                          <a:latin typeface="Calibri" panose="020F0502020204030204" pitchFamily="34" charset="0"/>
                          <a:cs typeface="Calibri" panose="020F0502020204030204" pitchFamily="34" charset="0"/>
                        </a:rPr>
                        <a:t>Metric</a:t>
                      </a:r>
                      <a:r>
                        <a:rPr lang="en-US" sz="1200" baseline="0" dirty="0" smtClean="0">
                          <a:latin typeface="Calibri" panose="020F0502020204030204" pitchFamily="34" charset="0"/>
                          <a:cs typeface="Calibri" panose="020F0502020204030204" pitchFamily="34" charset="0"/>
                        </a:rPr>
                        <a:t> or list of metrics to be evaluated</a:t>
                      </a:r>
                      <a:endParaRPr lang="en-US" sz="1200" dirty="0">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3075824543"/>
                  </a:ext>
                </a:extLst>
              </a:tr>
              <a:tr h="168453">
                <a:tc>
                  <a:txBody>
                    <a:bodyPr/>
                    <a:lstStyle/>
                    <a:p>
                      <a:r>
                        <a:rPr lang="en-US" sz="1200" i="1" dirty="0" err="1" smtClean="0">
                          <a:latin typeface="Calibri" panose="020F0502020204030204" pitchFamily="34" charset="0"/>
                          <a:cs typeface="Calibri" panose="020F0502020204030204" pitchFamily="34" charset="0"/>
                        </a:rPr>
                        <a:t>n_jobs</a:t>
                      </a:r>
                      <a:endParaRPr lang="en-US" sz="1200" i="1" dirty="0">
                        <a:latin typeface="Calibri" panose="020F0502020204030204" pitchFamily="34" charset="0"/>
                        <a:cs typeface="Calibri" panose="020F0502020204030204" pitchFamily="34" charset="0"/>
                      </a:endParaRPr>
                    </a:p>
                  </a:txBody>
                  <a:tcPr/>
                </a:tc>
                <a:tc>
                  <a:txBody>
                    <a:bodyPr/>
                    <a:lstStyle/>
                    <a:p>
                      <a:r>
                        <a:rPr lang="en-US" sz="1200" dirty="0" smtClean="0">
                          <a:latin typeface="Calibri" panose="020F0502020204030204" pitchFamily="34" charset="0"/>
                          <a:cs typeface="Calibri" panose="020F0502020204030204" pitchFamily="34" charset="0"/>
                        </a:rPr>
                        <a:t>Number</a:t>
                      </a:r>
                      <a:r>
                        <a:rPr lang="en-US" sz="1200" baseline="0" dirty="0" smtClean="0">
                          <a:latin typeface="Calibri" panose="020F0502020204030204" pitchFamily="34" charset="0"/>
                          <a:cs typeface="Calibri" panose="020F0502020204030204" pitchFamily="34" charset="0"/>
                        </a:rPr>
                        <a:t> of jobs to run in parallel</a:t>
                      </a:r>
                      <a:endParaRPr lang="en-US" sz="1200" dirty="0">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1552118241"/>
                  </a:ext>
                </a:extLst>
              </a:tr>
              <a:tr h="168453">
                <a:tc>
                  <a:txBody>
                    <a:bodyPr/>
                    <a:lstStyle/>
                    <a:p>
                      <a:r>
                        <a:rPr lang="en-US" sz="1200" i="1" dirty="0" err="1" smtClean="0">
                          <a:latin typeface="Calibri" panose="020F0502020204030204" pitchFamily="34" charset="0"/>
                          <a:cs typeface="Calibri" panose="020F0502020204030204" pitchFamily="34" charset="0"/>
                        </a:rPr>
                        <a:t>pre_dispatch</a:t>
                      </a:r>
                      <a:endParaRPr lang="en-US" sz="1200" i="1" dirty="0">
                        <a:latin typeface="Calibri" panose="020F0502020204030204" pitchFamily="34" charset="0"/>
                        <a:cs typeface="Calibri" panose="020F0502020204030204" pitchFamily="34" charset="0"/>
                      </a:endParaRPr>
                    </a:p>
                  </a:txBody>
                  <a:tcPr/>
                </a:tc>
                <a:tc>
                  <a:txBody>
                    <a:bodyPr/>
                    <a:lstStyle/>
                    <a:p>
                      <a:r>
                        <a:rPr lang="en-US" sz="1200" dirty="0" smtClean="0">
                          <a:latin typeface="Calibri" panose="020F0502020204030204" pitchFamily="34" charset="0"/>
                          <a:cs typeface="Calibri" panose="020F0502020204030204" pitchFamily="34" charset="0"/>
                        </a:rPr>
                        <a:t>Controls the number of jobs that get dispatched during parallel execution</a:t>
                      </a:r>
                      <a:endParaRPr lang="en-US" sz="1200" dirty="0">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3343447861"/>
                  </a:ext>
                </a:extLst>
              </a:tr>
              <a:tr h="168453">
                <a:tc>
                  <a:txBody>
                    <a:bodyPr/>
                    <a:lstStyle/>
                    <a:p>
                      <a:r>
                        <a:rPr lang="en-US" sz="1200" i="1" dirty="0" smtClean="0">
                          <a:latin typeface="Calibri" panose="020F0502020204030204" pitchFamily="34" charset="0"/>
                          <a:cs typeface="Calibri" panose="020F0502020204030204" pitchFamily="34" charset="0"/>
                        </a:rPr>
                        <a:t>cv</a:t>
                      </a:r>
                      <a:endParaRPr lang="en-US" sz="1200" i="1" dirty="0">
                        <a:latin typeface="Calibri" panose="020F0502020204030204" pitchFamily="34" charset="0"/>
                        <a:cs typeface="Calibri" panose="020F0502020204030204" pitchFamily="34" charset="0"/>
                      </a:endParaRPr>
                    </a:p>
                  </a:txBody>
                  <a:tcPr/>
                </a:tc>
                <a:tc>
                  <a:txBody>
                    <a:bodyPr/>
                    <a:lstStyle/>
                    <a:p>
                      <a:r>
                        <a:rPr lang="en-US" sz="1200" dirty="0" smtClean="0">
                          <a:latin typeface="Calibri" panose="020F0502020204030204" pitchFamily="34" charset="0"/>
                          <a:cs typeface="Calibri" panose="020F0502020204030204" pitchFamily="34" charset="0"/>
                        </a:rPr>
                        <a:t>Determines the cross-validation splitting strategy</a:t>
                      </a:r>
                      <a:endParaRPr lang="en-US" sz="1200" dirty="0">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608017494"/>
                  </a:ext>
                </a:extLst>
              </a:tr>
              <a:tr h="168453">
                <a:tc>
                  <a:txBody>
                    <a:bodyPr/>
                    <a:lstStyle/>
                    <a:p>
                      <a:r>
                        <a:rPr lang="en-US" sz="1200" i="1" dirty="0" err="1" smtClean="0">
                          <a:latin typeface="Calibri" panose="020F0502020204030204" pitchFamily="34" charset="0"/>
                          <a:cs typeface="Calibri" panose="020F0502020204030204" pitchFamily="34" charset="0"/>
                        </a:rPr>
                        <a:t>random_state</a:t>
                      </a:r>
                      <a:endParaRPr lang="en-US" sz="1200" i="1" dirty="0">
                        <a:latin typeface="Calibri" panose="020F0502020204030204" pitchFamily="34" charset="0"/>
                        <a:cs typeface="Calibri" panose="020F0502020204030204" pitchFamily="34" charset="0"/>
                      </a:endParaRPr>
                    </a:p>
                  </a:txBody>
                  <a:tcPr/>
                </a:tc>
                <a:tc>
                  <a:txBody>
                    <a:bodyPr/>
                    <a:lstStyle/>
                    <a:p>
                      <a:r>
                        <a:rPr lang="en-US" sz="1200" dirty="0" smtClean="0">
                          <a:latin typeface="Calibri" panose="020F0502020204030204" pitchFamily="34" charset="0"/>
                          <a:cs typeface="Calibri" panose="020F0502020204030204" pitchFamily="34" charset="0"/>
                        </a:rPr>
                        <a:t>Seed for</a:t>
                      </a:r>
                      <a:r>
                        <a:rPr lang="en-US" sz="1200" baseline="0" dirty="0" smtClean="0">
                          <a:latin typeface="Calibri" panose="020F0502020204030204" pitchFamily="34" charset="0"/>
                          <a:cs typeface="Calibri" panose="020F0502020204030204" pitchFamily="34" charset="0"/>
                        </a:rPr>
                        <a:t> the</a:t>
                      </a:r>
                      <a:r>
                        <a:rPr lang="en-US" sz="1200" dirty="0" smtClean="0">
                          <a:latin typeface="Calibri" panose="020F0502020204030204" pitchFamily="34" charset="0"/>
                          <a:cs typeface="Calibri" panose="020F0502020204030204" pitchFamily="34" charset="0"/>
                        </a:rPr>
                        <a:t> random numbe</a:t>
                      </a:r>
                      <a:r>
                        <a:rPr lang="en-US" sz="1200" baseline="0" dirty="0" smtClean="0">
                          <a:latin typeface="Calibri" panose="020F0502020204030204" pitchFamily="34" charset="0"/>
                          <a:cs typeface="Calibri" panose="020F0502020204030204" pitchFamily="34" charset="0"/>
                        </a:rPr>
                        <a:t>r generator</a:t>
                      </a:r>
                      <a:endParaRPr lang="en-US" sz="1200" dirty="0">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2775934769"/>
                  </a:ext>
                </a:extLst>
              </a:tr>
            </a:tbl>
          </a:graphicData>
        </a:graphic>
      </p:graphicFrame>
      <p:sp>
        <p:nvSpPr>
          <p:cNvPr id="10" name="Retângulo arredondado 9"/>
          <p:cNvSpPr/>
          <p:nvPr/>
        </p:nvSpPr>
        <p:spPr bwMode="auto">
          <a:xfrm>
            <a:off x="313380" y="1023023"/>
            <a:ext cx="8640960" cy="454523"/>
          </a:xfrm>
          <a:prstGeom prst="roundRect">
            <a:avLst/>
          </a:prstGeom>
          <a:solidFill>
            <a:schemeClr val="accent5">
              <a:lumMod val="60000"/>
              <a:lumOff val="40000"/>
            </a:schemeClr>
          </a:solidFill>
          <a:ln w="28575" cap="flat" cmpd="sng" algn="ctr">
            <a:solidFill>
              <a:srgbClr val="FFFFFF"/>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eaLnBrk="0" fontAlgn="base" hangingPunct="0">
              <a:spcBef>
                <a:spcPct val="0"/>
              </a:spcBef>
              <a:spcAft>
                <a:spcPct val="0"/>
              </a:spcAft>
            </a:pPr>
            <a:r>
              <a:rPr lang="pt-PT" sz="2000" i="1" dirty="0" err="1" smtClean="0">
                <a:latin typeface="Calibri" panose="020F0502020204030204" pitchFamily="34" charset="0"/>
                <a:cs typeface="Calibri" panose="020F0502020204030204" pitchFamily="34" charset="0"/>
              </a:rPr>
              <a:t>Tuning</a:t>
            </a:r>
            <a:r>
              <a:rPr lang="pt-PT" sz="2000" i="1" dirty="0" smtClean="0">
                <a:latin typeface="Calibri" panose="020F0502020204030204" pitchFamily="34" charset="0"/>
                <a:cs typeface="Calibri" panose="020F0502020204030204" pitchFamily="34" charset="0"/>
              </a:rPr>
              <a:t> </a:t>
            </a:r>
            <a:r>
              <a:rPr lang="pt-PT" sz="2000" i="1" dirty="0" err="1" smtClean="0">
                <a:latin typeface="Calibri" panose="020F0502020204030204" pitchFamily="34" charset="0"/>
                <a:cs typeface="Calibri" panose="020F0502020204030204" pitchFamily="34" charset="0"/>
              </a:rPr>
              <a:t>the</a:t>
            </a:r>
            <a:r>
              <a:rPr lang="pt-PT" sz="2000" i="1" dirty="0" smtClean="0">
                <a:latin typeface="Calibri" panose="020F0502020204030204" pitchFamily="34" charset="0"/>
                <a:cs typeface="Calibri" panose="020F0502020204030204" pitchFamily="34" charset="0"/>
              </a:rPr>
              <a:t> </a:t>
            </a:r>
            <a:r>
              <a:rPr lang="pt-PT" sz="2000" i="1" dirty="0" err="1" smtClean="0">
                <a:latin typeface="Calibri" panose="020F0502020204030204" pitchFamily="34" charset="0"/>
                <a:cs typeface="Calibri" panose="020F0502020204030204" pitchFamily="34" charset="0"/>
              </a:rPr>
              <a:t>hyper-parameters</a:t>
            </a:r>
            <a:r>
              <a:rPr lang="pt-PT" sz="2000" i="1" dirty="0" smtClean="0">
                <a:latin typeface="Calibri" panose="020F0502020204030204" pitchFamily="34" charset="0"/>
                <a:cs typeface="Calibri" panose="020F0502020204030204" pitchFamily="34" charset="0"/>
              </a:rPr>
              <a:t> </a:t>
            </a:r>
            <a:r>
              <a:rPr lang="pt-PT" sz="2000" i="1" dirty="0" err="1" smtClean="0">
                <a:latin typeface="Calibri" panose="020F0502020204030204" pitchFamily="34" charset="0"/>
                <a:cs typeface="Calibri" panose="020F0502020204030204" pitchFamily="34" charset="0"/>
              </a:rPr>
              <a:t>of</a:t>
            </a:r>
            <a:r>
              <a:rPr lang="pt-PT" sz="2000" i="1" dirty="0" smtClean="0">
                <a:latin typeface="Calibri" panose="020F0502020204030204" pitchFamily="34" charset="0"/>
                <a:cs typeface="Calibri" panose="020F0502020204030204" pitchFamily="34" charset="0"/>
              </a:rPr>
              <a:t> RBF </a:t>
            </a:r>
            <a:r>
              <a:rPr lang="pt-PT" sz="2000" i="1" dirty="0" err="1" smtClean="0">
                <a:latin typeface="Calibri" panose="020F0502020204030204" pitchFamily="34" charset="0"/>
                <a:cs typeface="Calibri" panose="020F0502020204030204" pitchFamily="34" charset="0"/>
              </a:rPr>
              <a:t>kernel</a:t>
            </a:r>
            <a:r>
              <a:rPr lang="pt-PT" sz="2000" i="1" dirty="0" smtClean="0">
                <a:latin typeface="Calibri" panose="020F0502020204030204" pitchFamily="34" charset="0"/>
                <a:cs typeface="Calibri" panose="020F0502020204030204" pitchFamily="34" charset="0"/>
              </a:rPr>
              <a:t> via </a:t>
            </a:r>
            <a:r>
              <a:rPr lang="pt-PT" sz="2000" b="1" i="1" dirty="0" err="1" smtClean="0">
                <a:latin typeface="Calibri" panose="020F0502020204030204" pitchFamily="34" charset="0"/>
                <a:cs typeface="Calibri" panose="020F0502020204030204" pitchFamily="34" charset="0"/>
              </a:rPr>
              <a:t>Randomized</a:t>
            </a:r>
            <a:r>
              <a:rPr lang="pt-PT" sz="2000" b="1" i="1" dirty="0" smtClean="0">
                <a:latin typeface="Calibri" panose="020F0502020204030204" pitchFamily="34" charset="0"/>
                <a:cs typeface="Calibri" panose="020F0502020204030204" pitchFamily="34" charset="0"/>
              </a:rPr>
              <a:t> </a:t>
            </a:r>
            <a:r>
              <a:rPr lang="pt-PT" sz="2000" b="1" i="1" dirty="0" err="1" smtClean="0">
                <a:latin typeface="Calibri" panose="020F0502020204030204" pitchFamily="34" charset="0"/>
                <a:cs typeface="Calibri" panose="020F0502020204030204" pitchFamily="34" charset="0"/>
              </a:rPr>
              <a:t>Search</a:t>
            </a:r>
            <a:endParaRPr kumimoji="0" lang="pt-PT" sz="2000" b="1" i="1"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8451652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xit" presetSubtype="0" fill="hold" grpId="1" nodeType="clickEffect">
                                  <p:stCondLst>
                                    <p:cond delay="0"/>
                                  </p:stCondLst>
                                  <p:childTnLst>
                                    <p:set>
                                      <p:cBhvr>
                                        <p:cTn id="20" dur="1" fill="hold">
                                          <p:stCondLst>
                                            <p:cond delay="0"/>
                                          </p:stCondLst>
                                        </p:cTn>
                                        <p:tgtEl>
                                          <p:spTgt spid="13"/>
                                        </p:tgtEl>
                                        <p:attrNameLst>
                                          <p:attrName>style.visibility</p:attrName>
                                        </p:attrNameLst>
                                      </p:cBhvr>
                                      <p:to>
                                        <p:strVal val="hidden"/>
                                      </p:to>
                                    </p:set>
                                  </p:childTnLst>
                                </p:cTn>
                              </p:par>
                              <p:par>
                                <p:cTn id="21" presetID="1" presetClass="exit" presetSubtype="0" fill="hold" grpId="1" nodeType="withEffect">
                                  <p:stCondLst>
                                    <p:cond delay="0"/>
                                  </p:stCondLst>
                                  <p:childTnLst>
                                    <p:set>
                                      <p:cBhvr>
                                        <p:cTn id="22" dur="1" fill="hold">
                                          <p:stCondLst>
                                            <p:cond delay="0"/>
                                          </p:stCondLst>
                                        </p:cTn>
                                        <p:tgtEl>
                                          <p:spTgt spid="11"/>
                                        </p:tgtEl>
                                        <p:attrNameLst>
                                          <p:attrName>style.visibility</p:attrName>
                                        </p:attrNameLst>
                                      </p:cBhvr>
                                      <p:to>
                                        <p:strVal val="hidden"/>
                                      </p:to>
                                    </p:set>
                                  </p:childTnLst>
                                </p:cTn>
                              </p:par>
                              <p:par>
                                <p:cTn id="23" presetID="1" presetClass="exit" presetSubtype="0" fill="hold" nodeType="withEffect">
                                  <p:stCondLst>
                                    <p:cond delay="0"/>
                                  </p:stCondLst>
                                  <p:childTnLst>
                                    <p:set>
                                      <p:cBhvr>
                                        <p:cTn id="24" dur="1" fill="hold">
                                          <p:stCondLst>
                                            <p:cond delay="0"/>
                                          </p:stCondLst>
                                        </p:cTn>
                                        <p:tgtEl>
                                          <p:spTgt spid="15"/>
                                        </p:tgtEl>
                                        <p:attrNameLst>
                                          <p:attrName>style.visibility</p:attrName>
                                        </p:attrNameLst>
                                      </p:cBhvr>
                                      <p:to>
                                        <p:strVal val="hidden"/>
                                      </p:to>
                                    </p:set>
                                  </p:childTnLst>
                                </p:cTn>
                              </p:par>
                              <p:par>
                                <p:cTn id="25" presetID="1" presetClass="exit" presetSubtype="0" fill="hold" grpId="1" nodeType="withEffect">
                                  <p:stCondLst>
                                    <p:cond delay="0"/>
                                  </p:stCondLst>
                                  <p:childTnLst>
                                    <p:set>
                                      <p:cBhvr>
                                        <p:cTn id="26" dur="1" fill="hold">
                                          <p:stCondLst>
                                            <p:cond delay="0"/>
                                          </p:stCondLst>
                                        </p:cTn>
                                        <p:tgtEl>
                                          <p:spTgt spid="17"/>
                                        </p:tgtEl>
                                        <p:attrNameLst>
                                          <p:attrName>style.visibility</p:attrName>
                                        </p:attrNameLst>
                                      </p:cBhvr>
                                      <p:to>
                                        <p:strVal val="hidden"/>
                                      </p:to>
                                    </p:set>
                                  </p:childTnLst>
                                </p:cTn>
                              </p:par>
                              <p:par>
                                <p:cTn id="27" presetID="1" presetClass="exit" presetSubtype="0" fill="hold" grpId="1" nodeType="withEffect">
                                  <p:stCondLst>
                                    <p:cond delay="0"/>
                                  </p:stCondLst>
                                  <p:childTnLst>
                                    <p:set>
                                      <p:cBhvr>
                                        <p:cTn id="28" dur="1" fill="hold">
                                          <p:stCondLst>
                                            <p:cond delay="0"/>
                                          </p:stCondLst>
                                        </p:cTn>
                                        <p:tgtEl>
                                          <p:spTgt spid="16"/>
                                        </p:tgtEl>
                                        <p:attrNameLst>
                                          <p:attrName>style.visibility</p:attrName>
                                        </p:attrNameLst>
                                      </p:cBhvr>
                                      <p:to>
                                        <p:strVal val="hidden"/>
                                      </p:to>
                                    </p:set>
                                  </p:childTnLst>
                                </p:cTn>
                              </p:par>
                              <p:par>
                                <p:cTn id="29" presetID="1" presetClass="exit" presetSubtype="0" fill="hold" nodeType="withEffect">
                                  <p:stCondLst>
                                    <p:cond delay="0"/>
                                  </p:stCondLst>
                                  <p:childTnLst>
                                    <p:set>
                                      <p:cBhvr>
                                        <p:cTn id="30" dur="1" fill="hold">
                                          <p:stCondLst>
                                            <p:cond delay="0"/>
                                          </p:stCondLst>
                                        </p:cTn>
                                        <p:tgtEl>
                                          <p:spTgt spid="1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1" grpId="1" animBg="1"/>
      <p:bldP spid="13" grpId="0" animBg="1"/>
      <p:bldP spid="13" grpId="1" animBg="1"/>
      <p:bldP spid="16" grpId="0" animBg="1"/>
      <p:bldP spid="16" grpId="1" animBg="1"/>
      <p:bldP spid="17" grpId="0" animBg="1"/>
      <p:bldP spid="17" grpId="1"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Posição do Número do Diapositivo 2"/>
          <p:cNvSpPr>
            <a:spLocks noGrp="1"/>
          </p:cNvSpPr>
          <p:nvPr>
            <p:ph type="sldNum" sz="quarter" idx="11"/>
          </p:nvPr>
        </p:nvSpPr>
        <p:spPr/>
        <p:txBody>
          <a:bodyPr/>
          <a:lstStyle/>
          <a:p>
            <a:pPr algn="r"/>
            <a:fld id="{D4C49B74-5DB2-4B03-B1D2-7F6A3C51C318}" type="slidenum">
              <a:rPr lang="pt-PT" smtClean="0"/>
              <a:pPr algn="r"/>
              <a:t>15</a:t>
            </a:fld>
            <a:endParaRPr lang="pt-PT" dirty="0"/>
          </a:p>
        </p:txBody>
      </p:sp>
      <p:sp>
        <p:nvSpPr>
          <p:cNvPr id="6" name="Text Placeholder 1"/>
          <p:cNvSpPr>
            <a:spLocks noGrp="1"/>
          </p:cNvSpPr>
          <p:nvPr>
            <p:ph type="body" idx="1"/>
          </p:nvPr>
        </p:nvSpPr>
        <p:spPr>
          <a:xfrm>
            <a:off x="323528" y="2132856"/>
            <a:ext cx="8568952" cy="936104"/>
          </a:xfrm>
        </p:spPr>
        <p:txBody>
          <a:bodyPr>
            <a:normAutofit/>
          </a:bodyPr>
          <a:lstStyle/>
          <a:p>
            <a:pPr>
              <a:buSzPct val="70000"/>
            </a:pPr>
            <a:r>
              <a:rPr lang="en-US" sz="1800" dirty="0" smtClean="0">
                <a:latin typeface="Calibri" panose="020F0502020204030204" pitchFamily="34" charset="0"/>
                <a:cs typeface="Calibri" panose="020F0502020204030204" pitchFamily="34" charset="0"/>
              </a:rPr>
              <a:t>The </a:t>
            </a:r>
            <a:r>
              <a:rPr lang="en-US" sz="1800" b="1" dirty="0" smtClean="0">
                <a:latin typeface="Calibri" panose="020F0502020204030204" pitchFamily="34" charset="0"/>
                <a:cs typeface="Calibri" panose="020F0502020204030204" pitchFamily="34" charset="0"/>
              </a:rPr>
              <a:t>score</a:t>
            </a:r>
            <a:r>
              <a:rPr lang="en-US" sz="1800" dirty="0" smtClean="0">
                <a:latin typeface="Calibri" panose="020F0502020204030204" pitchFamily="34" charset="0"/>
                <a:cs typeface="Calibri" panose="020F0502020204030204" pitchFamily="34" charset="0"/>
              </a:rPr>
              <a:t> of the </a:t>
            </a:r>
            <a:r>
              <a:rPr lang="en-US" sz="1800" b="1" dirty="0" smtClean="0">
                <a:latin typeface="Calibri" panose="020F0502020204030204" pitchFamily="34" charset="0"/>
                <a:cs typeface="Calibri" panose="020F0502020204030204" pitchFamily="34" charset="0"/>
              </a:rPr>
              <a:t>best SVM model </a:t>
            </a:r>
            <a:r>
              <a:rPr lang="en-US" sz="1800" dirty="0" smtClean="0">
                <a:latin typeface="Calibri" panose="020F0502020204030204" pitchFamily="34" charset="0"/>
                <a:cs typeface="Calibri" panose="020F0502020204030204" pitchFamily="34" charset="0"/>
              </a:rPr>
              <a:t>created </a:t>
            </a:r>
            <a:r>
              <a:rPr lang="en-US" sz="1800" b="1" dirty="0" smtClean="0">
                <a:latin typeface="Calibri" panose="020F0502020204030204" pitchFamily="34" charset="0"/>
                <a:cs typeface="Calibri" panose="020F0502020204030204" pitchFamily="34" charset="0"/>
              </a:rPr>
              <a:t>during</a:t>
            </a:r>
            <a:r>
              <a:rPr lang="en-US" sz="1800" dirty="0" smtClean="0">
                <a:latin typeface="Calibri" panose="020F0502020204030204" pitchFamily="34" charset="0"/>
                <a:cs typeface="Calibri" panose="020F0502020204030204" pitchFamily="34" charset="0"/>
              </a:rPr>
              <a:t> the </a:t>
            </a:r>
            <a:r>
              <a:rPr lang="en-US" sz="1800" b="1" dirty="0" smtClean="0">
                <a:latin typeface="Calibri" panose="020F0502020204030204" pitchFamily="34" charset="0"/>
                <a:cs typeface="Calibri" panose="020F0502020204030204" pitchFamily="34" charset="0"/>
              </a:rPr>
              <a:t>hyper-parameter tuning </a:t>
            </a:r>
            <a:r>
              <a:rPr lang="en-US" sz="1800" dirty="0" smtClean="0">
                <a:latin typeface="Calibri" panose="020F0502020204030204" pitchFamily="34" charset="0"/>
                <a:cs typeface="Calibri" panose="020F0502020204030204" pitchFamily="34" charset="0"/>
              </a:rPr>
              <a:t>is </a:t>
            </a:r>
            <a:r>
              <a:rPr lang="en-US" sz="1800" b="1" dirty="0" smtClean="0">
                <a:latin typeface="Calibri" panose="020F0502020204030204" pitchFamily="34" charset="0"/>
                <a:cs typeface="Calibri" panose="020F0502020204030204" pitchFamily="34" charset="0"/>
              </a:rPr>
              <a:t>returned</a:t>
            </a:r>
            <a:r>
              <a:rPr lang="en-US" sz="1800" dirty="0" smtClean="0">
                <a:latin typeface="Calibri" panose="020F0502020204030204" pitchFamily="34" charset="0"/>
                <a:cs typeface="Calibri" panose="020F0502020204030204" pitchFamily="34" charset="0"/>
              </a:rPr>
              <a:t> by </a:t>
            </a:r>
            <a:r>
              <a:rPr lang="en-US" sz="1800" dirty="0">
                <a:latin typeface="Calibri" panose="020F0502020204030204" pitchFamily="34" charset="0"/>
                <a:cs typeface="Calibri" panose="020F0502020204030204" pitchFamily="34" charset="0"/>
              </a:rPr>
              <a:t>the </a:t>
            </a:r>
            <a:r>
              <a:rPr lang="en-US" sz="1800" b="1" dirty="0">
                <a:latin typeface="Calibri" panose="020F0502020204030204" pitchFamily="34" charset="0"/>
                <a:cs typeface="Calibri" panose="020F0502020204030204" pitchFamily="34" charset="0"/>
              </a:rPr>
              <a:t>function</a:t>
            </a:r>
            <a:r>
              <a:rPr lang="en-US" sz="1800" dirty="0">
                <a:latin typeface="Calibri" panose="020F0502020204030204" pitchFamily="34" charset="0"/>
                <a:cs typeface="Calibri" panose="020F0502020204030204" pitchFamily="34" charset="0"/>
              </a:rPr>
              <a:t> “</a:t>
            </a:r>
            <a:r>
              <a:rPr lang="en-US" sz="1800" b="1" dirty="0" err="1">
                <a:latin typeface="Calibri" panose="020F0502020204030204" pitchFamily="34" charset="0"/>
                <a:cs typeface="Calibri" panose="020F0502020204030204" pitchFamily="34" charset="0"/>
              </a:rPr>
              <a:t>best_score</a:t>
            </a:r>
            <a:r>
              <a:rPr lang="en-US" sz="1800" b="1" dirty="0" smtClean="0">
                <a:latin typeface="Calibri" panose="020F0502020204030204" pitchFamily="34" charset="0"/>
                <a:cs typeface="Calibri" panose="020F0502020204030204" pitchFamily="34" charset="0"/>
              </a:rPr>
              <a:t>_</a:t>
            </a:r>
            <a:r>
              <a:rPr lang="en-US" sz="1800" dirty="0" smtClean="0">
                <a:latin typeface="Calibri" panose="020F0502020204030204" pitchFamily="34" charset="0"/>
                <a:cs typeface="Calibri" panose="020F0502020204030204" pitchFamily="34" charset="0"/>
              </a:rPr>
              <a:t>”, provided by the instance returned by the hyper-parameter tuning mechanism…</a:t>
            </a:r>
            <a:endParaRPr lang="en-US" sz="1600" dirty="0" smtClean="0">
              <a:latin typeface="Calibri" panose="020F0502020204030204" pitchFamily="34" charset="0"/>
              <a:cs typeface="Calibri" panose="020F0502020204030204" pitchFamily="34" charset="0"/>
            </a:endParaRPr>
          </a:p>
        </p:txBody>
      </p:sp>
      <p:sp>
        <p:nvSpPr>
          <p:cNvPr id="8" name="Title 3"/>
          <p:cNvSpPr>
            <a:spLocks noGrp="1"/>
          </p:cNvSpPr>
          <p:nvPr>
            <p:ph type="title"/>
          </p:nvPr>
        </p:nvSpPr>
        <p:spPr>
          <a:xfrm>
            <a:off x="2483768" y="1"/>
            <a:ext cx="4680520" cy="908719"/>
          </a:xfrm>
        </p:spPr>
        <p:txBody>
          <a:bodyPr/>
          <a:lstStyle/>
          <a:p>
            <a:pPr algn="ctr"/>
            <a:r>
              <a:rPr lang="en-US" b="1" dirty="0" smtClean="0">
                <a:latin typeface="Calibri" panose="020F0502020204030204" pitchFamily="34" charset="0"/>
                <a:cs typeface="Calibri" panose="020F0502020204030204" pitchFamily="34" charset="0"/>
              </a:rPr>
              <a:t>Building a SVM Classifier</a:t>
            </a:r>
            <a:br>
              <a:rPr lang="en-US" b="1" dirty="0" smtClean="0">
                <a:latin typeface="Calibri" panose="020F0502020204030204" pitchFamily="34" charset="0"/>
                <a:cs typeface="Calibri" panose="020F0502020204030204" pitchFamily="34" charset="0"/>
              </a:rPr>
            </a:br>
            <a:r>
              <a:rPr lang="en-US" sz="2000" b="1" dirty="0" smtClean="0">
                <a:latin typeface="Calibri" panose="020F0502020204030204" pitchFamily="34" charset="0"/>
                <a:cs typeface="Calibri" panose="020F0502020204030204" pitchFamily="34" charset="0"/>
              </a:rPr>
              <a:t>Hyper-Parameter Tuning</a:t>
            </a:r>
            <a:endParaRPr lang="en-US" b="1" dirty="0">
              <a:latin typeface="Calibri" panose="020F0502020204030204" pitchFamily="34" charset="0"/>
              <a:cs typeface="Calibri" panose="020F0502020204030204" pitchFamily="34" charset="0"/>
            </a:endParaRPr>
          </a:p>
        </p:txBody>
      </p:sp>
      <p:pic>
        <p:nvPicPr>
          <p:cNvPr id="7" name="Imagem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956376" y="6345324"/>
            <a:ext cx="801197" cy="432048"/>
          </a:xfrm>
          <a:prstGeom prst="rect">
            <a:avLst/>
          </a:prstGeom>
        </p:spPr>
      </p:pic>
      <p:pic>
        <p:nvPicPr>
          <p:cNvPr id="2" name="Imagem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50711" y="3140968"/>
            <a:ext cx="4914585" cy="972348"/>
          </a:xfrm>
          <a:prstGeom prst="rect">
            <a:avLst/>
          </a:prstGeom>
          <a:ln w="3175">
            <a:solidFill>
              <a:schemeClr val="tx1"/>
            </a:solidFill>
          </a:ln>
        </p:spPr>
      </p:pic>
    </p:spTree>
    <p:extLst>
      <p:ext uri="{BB962C8B-B14F-4D97-AF65-F5344CB8AC3E}">
        <p14:creationId xmlns:p14="http://schemas.microsoft.com/office/powerpoint/2010/main" val="288134533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Posição do Número do Diapositivo 2"/>
          <p:cNvSpPr>
            <a:spLocks noGrp="1"/>
          </p:cNvSpPr>
          <p:nvPr>
            <p:ph type="sldNum" sz="quarter" idx="11"/>
          </p:nvPr>
        </p:nvSpPr>
        <p:spPr/>
        <p:txBody>
          <a:bodyPr/>
          <a:lstStyle/>
          <a:p>
            <a:pPr algn="r"/>
            <a:fld id="{D4C49B74-5DB2-4B03-B1D2-7F6A3C51C318}" type="slidenum">
              <a:rPr lang="pt-PT" smtClean="0"/>
              <a:pPr algn="r"/>
              <a:t>16</a:t>
            </a:fld>
            <a:endParaRPr lang="pt-PT" dirty="0"/>
          </a:p>
        </p:txBody>
      </p:sp>
      <p:sp>
        <p:nvSpPr>
          <p:cNvPr id="5" name="Title 3"/>
          <p:cNvSpPr>
            <a:spLocks noGrp="1"/>
          </p:cNvSpPr>
          <p:nvPr>
            <p:ph type="title"/>
          </p:nvPr>
        </p:nvSpPr>
        <p:spPr>
          <a:xfrm>
            <a:off x="2483768" y="1"/>
            <a:ext cx="4680520" cy="908719"/>
          </a:xfrm>
        </p:spPr>
        <p:txBody>
          <a:bodyPr/>
          <a:lstStyle/>
          <a:p>
            <a:pPr algn="ctr"/>
            <a:r>
              <a:rPr lang="en-US" b="1" dirty="0" smtClean="0">
                <a:latin typeface="Calibri" panose="020F0502020204030204" pitchFamily="34" charset="0"/>
                <a:cs typeface="Calibri" panose="020F0502020204030204" pitchFamily="34" charset="0"/>
              </a:rPr>
              <a:t>Building a SVM Classifier</a:t>
            </a:r>
            <a:br>
              <a:rPr lang="en-US" b="1" dirty="0" smtClean="0">
                <a:latin typeface="Calibri" panose="020F0502020204030204" pitchFamily="34" charset="0"/>
                <a:cs typeface="Calibri" panose="020F0502020204030204" pitchFamily="34" charset="0"/>
              </a:rPr>
            </a:br>
            <a:r>
              <a:rPr lang="en-US" sz="2000" b="1" dirty="0" smtClean="0">
                <a:latin typeface="Calibri" panose="020F0502020204030204" pitchFamily="34" charset="0"/>
                <a:cs typeface="Calibri" panose="020F0502020204030204" pitchFamily="34" charset="0"/>
              </a:rPr>
              <a:t>SVM Model Testing</a:t>
            </a:r>
            <a:endParaRPr lang="en-US" b="1" dirty="0">
              <a:latin typeface="Calibri" panose="020F0502020204030204" pitchFamily="34" charset="0"/>
              <a:cs typeface="Calibri" panose="020F0502020204030204" pitchFamily="34" charset="0"/>
            </a:endParaRPr>
          </a:p>
        </p:txBody>
      </p:sp>
      <p:sp>
        <p:nvSpPr>
          <p:cNvPr id="8" name="Text Placeholder 1"/>
          <p:cNvSpPr>
            <a:spLocks noGrp="1"/>
          </p:cNvSpPr>
          <p:nvPr>
            <p:ph type="body" idx="1"/>
          </p:nvPr>
        </p:nvSpPr>
        <p:spPr>
          <a:xfrm>
            <a:off x="395536" y="1042654"/>
            <a:ext cx="8568952" cy="697826"/>
          </a:xfrm>
        </p:spPr>
        <p:txBody>
          <a:bodyPr>
            <a:normAutofit/>
          </a:bodyPr>
          <a:lstStyle/>
          <a:p>
            <a:pPr>
              <a:buSzPct val="70000"/>
            </a:pPr>
            <a:r>
              <a:rPr lang="en-US" sz="1800" dirty="0" smtClean="0">
                <a:latin typeface="Calibri" panose="020F0502020204030204" pitchFamily="34" charset="0"/>
                <a:cs typeface="Calibri" panose="020F0502020204030204" pitchFamily="34" charset="0"/>
              </a:rPr>
              <a:t>The SVM model must be tested against a dataset the model has not seen before…</a:t>
            </a:r>
          </a:p>
          <a:p>
            <a:pPr lvl="1">
              <a:buSzPct val="70000"/>
            </a:pPr>
            <a:r>
              <a:rPr lang="en-US" sz="1600" dirty="0" smtClean="0">
                <a:latin typeface="Calibri" panose="020F0502020204030204" pitchFamily="34" charset="0"/>
                <a:cs typeface="Calibri" panose="020F0502020204030204" pitchFamily="34" charset="0"/>
              </a:rPr>
              <a:t>…such as the testing dataset created in the beginning of this tutorial</a:t>
            </a:r>
          </a:p>
        </p:txBody>
      </p:sp>
      <p:sp>
        <p:nvSpPr>
          <p:cNvPr id="11" name="Text Placeholder 1"/>
          <p:cNvSpPr txBox="1">
            <a:spLocks/>
          </p:cNvSpPr>
          <p:nvPr/>
        </p:nvSpPr>
        <p:spPr>
          <a:xfrm>
            <a:off x="395536" y="2852936"/>
            <a:ext cx="8568952" cy="637747"/>
          </a:xfrm>
          <a:prstGeom prst="rect">
            <a:avLst/>
          </a:prstGeom>
        </p:spPr>
        <p:txBody>
          <a:bodyPr>
            <a:normAutofit/>
          </a:bodyPr>
          <a:lstStyle>
            <a:defPPr>
              <a:defRPr lang="pt-PT">
                <a:solidFill>
                  <a:schemeClr val="tx1"/>
                </a:solidFill>
                <a:latin typeface="+mn-lt"/>
                <a:ea typeface="+mn-ea"/>
                <a:cs typeface="+mn-cs"/>
              </a:defRPr>
            </a:defPPr>
            <a:lvl1pPr marL="342900" indent="-342900" eaLnBrk="1" latinLnBrk="0" hangingPunct="1">
              <a:buChar char="•"/>
              <a:defRPr lang="pt-PT" sz="2400">
                <a:solidFill>
                  <a:srgbClr val="373E48"/>
                </a:solidFill>
                <a:latin typeface="Arial" panose="020B0604020202020204" pitchFamily="34" charset="0"/>
                <a:cs typeface="Arial" panose="020B0604020202020204" pitchFamily="34" charset="0"/>
              </a:defRPr>
            </a:lvl1pPr>
            <a:lvl2pPr marL="742950" indent="-285750" eaLnBrk="1" hangingPunct="1">
              <a:buChar char="–"/>
              <a:defRPr lang="en-US" sz="2000">
                <a:solidFill>
                  <a:schemeClr val="tx2"/>
                </a:solidFill>
                <a:latin typeface="Arial" panose="020B0604020202020204" pitchFamily="34" charset="0"/>
                <a:cs typeface="Arial" panose="020B0604020202020204" pitchFamily="34" charset="0"/>
              </a:defRPr>
            </a:lvl2pPr>
            <a:lvl3pPr marL="1143000" indent="-228600" eaLnBrk="1" hangingPunct="1">
              <a:buChar char="•"/>
              <a:defRPr lang="pt-PT" sz="2000">
                <a:solidFill>
                  <a:srgbClr val="373E48"/>
                </a:solidFill>
                <a:latin typeface="Arial" panose="020B0604020202020204" pitchFamily="34" charset="0"/>
                <a:cs typeface="Arial" panose="020B0604020202020204" pitchFamily="34" charset="0"/>
              </a:defRPr>
            </a:lvl3pPr>
            <a:lvl4pPr marL="1600200" indent="-228600" eaLnBrk="1" hangingPunct="1">
              <a:buChar char="–"/>
              <a:defRPr lang="pt-PT" sz="1800">
                <a:latin typeface="Arial" panose="020B0604020202020204" pitchFamily="34" charset="0"/>
                <a:cs typeface="Arial" panose="020B0604020202020204" pitchFamily="34" charset="0"/>
              </a:defRPr>
            </a:lvl4pPr>
            <a:lvl5pPr marL="2057400" indent="-228600" eaLnBrk="1" hangingPunct="1">
              <a:buChar char="»"/>
              <a:defRPr lang="pt-PT" sz="1800">
                <a:latin typeface="Arial" panose="020B0604020202020204" pitchFamily="34" charset="0"/>
                <a:cs typeface="Arial" panose="020B0604020202020204" pitchFamily="34" charset="0"/>
              </a:defRPr>
            </a:lvl5pPr>
            <a:lvl6pPr marL="2514600" indent="-228600" eaLnBrk="1" hangingPunct="1">
              <a:buChar char="•"/>
              <a:defRPr lang="pt-PT" sz="2000"/>
            </a:lvl6pPr>
            <a:lvl7pPr marL="2971800" indent="-228600" eaLnBrk="1" hangingPunct="1">
              <a:buChar char="•"/>
              <a:defRPr lang="pt-PT" sz="2000"/>
            </a:lvl7pPr>
            <a:lvl8pPr marL="3429000" indent="-228600" eaLnBrk="1" hangingPunct="1">
              <a:buChar char="•"/>
              <a:defRPr lang="pt-PT" sz="2000"/>
            </a:lvl8pPr>
            <a:lvl9pPr marL="3886200" indent="-228600" eaLnBrk="1" hangingPunct="1">
              <a:buChar char="•"/>
              <a:defRPr lang="pt-PT" sz="2000"/>
            </a:lvl9pPr>
          </a:lstStyle>
          <a:p>
            <a:pPr>
              <a:buSzPct val="70000"/>
            </a:pPr>
            <a:r>
              <a:rPr lang="en-US" sz="1800" kern="0" dirty="0" smtClean="0">
                <a:latin typeface="Calibri" panose="020F0502020204030204" pitchFamily="34" charset="0"/>
                <a:cs typeface="Calibri" panose="020F0502020204030204" pitchFamily="34" charset="0"/>
              </a:rPr>
              <a:t>Getting the </a:t>
            </a:r>
            <a:r>
              <a:rPr lang="en-US" sz="1800" b="1" kern="0" dirty="0" smtClean="0">
                <a:latin typeface="Calibri" panose="020F0502020204030204" pitchFamily="34" charset="0"/>
                <a:cs typeface="Calibri" panose="020F0502020204030204" pitchFamily="34" charset="0"/>
              </a:rPr>
              <a:t>Confusion Matrix</a:t>
            </a:r>
            <a:r>
              <a:rPr lang="en-US" sz="1800" kern="0" dirty="0" smtClean="0">
                <a:latin typeface="Calibri" panose="020F0502020204030204" pitchFamily="34" charset="0"/>
                <a:cs typeface="Calibri" panose="020F0502020204030204" pitchFamily="34" charset="0"/>
              </a:rPr>
              <a:t>…</a:t>
            </a:r>
          </a:p>
          <a:p>
            <a:pPr lvl="1">
              <a:buSzPct val="70000"/>
            </a:pPr>
            <a:r>
              <a:rPr lang="en-US" sz="1600" kern="0" dirty="0" smtClean="0">
                <a:latin typeface="Calibri" panose="020F0502020204030204" pitchFamily="34" charset="0"/>
                <a:cs typeface="Calibri" panose="020F0502020204030204" pitchFamily="34" charset="0"/>
              </a:rPr>
              <a:t>Summarizes the number of correct and incorrect predictions per class</a:t>
            </a:r>
          </a:p>
        </p:txBody>
      </p:sp>
      <p:pic>
        <p:nvPicPr>
          <p:cNvPr id="2" name="Imagem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85506" y="4653136"/>
            <a:ext cx="2389010" cy="1935400"/>
          </a:xfrm>
          <a:prstGeom prst="rect">
            <a:avLst/>
          </a:prstGeom>
          <a:ln w="3175">
            <a:solidFill>
              <a:schemeClr val="tx1"/>
            </a:solidFill>
          </a:ln>
        </p:spPr>
      </p:pic>
      <p:pic>
        <p:nvPicPr>
          <p:cNvPr id="9" name="Imagem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956376" y="6345324"/>
            <a:ext cx="801197" cy="432048"/>
          </a:xfrm>
          <a:prstGeom prst="rect">
            <a:avLst/>
          </a:prstGeom>
        </p:spPr>
      </p:pic>
      <p:pic>
        <p:nvPicPr>
          <p:cNvPr id="4" name="Imagem 3"/>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890182" y="1740480"/>
            <a:ext cx="5579659" cy="877812"/>
          </a:xfrm>
          <a:prstGeom prst="rect">
            <a:avLst/>
          </a:prstGeom>
          <a:ln w="3175">
            <a:solidFill>
              <a:schemeClr val="tx1"/>
            </a:solidFill>
          </a:ln>
        </p:spPr>
      </p:pic>
      <p:pic>
        <p:nvPicPr>
          <p:cNvPr id="6" name="Imagem 5"/>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784773" y="3501008"/>
            <a:ext cx="5790476" cy="1019048"/>
          </a:xfrm>
          <a:prstGeom prst="rect">
            <a:avLst/>
          </a:prstGeom>
          <a:ln w="3175">
            <a:solidFill>
              <a:schemeClr val="tx1"/>
            </a:solidFill>
          </a:ln>
        </p:spPr>
      </p:pic>
    </p:spTree>
    <p:extLst>
      <p:ext uri="{BB962C8B-B14F-4D97-AF65-F5344CB8AC3E}">
        <p14:creationId xmlns:p14="http://schemas.microsoft.com/office/powerpoint/2010/main" val="2500788356"/>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Posição do Número do Diapositivo 2"/>
          <p:cNvSpPr>
            <a:spLocks noGrp="1"/>
          </p:cNvSpPr>
          <p:nvPr>
            <p:ph type="sldNum" sz="quarter" idx="11"/>
          </p:nvPr>
        </p:nvSpPr>
        <p:spPr/>
        <p:txBody>
          <a:bodyPr/>
          <a:lstStyle/>
          <a:p>
            <a:pPr algn="r"/>
            <a:fld id="{D4C49B74-5DB2-4B03-B1D2-7F6A3C51C318}" type="slidenum">
              <a:rPr lang="pt-PT" smtClean="0"/>
              <a:pPr algn="r"/>
              <a:t>17</a:t>
            </a:fld>
            <a:endParaRPr lang="pt-PT" dirty="0"/>
          </a:p>
        </p:txBody>
      </p:sp>
      <p:sp>
        <p:nvSpPr>
          <p:cNvPr id="5" name="Title 3"/>
          <p:cNvSpPr>
            <a:spLocks noGrp="1"/>
          </p:cNvSpPr>
          <p:nvPr>
            <p:ph type="title"/>
          </p:nvPr>
        </p:nvSpPr>
        <p:spPr>
          <a:xfrm>
            <a:off x="2483768" y="1"/>
            <a:ext cx="4680520" cy="908719"/>
          </a:xfrm>
        </p:spPr>
        <p:txBody>
          <a:bodyPr/>
          <a:lstStyle/>
          <a:p>
            <a:pPr algn="ctr"/>
            <a:r>
              <a:rPr lang="en-US" b="1" dirty="0" smtClean="0">
                <a:latin typeface="Calibri" panose="020F0502020204030204" pitchFamily="34" charset="0"/>
                <a:cs typeface="Calibri" panose="020F0502020204030204" pitchFamily="34" charset="0"/>
              </a:rPr>
              <a:t>Building a SVM Classifier</a:t>
            </a:r>
            <a:br>
              <a:rPr lang="en-US" b="1" dirty="0" smtClean="0">
                <a:latin typeface="Calibri" panose="020F0502020204030204" pitchFamily="34" charset="0"/>
                <a:cs typeface="Calibri" panose="020F0502020204030204" pitchFamily="34" charset="0"/>
              </a:rPr>
            </a:br>
            <a:r>
              <a:rPr lang="en-US" sz="2000" b="1" dirty="0" smtClean="0">
                <a:latin typeface="Calibri" panose="020F0502020204030204" pitchFamily="34" charset="0"/>
                <a:cs typeface="Calibri" panose="020F0502020204030204" pitchFamily="34" charset="0"/>
              </a:rPr>
              <a:t>SVM Model Testing</a:t>
            </a:r>
            <a:endParaRPr lang="en-US" b="1" dirty="0">
              <a:latin typeface="Calibri" panose="020F0502020204030204" pitchFamily="34" charset="0"/>
              <a:cs typeface="Calibri" panose="020F0502020204030204" pitchFamily="34" charset="0"/>
            </a:endParaRPr>
          </a:p>
        </p:txBody>
      </p:sp>
      <p:sp>
        <p:nvSpPr>
          <p:cNvPr id="7" name="Text Placeholder 1"/>
          <p:cNvSpPr>
            <a:spLocks noGrp="1"/>
          </p:cNvSpPr>
          <p:nvPr>
            <p:ph type="body" idx="1"/>
          </p:nvPr>
        </p:nvSpPr>
        <p:spPr>
          <a:xfrm>
            <a:off x="395536" y="1124744"/>
            <a:ext cx="8568952" cy="648072"/>
          </a:xfrm>
        </p:spPr>
        <p:txBody>
          <a:bodyPr>
            <a:normAutofit/>
          </a:bodyPr>
          <a:lstStyle/>
          <a:p>
            <a:pPr>
              <a:buSzPct val="70000"/>
            </a:pPr>
            <a:r>
              <a:rPr lang="en-US" sz="1800" dirty="0" smtClean="0">
                <a:latin typeface="Calibri" panose="020F0502020204030204" pitchFamily="34" charset="0"/>
                <a:cs typeface="Calibri" panose="020F0502020204030204" pitchFamily="34" charset="0"/>
              </a:rPr>
              <a:t>Getting the average </a:t>
            </a:r>
            <a:r>
              <a:rPr lang="en-US" sz="1800" b="1" dirty="0" smtClean="0">
                <a:latin typeface="Calibri" panose="020F0502020204030204" pitchFamily="34" charset="0"/>
                <a:cs typeface="Calibri" panose="020F0502020204030204" pitchFamily="34" charset="0"/>
              </a:rPr>
              <a:t>accuracy</a:t>
            </a:r>
            <a:r>
              <a:rPr lang="en-US" sz="1800" dirty="0" smtClean="0">
                <a:latin typeface="Calibri" panose="020F0502020204030204" pitchFamily="34" charset="0"/>
                <a:cs typeface="Calibri" panose="020F0502020204030204" pitchFamily="34" charset="0"/>
              </a:rPr>
              <a:t>…</a:t>
            </a:r>
          </a:p>
          <a:p>
            <a:pPr lvl="1">
              <a:buSzPct val="70000"/>
            </a:pPr>
            <a:r>
              <a:rPr lang="en-US" sz="1600" dirty="0" smtClean="0">
                <a:latin typeface="Calibri" panose="020F0502020204030204" pitchFamily="34" charset="0"/>
                <a:cs typeface="Calibri" panose="020F0502020204030204" pitchFamily="34" charset="0"/>
              </a:rPr>
              <a:t>Proportion </a:t>
            </a:r>
            <a:r>
              <a:rPr lang="en-US" sz="1600" dirty="0">
                <a:latin typeface="Calibri" panose="020F0502020204030204" pitchFamily="34" charset="0"/>
                <a:cs typeface="Calibri" panose="020F0502020204030204" pitchFamily="34" charset="0"/>
              </a:rPr>
              <a:t>of correct classifications among all </a:t>
            </a:r>
            <a:r>
              <a:rPr lang="en-US" sz="1600" dirty="0" smtClean="0">
                <a:latin typeface="Calibri" panose="020F0502020204030204" pitchFamily="34" charset="0"/>
                <a:cs typeface="Calibri" panose="020F0502020204030204" pitchFamily="34" charset="0"/>
              </a:rPr>
              <a:t>classifications performed</a:t>
            </a:r>
          </a:p>
        </p:txBody>
      </p:sp>
      <p:sp>
        <p:nvSpPr>
          <p:cNvPr id="6" name="Text Placeholder 1"/>
          <p:cNvSpPr txBox="1">
            <a:spLocks/>
          </p:cNvSpPr>
          <p:nvPr/>
        </p:nvSpPr>
        <p:spPr>
          <a:xfrm>
            <a:off x="539552" y="2601572"/>
            <a:ext cx="8424936" cy="1115460"/>
          </a:xfrm>
          <a:prstGeom prst="rect">
            <a:avLst/>
          </a:prstGeom>
        </p:spPr>
        <p:txBody>
          <a:bodyPr>
            <a:normAutofit/>
          </a:bodyPr>
          <a:lstStyle>
            <a:defPPr>
              <a:defRPr lang="pt-PT">
                <a:solidFill>
                  <a:schemeClr val="tx1"/>
                </a:solidFill>
                <a:latin typeface="+mn-lt"/>
                <a:ea typeface="+mn-ea"/>
                <a:cs typeface="+mn-cs"/>
              </a:defRPr>
            </a:defPPr>
            <a:lvl1pPr marL="342900" indent="-342900" eaLnBrk="1" latinLnBrk="0" hangingPunct="1">
              <a:buChar char="•"/>
              <a:defRPr lang="pt-PT" sz="2400">
                <a:solidFill>
                  <a:srgbClr val="373E48"/>
                </a:solidFill>
                <a:latin typeface="Arial" panose="020B0604020202020204" pitchFamily="34" charset="0"/>
                <a:cs typeface="Arial" panose="020B0604020202020204" pitchFamily="34" charset="0"/>
              </a:defRPr>
            </a:lvl1pPr>
            <a:lvl2pPr marL="742950" indent="-285750" eaLnBrk="1" hangingPunct="1">
              <a:buChar char="–"/>
              <a:defRPr lang="en-US" sz="2000">
                <a:solidFill>
                  <a:schemeClr val="tx2"/>
                </a:solidFill>
                <a:latin typeface="Arial" panose="020B0604020202020204" pitchFamily="34" charset="0"/>
                <a:cs typeface="Arial" panose="020B0604020202020204" pitchFamily="34" charset="0"/>
              </a:defRPr>
            </a:lvl2pPr>
            <a:lvl3pPr marL="1143000" indent="-228600" eaLnBrk="1" hangingPunct="1">
              <a:buChar char="•"/>
              <a:defRPr lang="pt-PT" sz="2000">
                <a:solidFill>
                  <a:srgbClr val="373E48"/>
                </a:solidFill>
                <a:latin typeface="Arial" panose="020B0604020202020204" pitchFamily="34" charset="0"/>
                <a:cs typeface="Arial" panose="020B0604020202020204" pitchFamily="34" charset="0"/>
              </a:defRPr>
            </a:lvl3pPr>
            <a:lvl4pPr marL="1600200" indent="-228600" eaLnBrk="1" hangingPunct="1">
              <a:buChar char="–"/>
              <a:defRPr lang="pt-PT" sz="1800">
                <a:latin typeface="Arial" panose="020B0604020202020204" pitchFamily="34" charset="0"/>
                <a:cs typeface="Arial" panose="020B0604020202020204" pitchFamily="34" charset="0"/>
              </a:defRPr>
            </a:lvl4pPr>
            <a:lvl5pPr marL="2057400" indent="-228600" eaLnBrk="1" hangingPunct="1">
              <a:buChar char="»"/>
              <a:defRPr lang="pt-PT" sz="1800">
                <a:latin typeface="Arial" panose="020B0604020202020204" pitchFamily="34" charset="0"/>
                <a:cs typeface="Arial" panose="020B0604020202020204" pitchFamily="34" charset="0"/>
              </a:defRPr>
            </a:lvl5pPr>
            <a:lvl6pPr marL="2514600" indent="-228600" eaLnBrk="1" hangingPunct="1">
              <a:buChar char="•"/>
              <a:defRPr lang="pt-PT" sz="2000"/>
            </a:lvl6pPr>
            <a:lvl7pPr marL="2971800" indent="-228600" eaLnBrk="1" hangingPunct="1">
              <a:buChar char="•"/>
              <a:defRPr lang="pt-PT" sz="2000"/>
            </a:lvl7pPr>
            <a:lvl8pPr marL="3429000" indent="-228600" eaLnBrk="1" hangingPunct="1">
              <a:buChar char="•"/>
              <a:defRPr lang="pt-PT" sz="2000"/>
            </a:lvl8pPr>
            <a:lvl9pPr marL="3886200" indent="-228600" eaLnBrk="1" hangingPunct="1">
              <a:buChar char="•"/>
              <a:defRPr lang="pt-PT" sz="2000"/>
            </a:lvl9pPr>
          </a:lstStyle>
          <a:p>
            <a:pPr>
              <a:buSzPct val="70000"/>
            </a:pPr>
            <a:r>
              <a:rPr lang="en-US" sz="1800" kern="0" dirty="0" smtClean="0">
                <a:latin typeface="Calibri" panose="020F0502020204030204" pitchFamily="34" charset="0"/>
                <a:cs typeface="Calibri" panose="020F0502020204030204" pitchFamily="34" charset="0"/>
              </a:rPr>
              <a:t>Getting a detailed report in terms of </a:t>
            </a:r>
            <a:r>
              <a:rPr lang="en-US" sz="1800" b="1" kern="0" dirty="0" smtClean="0">
                <a:latin typeface="Calibri" panose="020F0502020204030204" pitchFamily="34" charset="0"/>
                <a:cs typeface="Calibri" panose="020F0502020204030204" pitchFamily="34" charset="0"/>
              </a:rPr>
              <a:t>Precision</a:t>
            </a:r>
            <a:r>
              <a:rPr lang="en-US" sz="1800" kern="0" dirty="0" smtClean="0">
                <a:latin typeface="Calibri" panose="020F0502020204030204" pitchFamily="34" charset="0"/>
                <a:cs typeface="Calibri" panose="020F0502020204030204" pitchFamily="34" charset="0"/>
              </a:rPr>
              <a:t>, </a:t>
            </a:r>
            <a:r>
              <a:rPr lang="en-US" sz="1800" b="1" kern="0" dirty="0" smtClean="0">
                <a:latin typeface="Calibri" panose="020F0502020204030204" pitchFamily="34" charset="0"/>
                <a:cs typeface="Calibri" panose="020F0502020204030204" pitchFamily="34" charset="0"/>
              </a:rPr>
              <a:t>Recall</a:t>
            </a:r>
            <a:r>
              <a:rPr lang="en-US" sz="1800" kern="0" dirty="0">
                <a:latin typeface="Calibri" panose="020F0502020204030204" pitchFamily="34" charset="0"/>
                <a:cs typeface="Calibri" panose="020F0502020204030204" pitchFamily="34" charset="0"/>
              </a:rPr>
              <a:t> </a:t>
            </a:r>
            <a:r>
              <a:rPr lang="en-US" sz="1800" kern="0" dirty="0" smtClean="0">
                <a:latin typeface="Calibri" panose="020F0502020204030204" pitchFamily="34" charset="0"/>
                <a:cs typeface="Calibri" panose="020F0502020204030204" pitchFamily="34" charset="0"/>
              </a:rPr>
              <a:t>and </a:t>
            </a:r>
            <a:r>
              <a:rPr lang="en-US" sz="1800" b="1" kern="0" dirty="0" smtClean="0">
                <a:latin typeface="Calibri" panose="020F0502020204030204" pitchFamily="34" charset="0"/>
                <a:cs typeface="Calibri" panose="020F0502020204030204" pitchFamily="34" charset="0"/>
              </a:rPr>
              <a:t>F1-Score</a:t>
            </a:r>
            <a:r>
              <a:rPr lang="en-US" sz="1800" kern="0" dirty="0" smtClean="0">
                <a:latin typeface="Calibri" panose="020F0502020204030204" pitchFamily="34" charset="0"/>
                <a:cs typeface="Calibri" panose="020F0502020204030204" pitchFamily="34" charset="0"/>
              </a:rPr>
              <a:t>…</a:t>
            </a:r>
          </a:p>
          <a:p>
            <a:pPr lvl="1">
              <a:buSzPct val="70000"/>
            </a:pPr>
            <a:r>
              <a:rPr lang="en-US" sz="1600" kern="0" dirty="0" smtClean="0">
                <a:latin typeface="Calibri" panose="020F0502020204030204" pitchFamily="34" charset="0"/>
                <a:cs typeface="Calibri" panose="020F0502020204030204" pitchFamily="34" charset="0"/>
              </a:rPr>
              <a:t>Precision: Proportion of positive samples correctly classified</a:t>
            </a:r>
          </a:p>
          <a:p>
            <a:pPr lvl="1">
              <a:buSzPct val="70000"/>
            </a:pPr>
            <a:r>
              <a:rPr lang="en-US" sz="1600" kern="0" dirty="0" smtClean="0">
                <a:latin typeface="Calibri" panose="020F0502020204030204" pitchFamily="34" charset="0"/>
                <a:cs typeface="Calibri" panose="020F0502020204030204" pitchFamily="34" charset="0"/>
              </a:rPr>
              <a:t>Recall: Proportion of positive samples detected</a:t>
            </a:r>
          </a:p>
          <a:p>
            <a:pPr lvl="1">
              <a:buSzPct val="70000"/>
            </a:pPr>
            <a:r>
              <a:rPr lang="en-US" sz="1600" kern="0" dirty="0" smtClean="0">
                <a:latin typeface="Calibri" panose="020F0502020204030204" pitchFamily="34" charset="0"/>
                <a:cs typeface="Calibri" panose="020F0502020204030204" pitchFamily="34" charset="0"/>
              </a:rPr>
              <a:t>F1-Score: A weighted measure of precision and recall</a:t>
            </a:r>
          </a:p>
        </p:txBody>
      </p:sp>
      <p:pic>
        <p:nvPicPr>
          <p:cNvPr id="4" name="Imagem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64321" y="4606953"/>
            <a:ext cx="3175398" cy="2170419"/>
          </a:xfrm>
          <a:prstGeom prst="rect">
            <a:avLst/>
          </a:prstGeom>
          <a:ln w="3175">
            <a:solidFill>
              <a:schemeClr val="tx1"/>
            </a:solidFill>
          </a:ln>
        </p:spPr>
      </p:pic>
      <p:pic>
        <p:nvPicPr>
          <p:cNvPr id="9" name="Imagem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956376" y="6345324"/>
            <a:ext cx="801197" cy="432048"/>
          </a:xfrm>
          <a:prstGeom prst="rect">
            <a:avLst/>
          </a:prstGeom>
        </p:spPr>
      </p:pic>
      <p:pic>
        <p:nvPicPr>
          <p:cNvPr id="10" name="Imagem 9"/>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146678" y="1721180"/>
            <a:ext cx="5066667" cy="847619"/>
          </a:xfrm>
          <a:prstGeom prst="rect">
            <a:avLst/>
          </a:prstGeom>
          <a:ln w="3175">
            <a:solidFill>
              <a:schemeClr val="tx1"/>
            </a:solidFill>
          </a:ln>
        </p:spPr>
      </p:pic>
      <p:pic>
        <p:nvPicPr>
          <p:cNvPr id="11" name="Imagem 10"/>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513344" y="3682065"/>
            <a:ext cx="6333333" cy="847619"/>
          </a:xfrm>
          <a:prstGeom prst="rect">
            <a:avLst/>
          </a:prstGeom>
          <a:ln w="3175">
            <a:solidFill>
              <a:schemeClr val="tx1"/>
            </a:solidFill>
          </a:ln>
        </p:spPr>
      </p:pic>
    </p:spTree>
    <p:extLst>
      <p:ext uri="{BB962C8B-B14F-4D97-AF65-F5344CB8AC3E}">
        <p14:creationId xmlns:p14="http://schemas.microsoft.com/office/powerpoint/2010/main" val="3409153712"/>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Posição do Número do Diapositivo 2"/>
          <p:cNvSpPr>
            <a:spLocks noGrp="1"/>
          </p:cNvSpPr>
          <p:nvPr>
            <p:ph type="sldNum" sz="quarter" idx="11"/>
          </p:nvPr>
        </p:nvSpPr>
        <p:spPr/>
        <p:txBody>
          <a:bodyPr/>
          <a:lstStyle/>
          <a:p>
            <a:pPr algn="r"/>
            <a:fld id="{D4C49B74-5DB2-4B03-B1D2-7F6A3C51C318}" type="slidenum">
              <a:rPr lang="en-US" smtClean="0"/>
              <a:pPr algn="r"/>
              <a:t>18</a:t>
            </a:fld>
            <a:endParaRPr lang="en-US" dirty="0"/>
          </a:p>
        </p:txBody>
      </p:sp>
      <p:sp>
        <p:nvSpPr>
          <p:cNvPr id="5" name="Title 2"/>
          <p:cNvSpPr>
            <a:spLocks noGrp="1"/>
          </p:cNvSpPr>
          <p:nvPr>
            <p:ph type="title"/>
          </p:nvPr>
        </p:nvSpPr>
        <p:spPr>
          <a:xfrm>
            <a:off x="4572000" y="4790634"/>
            <a:ext cx="4392488" cy="1196752"/>
          </a:xfrm>
        </p:spPr>
        <p:txBody>
          <a:bodyPr/>
          <a:lstStyle/>
          <a:p>
            <a:r>
              <a:rPr lang="en-US" dirty="0" smtClean="0">
                <a:latin typeface="Corbel" panose="020B0503020204020204" pitchFamily="34" charset="0"/>
              </a:rPr>
              <a:t>Thanks for the attention!</a:t>
            </a:r>
            <a:endParaRPr lang="en-US" dirty="0">
              <a:latin typeface="Corbel" panose="020B0503020204020204" pitchFamily="34" charset="0"/>
            </a:endParaRPr>
          </a:p>
        </p:txBody>
      </p:sp>
      <p:pic>
        <p:nvPicPr>
          <p:cNvPr id="6" name="Imagem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17402" y="1772816"/>
            <a:ext cx="3590702" cy="4210274"/>
          </a:xfrm>
          <a:prstGeom prst="rect">
            <a:avLst/>
          </a:prstGeom>
        </p:spPr>
      </p:pic>
    </p:spTree>
    <p:extLst>
      <p:ext uri="{BB962C8B-B14F-4D97-AF65-F5344CB8AC3E}">
        <p14:creationId xmlns:p14="http://schemas.microsoft.com/office/powerpoint/2010/main" val="1240323748"/>
      </p:ext>
    </p:extLst>
  </p:cSld>
  <p:clrMapOvr>
    <a:masterClrMapping/>
  </p:clrMapOvr>
  <p:timing>
    <p:tnLst>
      <p:par>
        <p:cTn id="1" dur="indefinite" restart="never" nodeType="tmRoot"/>
      </p:par>
    </p:tnLst>
  </p:timing>
</p:sld>
</file>

<file path=ppt/theme/theme1.xml><?xml version="1.0" encoding="utf-8"?>
<a:theme xmlns:a="http://schemas.openxmlformats.org/drawingml/2006/main" name="DesignTemplat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Effects">
      <a:fillStyleLst>
        <a:solidFill>
          <a:schemeClr val="phClr">
            <a:tint val="100000"/>
            <a:shade val="100000"/>
            <a:satMod val="100000"/>
          </a:schemeClr>
        </a:solidFill>
        <a:gradFill rotWithShape="1">
          <a:gsLst>
            <a:gs pos="0">
              <a:schemeClr val="phClr">
                <a:tint val="65000"/>
                <a:shade val="100000"/>
                <a:satMod val="133000"/>
              </a:schemeClr>
            </a:gs>
            <a:gs pos="15000">
              <a:schemeClr val="phClr">
                <a:tint val="50000"/>
                <a:shade val="100000"/>
                <a:satMod val="140000"/>
              </a:schemeClr>
            </a:gs>
            <a:gs pos="100000">
              <a:schemeClr val="phClr">
                <a:tint val="10000"/>
                <a:shade val="100000"/>
                <a:satMod val="135000"/>
              </a:schemeClr>
            </a:gs>
          </a:gsLst>
          <a:lin ang="16200000" scaled="1"/>
        </a:gradFill>
        <a:gradFill rotWithShape="1">
          <a:gsLst>
            <a:gs pos="0">
              <a:schemeClr val="phClr">
                <a:tint val="100000"/>
                <a:shade val="75000"/>
                <a:satMod val="160000"/>
              </a:schemeClr>
            </a:gs>
            <a:gs pos="62000">
              <a:schemeClr val="phClr">
                <a:tint val="100000"/>
                <a:shade val="100000"/>
                <a:satMod val="125000"/>
              </a:schemeClr>
            </a:gs>
            <a:gs pos="100000">
              <a:schemeClr val="phClr">
                <a:tint val="80000"/>
                <a:shade val="100000"/>
                <a:satMod val="140000"/>
              </a:schemeClr>
            </a:gs>
          </a:gsLst>
          <a:lin ang="16200000" scaled="1"/>
        </a:gradFill>
      </a:fillStyleLst>
      <a:lnStyleLst>
        <a:ln w="12700">
          <a:solidFill>
            <a:schemeClr val="phClr"/>
          </a:solidFill>
          <a:prstDash val="solid"/>
        </a:ln>
        <a:ln w="25400">
          <a:solidFill>
            <a:schemeClr val="phClr"/>
          </a:solidFill>
          <a:prstDash val="solid"/>
        </a:ln>
        <a:ln w="38100">
          <a:solidFill>
            <a:schemeClr val="phClr"/>
          </a:solidFill>
          <a:prstDash val="solid"/>
        </a:ln>
      </a:lnStyleLst>
      <a:effectStyleLst>
        <a:effectStyle>
          <a:effectLst>
            <a:outerShdw blurRad="50800" dist="25400" dir="5400000">
              <a:srgbClr val="000000">
                <a:alpha val="43137"/>
              </a:srgbClr>
            </a:outerShdw>
          </a:effectLst>
        </a:effectStyle>
        <a:effectStyle>
          <a:effectLst>
            <a:outerShdw blurRad="50800" dist="38100" dir="5400000">
              <a:srgbClr val="000000">
                <a:alpha val="61176"/>
              </a:srgbClr>
            </a:outerShdw>
          </a:effectLst>
          <a:scene3d>
            <a:camera prst="orthographicFront" fov="0">
              <a:rot lat="0" lon="0" rev="0"/>
            </a:camera>
            <a:lightRig rig="contrasting" dir="t">
              <a:rot lat="0" lon="0" rev="16500000"/>
            </a:lightRig>
          </a:scene3d>
          <a:sp3d contourW="12700" prstMaterial="powder">
            <a:bevelT h="50800"/>
            <a:contourClr>
              <a:schemeClr val="phClr">
                <a:tint val="100000"/>
                <a:shade val="100000"/>
                <a:satMod val="100000"/>
              </a:schemeClr>
            </a:contourClr>
          </a:sp3d>
        </a:effectStyle>
        <a:effectStyle>
          <a:effectLst>
            <a:reflection blurRad="12700" stA="25000" endPos="28000" dist="38100" dir="5400000" sy="-100000" rotWithShape="0"/>
          </a:effectLst>
          <a:scene3d>
            <a:camera prst="orthographicFront" fov="0">
              <a:rot lat="0" lon="0" rev="0"/>
            </a:camera>
            <a:lightRig rig="threePt" dir="t">
              <a:rot lat="0" lon="0" rev="0"/>
            </a:lightRig>
          </a:scene3d>
          <a:sp3d>
            <a:bevelT w="139700" h="38100"/>
            <a:contourClr>
              <a:schemeClr val="phClr">
                <a:tint val="100000"/>
                <a:shade val="100000"/>
                <a:satMod val="100000"/>
              </a:schemeClr>
            </a:contourClr>
          </a:sp3d>
        </a:effectStyle>
      </a:effectStyleLst>
      <a:bgFillStyleLst>
        <a:solidFill>
          <a:schemeClr val="phClr">
            <a:tint val="100000"/>
            <a:shade val="100000"/>
            <a:satMod val="100000"/>
          </a:schemeClr>
        </a:solidFill>
        <a:gradFill rotWithShape="1">
          <a:gsLst>
            <a:gs pos="0">
              <a:schemeClr val="phClr">
                <a:tint val="100000"/>
                <a:shade val="50000"/>
                <a:satMod val="145000"/>
              </a:schemeClr>
            </a:gs>
            <a:gs pos="40000">
              <a:schemeClr val="phClr">
                <a:tint val="100000"/>
                <a:shade val="70000"/>
                <a:satMod val="145000"/>
              </a:schemeClr>
            </a:gs>
            <a:gs pos="100000">
              <a:schemeClr val="phClr">
                <a:tint val="85000"/>
                <a:shade val="100000"/>
                <a:satMod val="155000"/>
              </a:schemeClr>
            </a:gs>
          </a:gsLst>
          <a:lin ang="16200000" scaled="1"/>
        </a:gradFill>
        <a:gradFill rotWithShape="1">
          <a:gsLst>
            <a:gs pos="0">
              <a:schemeClr val="phClr">
                <a:tint val="100000"/>
                <a:shade val="50000"/>
                <a:satMod val="145000"/>
              </a:schemeClr>
            </a:gs>
            <a:gs pos="30000">
              <a:schemeClr val="phClr">
                <a:tint val="100000"/>
                <a:shade val="65000"/>
                <a:satMod val="155000"/>
              </a:schemeClr>
            </a:gs>
            <a:gs pos="100000">
              <a:schemeClr val="phClr">
                <a:tint val="60000"/>
                <a:shade val="100000"/>
                <a:satMod val="170000"/>
              </a:schemeClr>
            </a:gs>
          </a:gsLst>
          <a:lin ang="16200000" scaled="1"/>
        </a:gradFill>
      </a:bgFillStyleLst>
    </a:fmtScheme>
  </a:themeElements>
  <a:objectDefaults>
    <a:spDef>
      <a:spPr bwMode="auto">
        <a:noFill/>
        <a:ln w="19050" cap="flat" cmpd="sng" algn="ctr">
          <a:solidFill>
            <a:srgbClr val="000000"/>
          </a:solidFill>
          <a:prstDash val="solid"/>
          <a:round/>
          <a:headEnd type="none" w="med" len="med"/>
          <a:tailEnd type="none" w="med" len="med"/>
        </a:ln>
        <a:effectLst/>
      </a:spPr>
      <a:bodyPr vert="horz" wrap="square" lIns="91440" tIns="45720" rIns="91440" bIns="45720" numCol="1" rtlCol="0"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sz="1200" i="0" u="none" strike="noStrike" cap="none" normalizeH="0" baseline="0" dirty="0" smtClean="0">
            <a:ln>
              <a:noFill/>
            </a:ln>
            <a:solidFill>
              <a:schemeClr val="tx1"/>
            </a:solidFill>
            <a:effectLst/>
            <a:latin typeface="Arial" panose="020B0604020202020204" pitchFamily="34" charset="0"/>
            <a:cs typeface="Arial" panose="020B0604020202020204" pitchFamily="34" charset="0"/>
          </a:defRPr>
        </a:defPPr>
      </a:lstStyle>
    </a:spDef>
    <a:lnDef>
      <a:spPr bwMode="auto">
        <a:solidFill>
          <a:schemeClr val="accent1"/>
        </a:solidFill>
        <a:ln w="12700" cap="flat" cmpd="sng" algn="ctr">
          <a:solidFill>
            <a:schemeClr val="tx1"/>
          </a:solidFill>
          <a:prstDash val="solid"/>
          <a:round/>
          <a:headEnd type="none" w="med" len="med"/>
          <a:tailEnd type="triangle"/>
        </a:ln>
        <a:effectLst/>
      </a:spPr>
      <a:bodyPr/>
      <a:lstStyle/>
    </a:lnDef>
    <a:txDef>
      <a:spPr>
        <a:noFill/>
      </a:spPr>
      <a:bodyPr wrap="none" rtlCol="0">
        <a:spAutoFit/>
      </a:bodyPr>
      <a:lstStyle>
        <a:defPPr>
          <a:defRPr dirty="0" smtClean="0">
            <a:latin typeface="Arial" panose="020B0604020202020204" pitchFamily="34" charset="0"/>
            <a:cs typeface="Arial" panose="020B0604020202020204" pitchFamily="34" charset="0"/>
          </a:defRPr>
        </a:defPPr>
      </a:lstStyle>
    </a:txDef>
  </a:objectDefaults>
  <a:extraClrSchemeLst/>
  <a:extLst>
    <a:ext uri="{05A4C25C-085E-4340-85A3-A5531E510DB2}">
      <thm15:themeFamily xmlns:thm15="http://schemas.microsoft.com/office/thememl/2012/main" name="PhDpresentation.pptx" id="{A30123ED-46B2-4518-9CFD-DF7C1FC1C095}" vid="{13C44F06-6600-4833-9DA8-A4D9BB002C88}"/>
    </a:ext>
  </a:extLst>
</a:theme>
</file>

<file path=ppt/theme/theme2.xml><?xml version="1.0" encoding="utf-8"?>
<a:theme xmlns:a="http://schemas.openxmlformats.org/drawingml/2006/main" name="Custom Theme">
  <a:themeElements>
    <a:clrScheme name="Office Colors">
      <a:dk1>
        <a:sysClr val="windowText" lastClr="000000"/>
      </a:dk1>
      <a:lt1>
        <a:sysClr val="window" lastClr="FFFFFF"/>
      </a:lt1>
      <a:dk2>
        <a:srgbClr val="1F497D"/>
      </a:dk2>
      <a:lt2>
        <a:srgbClr val="FAF3E8"/>
      </a:lt2>
      <a:accent1>
        <a:srgbClr val="5C83B4"/>
      </a:accent1>
      <a:accent2>
        <a:srgbClr val="C0504D"/>
      </a:accent2>
      <a:accent3>
        <a:srgbClr val="9DBB61"/>
      </a:accent3>
      <a:accent4>
        <a:srgbClr val="8066A0"/>
      </a:accent4>
      <a:accent5>
        <a:srgbClr val="4BACC6"/>
      </a:accent5>
      <a:accent6>
        <a:srgbClr val="F59D56"/>
      </a:accent6>
      <a:hlink>
        <a:srgbClr val="0000FF"/>
      </a:hlink>
      <a:folHlink>
        <a:srgbClr val="800080"/>
      </a:folHlink>
    </a:clrScheme>
    <a:fontScheme name="Office Fonts">
      <a:majorFont>
        <a:latin typeface="Calibri"/>
        <a:ea typeface="MS PGothic"/>
        <a:cs typeface=""/>
      </a:majorFont>
      <a:minorFont>
        <a:latin typeface="Calibri"/>
        <a:ea typeface="MS PGothic"/>
        <a:cs typeface=""/>
      </a:minorFont>
    </a:fontScheme>
    <a:fmtScheme name="Office Effects">
      <a:fillStyleLst>
        <a:solidFill>
          <a:schemeClr val="phClr">
            <a:tint val="100000"/>
            <a:shade val="100000"/>
            <a:satMod val="100000"/>
          </a:schemeClr>
        </a:solidFill>
        <a:gradFill rotWithShape="1">
          <a:gsLst>
            <a:gs pos="0">
              <a:schemeClr val="phClr">
                <a:tint val="65000"/>
                <a:shade val="100000"/>
                <a:satMod val="133000"/>
              </a:schemeClr>
            </a:gs>
            <a:gs pos="15000">
              <a:schemeClr val="phClr">
                <a:tint val="50000"/>
                <a:shade val="100000"/>
                <a:satMod val="140000"/>
              </a:schemeClr>
            </a:gs>
            <a:gs pos="100000">
              <a:schemeClr val="phClr">
                <a:tint val="10000"/>
                <a:shade val="100000"/>
                <a:satMod val="135000"/>
              </a:schemeClr>
            </a:gs>
          </a:gsLst>
          <a:lin ang="16200000" scaled="1"/>
        </a:gradFill>
        <a:gradFill rotWithShape="1">
          <a:gsLst>
            <a:gs pos="0">
              <a:schemeClr val="phClr">
                <a:tint val="100000"/>
                <a:shade val="75000"/>
                <a:satMod val="160000"/>
              </a:schemeClr>
            </a:gs>
            <a:gs pos="62000">
              <a:schemeClr val="phClr">
                <a:tint val="100000"/>
                <a:shade val="100000"/>
                <a:satMod val="125000"/>
              </a:schemeClr>
            </a:gs>
            <a:gs pos="100000">
              <a:schemeClr val="phClr">
                <a:tint val="80000"/>
                <a:shade val="100000"/>
                <a:satMod val="140000"/>
              </a:schemeClr>
            </a:gs>
          </a:gsLst>
          <a:lin ang="16200000" scaled="1"/>
        </a:gradFill>
      </a:fillStyleLst>
      <a:lnStyleLst>
        <a:ln w="12700">
          <a:solidFill>
            <a:schemeClr val="phClr"/>
          </a:solidFill>
          <a:prstDash val="solid"/>
        </a:ln>
        <a:ln w="25400">
          <a:solidFill>
            <a:schemeClr val="phClr"/>
          </a:solidFill>
          <a:prstDash val="solid"/>
        </a:ln>
        <a:ln w="38100">
          <a:solidFill>
            <a:schemeClr val="phClr"/>
          </a:solidFill>
          <a:prstDash val="solid"/>
        </a:ln>
      </a:lnStyleLst>
      <a:effectStyleLst>
        <a:effectStyle>
          <a:effectLst>
            <a:outerShdw blurRad="50800" dist="25400" dir="5400000">
              <a:srgbClr val="000000">
                <a:alpha val="43137"/>
              </a:srgbClr>
            </a:outerShdw>
          </a:effectLst>
        </a:effectStyle>
        <a:effectStyle>
          <a:effectLst>
            <a:outerShdw blurRad="50800" dist="38100" dir="5400000">
              <a:srgbClr val="000000">
                <a:alpha val="61176"/>
              </a:srgbClr>
            </a:outerShdw>
          </a:effectLst>
          <a:scene3d>
            <a:camera prst="orthographicFront" fov="0">
              <a:rot lat="0" lon="0" rev="0"/>
            </a:camera>
            <a:lightRig rig="contrasting" dir="t">
              <a:rot lat="0" lon="0" rev="16500000"/>
            </a:lightRig>
          </a:scene3d>
          <a:sp3d contourW="12700" prstMaterial="powder">
            <a:bevelT h="50800"/>
            <a:contourClr>
              <a:schemeClr val="phClr">
                <a:tint val="100000"/>
                <a:shade val="100000"/>
                <a:satMod val="100000"/>
              </a:schemeClr>
            </a:contourClr>
          </a:sp3d>
        </a:effectStyle>
        <a:effectStyle>
          <a:effectLst>
            <a:reflection blurRad="12700" stA="25000" endPos="28000" dist="38100" dir="5400000" sy="-100000" rotWithShape="0"/>
          </a:effectLst>
          <a:scene3d>
            <a:camera prst="orthographicFront" fov="0">
              <a:rot lat="0" lon="0" rev="0"/>
            </a:camera>
            <a:lightRig rig="threePt" dir="t">
              <a:rot lat="0" lon="0" rev="0"/>
            </a:lightRig>
          </a:scene3d>
          <a:sp3d>
            <a:bevelT w="139700" h="38100"/>
            <a:contourClr>
              <a:schemeClr val="phClr">
                <a:tint val="100000"/>
                <a:shade val="100000"/>
                <a:satMod val="100000"/>
              </a:schemeClr>
            </a:contourClr>
          </a:sp3d>
        </a:effectStyle>
      </a:effectStyleLst>
      <a:bgFillStyleLst>
        <a:solidFill>
          <a:schemeClr val="phClr">
            <a:tint val="100000"/>
            <a:shade val="100000"/>
            <a:satMod val="100000"/>
          </a:schemeClr>
        </a:solidFill>
        <a:gradFill rotWithShape="1">
          <a:gsLst>
            <a:gs pos="0">
              <a:schemeClr val="phClr">
                <a:tint val="100000"/>
                <a:shade val="50000"/>
                <a:satMod val="145000"/>
              </a:schemeClr>
            </a:gs>
            <a:gs pos="40000">
              <a:schemeClr val="phClr">
                <a:tint val="100000"/>
                <a:shade val="70000"/>
                <a:satMod val="145000"/>
              </a:schemeClr>
            </a:gs>
            <a:gs pos="100000">
              <a:schemeClr val="phClr">
                <a:tint val="85000"/>
                <a:shade val="100000"/>
                <a:satMod val="155000"/>
              </a:schemeClr>
            </a:gs>
          </a:gsLst>
          <a:lin ang="16200000" scaled="1"/>
        </a:gradFill>
        <a:gradFill rotWithShape="1">
          <a:gsLst>
            <a:gs pos="0">
              <a:schemeClr val="phClr">
                <a:tint val="100000"/>
                <a:shade val="50000"/>
                <a:satMod val="145000"/>
              </a:schemeClr>
            </a:gs>
            <a:gs pos="30000">
              <a:schemeClr val="phClr">
                <a:tint val="100000"/>
                <a:shade val="65000"/>
                <a:satMod val="155000"/>
              </a:schemeClr>
            </a:gs>
            <a:gs pos="100000">
              <a:schemeClr val="phClr">
                <a:tint val="60000"/>
                <a:shade val="100000"/>
                <a:satMod val="170000"/>
              </a:schemeClr>
            </a:gs>
          </a:gsLst>
          <a:lin ang="16200000" scaled="1"/>
        </a:gradFill>
      </a:bgFillStyleLst>
    </a:fmtScheme>
  </a:themeElements>
  <a:objectDefaults/>
  <a:extraClrSchemeLst/>
</a:theme>
</file>

<file path=ppt/theme/theme3.xml><?xml version="1.0" encoding="utf-8"?>
<a:theme xmlns:a="http://schemas.openxmlformats.org/drawingml/2006/main" name="Custom Theme">
  <a:themeElements>
    <a:clrScheme name="Office Colors">
      <a:dk1>
        <a:sysClr val="windowText" lastClr="000000"/>
      </a:dk1>
      <a:lt1>
        <a:sysClr val="window" lastClr="FFFFFF"/>
      </a:lt1>
      <a:dk2>
        <a:srgbClr val="1F497D"/>
      </a:dk2>
      <a:lt2>
        <a:srgbClr val="FAF3E8"/>
      </a:lt2>
      <a:accent1>
        <a:srgbClr val="5C83B4"/>
      </a:accent1>
      <a:accent2>
        <a:srgbClr val="C0504D"/>
      </a:accent2>
      <a:accent3>
        <a:srgbClr val="9DBB61"/>
      </a:accent3>
      <a:accent4>
        <a:srgbClr val="8066A0"/>
      </a:accent4>
      <a:accent5>
        <a:srgbClr val="4BACC6"/>
      </a:accent5>
      <a:accent6>
        <a:srgbClr val="F59D56"/>
      </a:accent6>
      <a:hlink>
        <a:srgbClr val="0000FF"/>
      </a:hlink>
      <a:folHlink>
        <a:srgbClr val="800080"/>
      </a:folHlink>
    </a:clrScheme>
    <a:fontScheme name="Office Fonts">
      <a:majorFont>
        <a:latin typeface="Calibri"/>
        <a:ea typeface="MS PGothic"/>
        <a:cs typeface=""/>
      </a:majorFont>
      <a:minorFont>
        <a:latin typeface="Calibri"/>
        <a:ea typeface="MS PGothic"/>
        <a:cs typeface=""/>
      </a:minorFont>
    </a:fontScheme>
    <a:fmtScheme name="Office Effects">
      <a:fillStyleLst>
        <a:solidFill>
          <a:schemeClr val="phClr">
            <a:tint val="100000"/>
            <a:shade val="100000"/>
            <a:satMod val="100000"/>
          </a:schemeClr>
        </a:solidFill>
        <a:gradFill rotWithShape="1">
          <a:gsLst>
            <a:gs pos="0">
              <a:schemeClr val="phClr">
                <a:tint val="65000"/>
                <a:shade val="100000"/>
                <a:satMod val="133000"/>
              </a:schemeClr>
            </a:gs>
            <a:gs pos="15000">
              <a:schemeClr val="phClr">
                <a:tint val="50000"/>
                <a:shade val="100000"/>
                <a:satMod val="140000"/>
              </a:schemeClr>
            </a:gs>
            <a:gs pos="100000">
              <a:schemeClr val="phClr">
                <a:tint val="10000"/>
                <a:shade val="100000"/>
                <a:satMod val="135000"/>
              </a:schemeClr>
            </a:gs>
          </a:gsLst>
          <a:lin ang="16200000" scaled="1"/>
        </a:gradFill>
        <a:gradFill rotWithShape="1">
          <a:gsLst>
            <a:gs pos="0">
              <a:schemeClr val="phClr">
                <a:tint val="100000"/>
                <a:shade val="75000"/>
                <a:satMod val="160000"/>
              </a:schemeClr>
            </a:gs>
            <a:gs pos="62000">
              <a:schemeClr val="phClr">
                <a:tint val="100000"/>
                <a:shade val="100000"/>
                <a:satMod val="125000"/>
              </a:schemeClr>
            </a:gs>
            <a:gs pos="100000">
              <a:schemeClr val="phClr">
                <a:tint val="80000"/>
                <a:shade val="100000"/>
                <a:satMod val="140000"/>
              </a:schemeClr>
            </a:gs>
          </a:gsLst>
          <a:lin ang="16200000" scaled="1"/>
        </a:gradFill>
      </a:fillStyleLst>
      <a:lnStyleLst>
        <a:ln w="12700">
          <a:solidFill>
            <a:schemeClr val="phClr"/>
          </a:solidFill>
          <a:prstDash val="solid"/>
        </a:ln>
        <a:ln w="25400">
          <a:solidFill>
            <a:schemeClr val="phClr"/>
          </a:solidFill>
          <a:prstDash val="solid"/>
        </a:ln>
        <a:ln w="38100">
          <a:solidFill>
            <a:schemeClr val="phClr"/>
          </a:solidFill>
          <a:prstDash val="solid"/>
        </a:ln>
      </a:lnStyleLst>
      <a:effectStyleLst>
        <a:effectStyle>
          <a:effectLst>
            <a:outerShdw blurRad="50800" dist="25400" dir="5400000">
              <a:srgbClr val="000000">
                <a:alpha val="43137"/>
              </a:srgbClr>
            </a:outerShdw>
          </a:effectLst>
        </a:effectStyle>
        <a:effectStyle>
          <a:effectLst>
            <a:outerShdw blurRad="50800" dist="38100" dir="5400000">
              <a:srgbClr val="000000">
                <a:alpha val="61176"/>
              </a:srgbClr>
            </a:outerShdw>
          </a:effectLst>
          <a:scene3d>
            <a:camera prst="orthographicFront" fov="0">
              <a:rot lat="0" lon="0" rev="0"/>
            </a:camera>
            <a:lightRig rig="contrasting" dir="t">
              <a:rot lat="0" lon="0" rev="16500000"/>
            </a:lightRig>
          </a:scene3d>
          <a:sp3d contourW="12700" prstMaterial="powder">
            <a:bevelT h="50800"/>
            <a:contourClr>
              <a:schemeClr val="phClr">
                <a:tint val="100000"/>
                <a:shade val="100000"/>
                <a:satMod val="100000"/>
              </a:schemeClr>
            </a:contourClr>
          </a:sp3d>
        </a:effectStyle>
        <a:effectStyle>
          <a:effectLst>
            <a:reflection blurRad="12700" stA="25000" endPos="28000" dist="38100" dir="5400000" sy="-100000" rotWithShape="0"/>
          </a:effectLst>
          <a:scene3d>
            <a:camera prst="orthographicFront" fov="0">
              <a:rot lat="0" lon="0" rev="0"/>
            </a:camera>
            <a:lightRig rig="threePt" dir="t">
              <a:rot lat="0" lon="0" rev="0"/>
            </a:lightRig>
          </a:scene3d>
          <a:sp3d>
            <a:bevelT w="139700" h="38100"/>
            <a:contourClr>
              <a:schemeClr val="phClr">
                <a:tint val="100000"/>
                <a:shade val="100000"/>
                <a:satMod val="100000"/>
              </a:schemeClr>
            </a:contourClr>
          </a:sp3d>
        </a:effectStyle>
      </a:effectStyleLst>
      <a:bgFillStyleLst>
        <a:solidFill>
          <a:schemeClr val="phClr">
            <a:tint val="100000"/>
            <a:shade val="100000"/>
            <a:satMod val="100000"/>
          </a:schemeClr>
        </a:solidFill>
        <a:gradFill rotWithShape="1">
          <a:gsLst>
            <a:gs pos="0">
              <a:schemeClr val="phClr">
                <a:tint val="100000"/>
                <a:shade val="50000"/>
                <a:satMod val="145000"/>
              </a:schemeClr>
            </a:gs>
            <a:gs pos="40000">
              <a:schemeClr val="phClr">
                <a:tint val="100000"/>
                <a:shade val="70000"/>
                <a:satMod val="145000"/>
              </a:schemeClr>
            </a:gs>
            <a:gs pos="100000">
              <a:schemeClr val="phClr">
                <a:tint val="85000"/>
                <a:shade val="100000"/>
                <a:satMod val="155000"/>
              </a:schemeClr>
            </a:gs>
          </a:gsLst>
          <a:lin ang="16200000" scaled="1"/>
        </a:gradFill>
        <a:gradFill rotWithShape="1">
          <a:gsLst>
            <a:gs pos="0">
              <a:schemeClr val="phClr">
                <a:tint val="100000"/>
                <a:shade val="50000"/>
                <a:satMod val="145000"/>
              </a:schemeClr>
            </a:gs>
            <a:gs pos="30000">
              <a:schemeClr val="phClr">
                <a:tint val="100000"/>
                <a:shade val="65000"/>
                <a:satMod val="155000"/>
              </a:schemeClr>
            </a:gs>
            <a:gs pos="100000">
              <a:schemeClr val="phClr">
                <a:tint val="60000"/>
                <a:shade val="100000"/>
                <a:satMod val="170000"/>
              </a:schemeClr>
            </a:gs>
          </a:gsLst>
          <a:lin ang="16200000" scaled="1"/>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TemplateFile" ma:contentTypeID="0x0101005EB5FCBB1E5ECD4D83FA6E62BA4F98FF04003B76559807ED7042AFCC9CD6E0E16B7A" ma:contentTypeVersion="23" ma:contentTypeDescription="Create a new document." ma:contentTypeScope="" ma:versionID="4e7ae912b4fbccaa31f4eb83f826eee0"/>
</file>

<file path=customXml/item2.xml><?xml version="1.0" encoding="utf-8"?>
<p:properties xmlns:p="http://schemas.microsoft.com/office/2006/metadata/properties" xmlns:xsi="http://www.w3.org/2001/XMLSchema-instance" xmlns:pc="http://schemas.microsoft.com/office/infopath/2007/PartnerControls"/>
</file>

<file path=customXml/item3.xml><?xml version="1.0" encoding="utf-8"?>
<?mso-contentType ?>
<FormTemplates xmlns="http://schemas.microsoft.com/sharepoint/v3/contenttype/forms">
  <Display>DocumentLibraryForm</Display>
  <Edit>AssetEditForm</Edit>
  <New>DocumentLibraryForm</New>
</FormTemplates>
</file>

<file path=customXml/itemProps1.xml><?xml version="1.0" encoding="utf-8"?>
<ds:datastoreItem xmlns:ds="http://schemas.openxmlformats.org/officeDocument/2006/customXml" ds:itemID="{43739120-6E4D-43F1-BE63-8A56581E977C}">
  <ds:schemaRefs>
    <ds:schemaRef ds:uri="http://schemas.microsoft.com/office/2006/metadata/contentType"/>
    <ds:schemaRef ds:uri="http://schemas.microsoft.com/office/2006/metadata/properties/metaAttributes"/>
  </ds:schemaRefs>
</ds:datastoreItem>
</file>

<file path=customXml/itemProps2.xml><?xml version="1.0" encoding="utf-8"?>
<ds:datastoreItem xmlns:ds="http://schemas.openxmlformats.org/officeDocument/2006/customXml" ds:itemID="{01D2A88F-2AED-40BE-90C1-A47312572039}">
  <ds:schemaRefs>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639430A2-2E43-417E-8E0C-4D89782865E9}">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PhDpresentation</Template>
  <TotalTime>2448</TotalTime>
  <Words>1534</Words>
  <Application>Microsoft Office PowerPoint</Application>
  <PresentationFormat>Apresentação no Ecrã (4:3)</PresentationFormat>
  <Paragraphs>224</Paragraphs>
  <Slides>18</Slides>
  <Notes>12</Notes>
  <HiddenSlides>0</HiddenSlides>
  <MMClips>0</MMClips>
  <ScaleCrop>false</ScaleCrop>
  <HeadingPairs>
    <vt:vector size="6" baseType="variant">
      <vt:variant>
        <vt:lpstr>Tipos de letra usados</vt:lpstr>
      </vt:variant>
      <vt:variant>
        <vt:i4>7</vt:i4>
      </vt:variant>
      <vt:variant>
        <vt:lpstr>Tema</vt:lpstr>
      </vt:variant>
      <vt:variant>
        <vt:i4>1</vt:i4>
      </vt:variant>
      <vt:variant>
        <vt:lpstr>Títulos dos diapositivos</vt:lpstr>
      </vt:variant>
      <vt:variant>
        <vt:i4>18</vt:i4>
      </vt:variant>
    </vt:vector>
  </HeadingPairs>
  <TitlesOfParts>
    <vt:vector size="26" baseType="lpstr">
      <vt:lpstr>MS PGothic</vt:lpstr>
      <vt:lpstr>Adobe Gothic Std B</vt:lpstr>
      <vt:lpstr>Arial</vt:lpstr>
      <vt:lpstr>Calibri</vt:lpstr>
      <vt:lpstr>Cambria Math</vt:lpstr>
      <vt:lpstr>Corbel</vt:lpstr>
      <vt:lpstr>Times New Roman</vt:lpstr>
      <vt:lpstr>DesignTemplate</vt:lpstr>
      <vt:lpstr>Apresentação do PowerPoint</vt:lpstr>
      <vt:lpstr>What is scikit-learn?</vt:lpstr>
      <vt:lpstr>Installing scikit-learn</vt:lpstr>
      <vt:lpstr>Building a SVM Classifier Configuring PyCharm</vt:lpstr>
      <vt:lpstr>Building a SVM Classifier Loading an external dataset</vt:lpstr>
      <vt:lpstr>Building a SVM Classifier Splitting the dataset</vt:lpstr>
      <vt:lpstr>Building a SVM Classifier Splitting the dataset</vt:lpstr>
      <vt:lpstr>Building a SVM Classifier Dataset Normalization</vt:lpstr>
      <vt:lpstr>Building a SVM Classifier Dataset Normalization</vt:lpstr>
      <vt:lpstr>Building a SVM Classifier Feature Selection</vt:lpstr>
      <vt:lpstr>Building a SVM Classifier Feature Selection</vt:lpstr>
      <vt:lpstr>Building a SVM Classifier Hyper-Parameter Tuning</vt:lpstr>
      <vt:lpstr>Building a SVM Classifier Hyper-Parameter Tuning</vt:lpstr>
      <vt:lpstr>Building a SVM Classifier Hyper-Parameter Tuning</vt:lpstr>
      <vt:lpstr>Building a SVM Classifier Hyper-Parameter Tuning</vt:lpstr>
      <vt:lpstr>Building a SVM Classifier SVM Model Testing</vt:lpstr>
      <vt:lpstr>Building a SVM Classifier SVM Model Testing</vt:lpstr>
      <vt:lpstr>Thanks for the attention!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Title</dc:title>
  <dc:creator>Miguel Costa&lt;a68584@alunos.uminho.pt&gt;</dc:creator>
  <cp:lastModifiedBy>Miguel Costa</cp:lastModifiedBy>
  <cp:revision>125</cp:revision>
  <cp:lastPrinted>2015-05-05T17:22:03Z</cp:lastPrinted>
  <dcterms:created xsi:type="dcterms:W3CDTF">2015-11-23T15:36:20Z</dcterms:created>
  <dcterms:modified xsi:type="dcterms:W3CDTF">2018-07-17T00:50:39Z</dcterms:modified>
  <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TC100738469990</vt:lpwstr>
  </property>
</Properties>
</file>